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1463040"/>
            <a:ext cx="10881360" cy="822960"/>
          </a:xfrm>
          <a:prstGeom prst="rect">
            <a:avLst/>
          </a:prstGeom>
          <a:noFill/>
        </p:spPr>
        <p:txBody>
          <a:bodyPr wrap="square">
            <a:spAutoFit/>
          </a:bodyPr>
          <a:lstStyle/>
          <a:p>
            <a:pPr algn="ctr">
              <a:defRPr sz="3200" b="1">
                <a:solidFill>
                  <a:srgbClr val="1F3A5F"/>
                </a:solidFill>
                <a:latin typeface="Calibri"/>
              </a:defRPr>
            </a:pPr>
            <a:r>
              <a:t>Example neurons from each recording</a:t>
            </a:r>
          </a:p>
        </p:txBody>
      </p:sp>
      <p:sp>
        <p:nvSpPr>
          <p:cNvPr id="3" name="TextBox 2"/>
          <p:cNvSpPr txBox="1"/>
          <p:nvPr/>
        </p:nvSpPr>
        <p:spPr>
          <a:xfrm>
            <a:off x="1005840" y="2468880"/>
            <a:ext cx="10149840" cy="1097280"/>
          </a:xfrm>
          <a:prstGeom prst="rect">
            <a:avLst/>
          </a:prstGeom>
          <a:noFill/>
        </p:spPr>
        <p:txBody>
          <a:bodyPr wrap="square">
            <a:spAutoFit/>
          </a:bodyPr>
          <a:lstStyle/>
          <a:p>
            <a:pPr algn="ctr">
              <a:defRPr sz="1800" b="0">
                <a:solidFill>
                  <a:srgbClr val="555555"/>
                </a:solidFill>
                <a:latin typeface="Calibri"/>
              </a:defRPr>
            </a:pPr>
            <a:r>
              <a:t>13 Aug  |  12 movies  |  2 excited + 2 inhibited cells per FOV</a:t>
            </a:r>
          </a:p>
        </p:txBody>
      </p:sp>
      <p:sp>
        <p:nvSpPr>
          <p:cNvPr id="4" name="TextBox 3"/>
          <p:cNvSpPr txBox="1"/>
          <p:nvPr/>
        </p:nvSpPr>
        <p:spPr>
          <a:xfrm>
            <a:off x="1097280" y="3749039"/>
            <a:ext cx="9966960" cy="1828800"/>
          </a:xfrm>
          <a:prstGeom prst="rect">
            <a:avLst/>
          </a:prstGeom>
          <a:noFill/>
        </p:spPr>
        <p:txBody>
          <a:bodyPr wrap="square">
            <a:spAutoFit/>
          </a:bodyPr>
          <a:lstStyle/>
          <a:p>
            <a:pPr algn="ctr">
              <a:defRPr sz="1800" b="0">
                <a:solidFill>
                  <a:srgbClr val="0D5C63"/>
                </a:solidFill>
                <a:latin typeface="Calibri"/>
              </a:defRPr>
            </a:pPr>
            <a:r>
              <a:t>For each recording: strongest significant excited cell in the anterior half and posterior half, and the same for inhibited cells. Traces are EXTRACT activity with poke times. Maps show those cells on the crystal-skull FOV (P left, A right).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30000" cy="365760"/>
          </a:xfrm>
          <a:prstGeom prst="rect">
            <a:avLst/>
          </a:prstGeom>
          <a:noFill/>
        </p:spPr>
        <p:txBody>
          <a:bodyPr wrap="square">
            <a:spAutoFit/>
          </a:bodyPr>
          <a:lstStyle/>
          <a:p>
            <a:pPr algn="l">
              <a:defRPr sz="2000" b="1">
                <a:solidFill>
                  <a:srgbClr val="1F3A5F"/>
                </a:solidFill>
                <a:latin typeface="Calibri"/>
              </a:defRPr>
            </a:pPr>
            <a:r>
              <a:t>Where the example neurons sit   |   all 12 FOVs</a:t>
            </a:r>
          </a:p>
        </p:txBody>
      </p:sp>
      <p:sp>
        <p:nvSpPr>
          <p:cNvPr id="3" name="TextBox 2"/>
          <p:cNvSpPr txBox="1"/>
          <p:nvPr/>
        </p:nvSpPr>
        <p:spPr>
          <a:xfrm>
            <a:off x="365760" y="457200"/>
            <a:ext cx="11430000" cy="329184"/>
          </a:xfrm>
          <a:prstGeom prst="rect">
            <a:avLst/>
          </a:prstGeom>
          <a:noFill/>
        </p:spPr>
        <p:txBody>
          <a:bodyPr wrap="square">
            <a:spAutoFit/>
          </a:bodyPr>
          <a:lstStyle/>
          <a:p>
            <a:pPr algn="l">
              <a:defRPr sz="1200" b="0">
                <a:solidFill>
                  <a:srgbClr val="555555"/>
                </a:solidFill>
                <a:latin typeface="Calibri"/>
              </a:defRPr>
            </a:pPr>
            <a:r>
              <a:t>What:  Each panel is one crystal-skull field. Red = excited examples, blue = inhibited examples. P left, A right.</a:t>
            </a:r>
          </a:p>
          <a:p>
            <a:pPr algn="l">
              <a:defRPr sz="1300" b="1">
                <a:solidFill>
                  <a:srgbClr val="0D5C63"/>
                </a:solidFill>
                <a:latin typeface="Calibri"/>
              </a:defRPr>
            </a:pPr>
            <a:r>
              <a:t>Result:  The same local mix appears in every recording: example excited and inhibited cells are intermingled, with E1/I1 more anterior and E2/I2 more posterior.</a:t>
            </a:r>
          </a:p>
        </p:txBody>
      </p:sp>
      <p:pic>
        <p:nvPicPr>
          <p:cNvPr id="4" name="Picture 3" descr="example_fov_overview_n12.png"/>
          <p:cNvPicPr>
            <a:picLocks noChangeAspect="1"/>
          </p:cNvPicPr>
          <p:nvPr/>
        </p:nvPicPr>
        <p:blipFill>
          <a:blip r:embed="rId2"/>
          <a:stretch>
            <a:fillRect/>
          </a:stretch>
        </p:blipFill>
        <p:spPr>
          <a:xfrm>
            <a:off x="1506559" y="914400"/>
            <a:ext cx="9148401" cy="5715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m1f s00 pwr8.38 mirror1  |  56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m1f, 13 Aug, s00, 8.38 mW/cm2, mirror1. Left: EXTRACT traces + STA. Right: those cells on the crystal-skull FOV.</a:t>
            </a:r>
          </a:p>
          <a:p>
            <a:pPr algn="l">
              <a:defRPr sz="1300" b="1">
                <a:solidFill>
                  <a:srgbClr val="0D5C63"/>
                </a:solidFill>
                <a:latin typeface="Calibri"/>
              </a:defRPr>
            </a:pPr>
            <a:r>
              <a:t>Result:  E1 anterior #1161, E2 posterior #837, I1 anterior #701, I2 posterior #338</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m1f s00 pwr8.38 mirror2  |  55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m1f, 13 Aug, s00, 8.38 mW/cm2, mirror2. Left: EXTRACT traces + STA. Right: those cells on the crystal-skull FOV.</a:t>
            </a:r>
          </a:p>
          <a:p>
            <a:pPr algn="l">
              <a:defRPr sz="1300" b="1">
                <a:solidFill>
                  <a:srgbClr val="0D5C63"/>
                </a:solidFill>
                <a:latin typeface="Calibri"/>
              </a:defRPr>
            </a:pPr>
            <a:r>
              <a:t>Result:  E1 anterior #1077, E2 posterior #1694, I1 anterior #1162, I2 posterior #1650</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m1f s01 pwr20 mirror1  |  57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m1f, 13 Aug, s01, 20 mW/cm2, mirror1. Left: EXTRACT traces + STA. Right: those cells on the crystal-skull FOV.</a:t>
            </a:r>
          </a:p>
          <a:p>
            <a:pPr algn="l">
              <a:defRPr sz="1300" b="1">
                <a:solidFill>
                  <a:srgbClr val="0D5C63"/>
                </a:solidFill>
                <a:latin typeface="Calibri"/>
              </a:defRPr>
            </a:pPr>
            <a:r>
              <a:t>Result:  E1 anterior #2306, E2 posterior #1894, I1 anterior #1677, I2 posterior #1961</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m1f s01 pwr20 mirror2  |  57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m1f, 13 Aug, s01, 20 mW/cm2, mirror2. Left: EXTRACT traces + STA. Right: those cells on the crystal-skull FOV.</a:t>
            </a:r>
          </a:p>
          <a:p>
            <a:pPr algn="l">
              <a:defRPr sz="1300" b="1">
                <a:solidFill>
                  <a:srgbClr val="0D5C63"/>
                </a:solidFill>
                <a:latin typeface="Calibri"/>
              </a:defRPr>
            </a:pPr>
            <a:r>
              <a:t>Result:  E1 anterior #2832, E2 posterior #3270, I1 anterior #1962, I2 posterior #3526</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s00 pwr8.38 mirror1  |  57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s00, 8.38 mW/cm2, mirror1. Left: EXTRACT traces + STA. Right: those cells on the crystal-skull FOV.</a:t>
            </a:r>
          </a:p>
          <a:p>
            <a:pPr algn="l">
              <a:defRPr sz="1300" b="1">
                <a:solidFill>
                  <a:srgbClr val="0D5C63"/>
                </a:solidFill>
                <a:latin typeface="Calibri"/>
              </a:defRPr>
            </a:pPr>
            <a:r>
              <a:t>Result:  E1 anterior #1007, E2 posterior #1416, I1 anterior #1262, I2 posterior #1566</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s00 pwr8.38 mirror2  |  57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s00, 8.38 mW/cm2, mirror2. Left: EXTRACT traces + STA. Right: those cells on the crystal-skull FOV.</a:t>
            </a:r>
          </a:p>
          <a:p>
            <a:pPr algn="l">
              <a:defRPr sz="1300" b="1">
                <a:solidFill>
                  <a:srgbClr val="0D5C63"/>
                </a:solidFill>
                <a:latin typeface="Calibri"/>
              </a:defRPr>
            </a:pPr>
            <a:r>
              <a:t>Result:  E1 anterior #1716, E2 posterior #2859, I1 anterior #1800, I2 posterior #2552</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s01 pwr20 mirror1  |  56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s01, 20 mW/cm2, mirror1. Left: EXTRACT traces + STA. Right: those cells on the crystal-skull FOV.</a:t>
            </a:r>
          </a:p>
          <a:p>
            <a:pPr algn="l">
              <a:defRPr sz="1300" b="1">
                <a:solidFill>
                  <a:srgbClr val="0D5C63"/>
                </a:solidFill>
                <a:latin typeface="Calibri"/>
              </a:defRPr>
            </a:pPr>
            <a:r>
              <a:t>Result:  E1 anterior #2906, E2 posterior #1851, I1 anterior #1841, I2 posterior #2211</a:t>
            </a:r>
          </a:p>
        </p:txBody>
      </p:sp>
      <p:pic>
        <p:nvPicPr>
          <p:cNvPr id="4" name="Picture 3" descr="example_traces.png"/>
          <p:cNvPicPr>
            <a:picLocks noChangeAspect="1"/>
          </p:cNvPicPr>
          <p:nvPr/>
        </p:nvPicPr>
        <p:blipFill>
          <a:blip r:embed="rId2"/>
          <a:stretch>
            <a:fillRect/>
          </a:stretch>
        </p:blipFill>
        <p:spPr>
          <a:xfrm>
            <a:off x="182880" y="1885641"/>
            <a:ext cx="5943600" cy="3726797"/>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s01 pwr20 mirror2  |  56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s01, 20 mW/cm2, mirror2. Left: EXTRACT traces + STA. Right: those cells on the crystal-skull FOV.</a:t>
            </a:r>
          </a:p>
          <a:p>
            <a:pPr algn="l">
              <a:defRPr sz="1300" b="1">
                <a:solidFill>
                  <a:srgbClr val="0D5C63"/>
                </a:solidFill>
                <a:latin typeface="Calibri"/>
              </a:defRPr>
            </a:pPr>
            <a:r>
              <a:t>Result:  E1 anterior #423, E2 posterior #2913, I1 anterior #2640, I2 posterior #3922</a:t>
            </a:r>
          </a:p>
        </p:txBody>
      </p:sp>
      <p:pic>
        <p:nvPicPr>
          <p:cNvPr id="4" name="Picture 3" descr="example_traces.png"/>
          <p:cNvPicPr>
            <a:picLocks noChangeAspect="1"/>
          </p:cNvPicPr>
          <p:nvPr/>
        </p:nvPicPr>
        <p:blipFill>
          <a:blip r:embed="rId2"/>
          <a:stretch>
            <a:fillRect/>
          </a:stretch>
        </p:blipFill>
        <p:spPr>
          <a:xfrm>
            <a:off x="182880" y="1885641"/>
            <a:ext cx="5943600" cy="3726797"/>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s02 pwrNA mirror1  |  55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s02, pwr NA, mirror1. Left: EXTRACT traces + STA. Right: those cells on the crystal-skull FOV.</a:t>
            </a:r>
          </a:p>
          <a:p>
            <a:pPr algn="l">
              <a:defRPr sz="1300" b="1">
                <a:solidFill>
                  <a:srgbClr val="0D5C63"/>
                </a:solidFill>
                <a:latin typeface="Calibri"/>
              </a:defRPr>
            </a:pPr>
            <a:r>
              <a:t>Result:  E1 anterior #802, E2 posterior #284, I1 anterior #454, I2 posterior #1197</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m2c s02 pwrNA mirror2  |  54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m2c, 13 Aug, s02, pwr NA, mirror2. Left: EXTRACT traces + STA. Right: those cells on the crystal-skull FOV.</a:t>
            </a:r>
          </a:p>
          <a:p>
            <a:pPr algn="l">
              <a:defRPr sz="1300" b="1">
                <a:solidFill>
                  <a:srgbClr val="0D5C63"/>
                </a:solidFill>
                <a:latin typeface="Calibri"/>
              </a:defRPr>
            </a:pPr>
            <a:r>
              <a:t>Result:  E1 anterior #255, E2 posterior #958, I1 anterior #630, I2 posterior #68</a:t>
            </a:r>
          </a:p>
        </p:txBody>
      </p:sp>
      <p:pic>
        <p:nvPicPr>
          <p:cNvPr id="4" name="Picture 3" descr="example_traces.png"/>
          <p:cNvPicPr>
            <a:picLocks noChangeAspect="1"/>
          </p:cNvPicPr>
          <p:nvPr/>
        </p:nvPicPr>
        <p:blipFill>
          <a:blip r:embed="rId2"/>
          <a:stretch>
            <a:fillRect/>
          </a:stretch>
        </p:blipFill>
        <p:spPr>
          <a:xfrm>
            <a:off x="182880" y="1885641"/>
            <a:ext cx="5943600" cy="3726797"/>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m3 m1f s00 pwr8.38 mirror1  |  55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m3_m1f, 13 Aug, s00, 8.38 mW/cm2, mirror1. Left: EXTRACT traces + STA. Right: those cells on the crystal-skull FOV.</a:t>
            </a:r>
          </a:p>
          <a:p>
            <a:pPr algn="l">
              <a:defRPr sz="1300" b="1">
                <a:solidFill>
                  <a:srgbClr val="0D5C63"/>
                </a:solidFill>
                <a:latin typeface="Calibri"/>
              </a:defRPr>
            </a:pPr>
            <a:r>
              <a:t>Result:  E1 anterior #899, E2 posterior #126, I1 anterior #839, I2 posterior #334</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91440"/>
            <a:ext cx="11612880" cy="347472"/>
          </a:xfrm>
          <a:prstGeom prst="rect">
            <a:avLst/>
          </a:prstGeom>
          <a:noFill/>
        </p:spPr>
        <p:txBody>
          <a:bodyPr wrap="square">
            <a:spAutoFit/>
          </a:bodyPr>
          <a:lstStyle/>
          <a:p>
            <a:pPr algn="l">
              <a:defRPr sz="1800" b="1">
                <a:solidFill>
                  <a:srgbClr val="1F3A5F"/>
                </a:solidFill>
                <a:latin typeface="Calibri"/>
              </a:defRPr>
            </a:pPr>
            <a:r>
              <a:t>Examples  |  m3 m1f s00 pwr8.38 mirror2  |  48 pokes</a:t>
            </a:r>
          </a:p>
        </p:txBody>
      </p:sp>
      <p:sp>
        <p:nvSpPr>
          <p:cNvPr id="3" name="TextBox 2"/>
          <p:cNvSpPr txBox="1"/>
          <p:nvPr/>
        </p:nvSpPr>
        <p:spPr>
          <a:xfrm>
            <a:off x="274320" y="420624"/>
            <a:ext cx="11612880" cy="310896"/>
          </a:xfrm>
          <a:prstGeom prst="rect">
            <a:avLst/>
          </a:prstGeom>
          <a:noFill/>
        </p:spPr>
        <p:txBody>
          <a:bodyPr wrap="square">
            <a:spAutoFit/>
          </a:bodyPr>
          <a:lstStyle/>
          <a:p>
            <a:pPr algn="l">
              <a:defRPr sz="1200" b="0">
                <a:solidFill>
                  <a:srgbClr val="555555"/>
                </a:solidFill>
                <a:latin typeface="Calibri"/>
              </a:defRPr>
            </a:pPr>
            <a:r>
              <a:t>What:  m3_m1f, 13 Aug, s00, 8.38 mW/cm2, mirror2. Left: EXTRACT traces + STA. Right: those cells on the crystal-skull FOV.</a:t>
            </a:r>
          </a:p>
          <a:p>
            <a:pPr algn="l">
              <a:defRPr sz="1300" b="1">
                <a:solidFill>
                  <a:srgbClr val="0D5C63"/>
                </a:solidFill>
                <a:latin typeface="Calibri"/>
              </a:defRPr>
            </a:pPr>
            <a:r>
              <a:t>Result:  E1 anterior #1220, E2 posterior #571, I1 anterior #1344, I2 posterior #1833</a:t>
            </a:r>
          </a:p>
        </p:txBody>
      </p:sp>
      <p:pic>
        <p:nvPicPr>
          <p:cNvPr id="4" name="Picture 3" descr="example_traces.png"/>
          <p:cNvPicPr>
            <a:picLocks noChangeAspect="1"/>
          </p:cNvPicPr>
          <p:nvPr/>
        </p:nvPicPr>
        <p:blipFill>
          <a:blip r:embed="rId2"/>
          <a:stretch>
            <a:fillRect/>
          </a:stretch>
        </p:blipFill>
        <p:spPr>
          <a:xfrm>
            <a:off x="182880" y="1879958"/>
            <a:ext cx="5943600" cy="3738163"/>
          </a:xfrm>
          <a:prstGeom prst="rect">
            <a:avLst/>
          </a:prstGeom>
        </p:spPr>
      </p:pic>
      <p:pic>
        <p:nvPicPr>
          <p:cNvPr id="5" name="Picture 4" descr="example_maps.png"/>
          <p:cNvPicPr>
            <a:picLocks noChangeAspect="1"/>
          </p:cNvPicPr>
          <p:nvPr/>
        </p:nvPicPr>
        <p:blipFill>
          <a:blip r:embed="rId3"/>
          <a:stretch>
            <a:fillRect/>
          </a:stretch>
        </p:blipFill>
        <p:spPr>
          <a:xfrm>
            <a:off x="6080760" y="2378154"/>
            <a:ext cx="5943600" cy="274177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