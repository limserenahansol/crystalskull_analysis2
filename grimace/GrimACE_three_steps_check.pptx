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Malgun Gothic"/>
              </a:rPr>
              <a:t>1. 한 프레임이 거치는 세 단계</a:t>
            </a:r>
          </a:p>
        </p:txBody>
      </p:sp>
      <p:pic>
        <p:nvPicPr>
          <p:cNvPr id="3" name="Picture 2" descr="figS1_three_steps_on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585216"/>
            <a:ext cx="11338560" cy="31699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28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algun Gothic"/>
              </a:rPr>
              <a:t>요약.  </a:t>
            </a:r>
            <a:r>
              <a:rPr sz="1500" b="0">
                <a:solidFill>
                  <a:srgbClr val="222222"/>
                </a:solidFill>
                <a:latin typeface="Malgun Gothic"/>
              </a:rPr>
              <a:t>원본을 화질 네트워크가 점수로 읽고, YOLO가 상자를 내고, 그 상자로 자른 crop 전체를 비전 트랜스포머가 채점합니다. 이 상자는 모델 좌표입니다.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150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1B30"/>
                </a:solidFill>
                <a:latin typeface="Malgun Gothic"/>
              </a:rPr>
              <a:t>결론.  </a:t>
            </a:r>
            <a:r>
              <a:rPr sz="1600" b="0">
                <a:solidFill>
                  <a:srgbClr val="9B1B30"/>
                </a:solidFill>
                <a:latin typeface="Malgun Gothic"/>
              </a:rPr>
              <a:t>이 프레임의 YOLO 신뢰도는 0.45이지만 상자는 얼굴이 아니라 앞발에 있습니다. ViT는 그 발을 보고 MGS 2를 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Malgun Gothic"/>
              </a:rPr>
              <a:t>2. 화질 네트워크 — 우리 카메라에서 안 됨</a:t>
            </a:r>
          </a:p>
        </p:txBody>
      </p:sp>
      <p:pic>
        <p:nvPicPr>
          <p:cNvPr id="3" name="Picture 2" descr="figS2_qualit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585216"/>
            <a:ext cx="11338560" cy="21287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28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algun Gothic"/>
              </a:rPr>
              <a:t>요약.  </a:t>
            </a:r>
            <a:r>
              <a:rPr sz="1500" b="0">
                <a:solidFill>
                  <a:srgbClr val="222222"/>
                </a:solidFill>
                <a:latin typeface="Malgun Gothic"/>
              </a:rPr>
              <a:t>얼굴이 정면으로 선명한 프레임 여섯 장의 화질 점수는 0.21–0.27입니다. 이 네트워크의 범위는 0에서 1입니다.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150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1B30"/>
                </a:solidFill>
                <a:latin typeface="Malgun Gothic"/>
              </a:rPr>
              <a:t>결론.  </a:t>
            </a:r>
            <a:r>
              <a:rPr sz="1600" b="0">
                <a:solidFill>
                  <a:srgbClr val="9B1B30"/>
                </a:solidFill>
                <a:latin typeface="Malgun Gothic"/>
              </a:rPr>
              <a:t>좋은 얼굴과 나쁜 얼굴을 가리지 못합니다. 화질 점수로 프레임을 고르면 우리 영상은 거의 다 탈락합니다.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Malgun Gothic"/>
              </a:rPr>
              <a:t>3. YOLO 얼굴 상자 — 없거나, 있어도 얼굴이 아님</a:t>
            </a:r>
          </a:p>
        </p:txBody>
      </p:sp>
      <p:pic>
        <p:nvPicPr>
          <p:cNvPr id="3" name="Picture 2" descr="figS3_yolo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875" y="585216"/>
            <a:ext cx="6685944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28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algun Gothic"/>
              </a:rPr>
              <a:t>요약.  </a:t>
            </a:r>
            <a:r>
              <a:rPr sz="1500" b="0">
                <a:solidFill>
                  <a:srgbClr val="222222"/>
                </a:solidFill>
                <a:latin typeface="Malgun Gothic"/>
              </a:rPr>
              <a:t>주황 상자는 신뢰도 0.34와 0.45라서 채점에 실제로 쓰인 상자입니다. 빨강 글씨는 상자가 없어 화면 중앙을 자른 프레임입니다.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150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1B30"/>
                </a:solidFill>
                <a:latin typeface="Malgun Gothic"/>
              </a:rPr>
              <a:t>결론.  </a:t>
            </a:r>
            <a:r>
              <a:rPr sz="1600" b="0">
                <a:solidFill>
                  <a:srgbClr val="9B1B30"/>
                </a:solidFill>
                <a:latin typeface="Malgun Gothic"/>
              </a:rPr>
              <a:t>YOLO는 우리 영상에서 얼굴을 찾지 못합니다. 상자가 나온 곳은 앞발과 머리 위이고, 눈이 잘 보이는 프레임에는 상자가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Malgun Gothic"/>
              </a:rPr>
              <a:t>4. 비전 트랜스포머 — 상자가 아니라 crop 전체의 점수</a:t>
            </a:r>
          </a:p>
        </p:txBody>
      </p:sp>
      <p:pic>
        <p:nvPicPr>
          <p:cNvPr id="3" name="Picture 2" descr="figS4_vi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490" y="585216"/>
            <a:ext cx="8256714" cy="4069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28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algun Gothic"/>
              </a:rPr>
              <a:t>요약.  </a:t>
            </a:r>
            <a:r>
              <a:rPr sz="1500" b="0">
                <a:solidFill>
                  <a:srgbClr val="222222"/>
                </a:solidFill>
                <a:latin typeface="Malgun Gothic"/>
              </a:rPr>
              <a:t>트랜스포머는 눈, 코, 볼, 귀, 수염의 위치를 표시하지 않습니다. 들어온 그림 전체에 0, 1, 2, 또는 채점 불가를 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150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1B30"/>
                </a:solidFill>
                <a:latin typeface="Malgun Gothic"/>
              </a:rPr>
              <a:t>결론.  </a:t>
            </a:r>
            <a:r>
              <a:rPr sz="1600" b="0">
                <a:solidFill>
                  <a:srgbClr val="9B1B30"/>
                </a:solidFill>
                <a:latin typeface="Malgun Gothic"/>
              </a:rPr>
              <a:t>앞발만 들어온 crop에도 귀 1점을 냅니다. 숫자가 나왔다는 것은 그 부위를 찾았다는 뜻이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Malgun Gothic"/>
              </a:rPr>
              <a:t>5. 어느 단계가 되고, 어느 단계가 안 되는지</a:t>
            </a:r>
          </a:p>
        </p:txBody>
      </p:sp>
      <p:pic>
        <p:nvPicPr>
          <p:cNvPr id="3" name="Picture 2" descr="figS5_which_step_f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45" y="585216"/>
            <a:ext cx="10966604" cy="4069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28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Malgun Gothic"/>
              </a:rPr>
              <a:t>요약.  </a:t>
            </a:r>
            <a:r>
              <a:rPr sz="1500" b="0">
                <a:solidFill>
                  <a:srgbClr val="222222"/>
                </a:solidFill>
                <a:latin typeface="Malgun Gothic"/>
              </a:rPr>
              <a:t>화질 네트워크는 선명한 얼굴을 낮게 점수 매깁니다. YOLO의 가장 높은 상자는 앞발입니다. ViT는 그 잘못된 crop에도 MGS를 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71500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1B30"/>
                </a:solidFill>
                <a:latin typeface="Malgun Gothic"/>
              </a:rPr>
              <a:t>결론.  </a:t>
            </a:r>
            <a:r>
              <a:rPr sz="1600" b="0">
                <a:solidFill>
                  <a:srgbClr val="9B1B30"/>
                </a:solidFill>
                <a:latin typeface="Malgun Gothic"/>
              </a:rPr>
              <a:t>세 단계 모두 우리 crystal-skull 얼굴 영상에서 확인할 수 있게 작동하지 않습니다. 이 점수로는 통증 지표를 만들 수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