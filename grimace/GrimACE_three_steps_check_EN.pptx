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3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09728"/>
            <a:ext cx="11521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Calibri"/>
              </a:rPr>
              <a:t>1. Paper reference: a working GrimACE</a:t>
            </a:r>
          </a:p>
        </p:txBody>
      </p:sp>
      <p:pic>
        <p:nvPicPr>
          <p:cNvPr id="3" name="Picture 2" descr="paper_fig1_grimace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3900" y="109728"/>
            <a:ext cx="4230500" cy="66233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1641280"/>
            <a:ext cx="373701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222222"/>
                </a:solidFill>
                <a:latin typeface="Calibri"/>
              </a:rPr>
              <a:t>Summary.  </a:t>
            </a:r>
            <a:r>
              <a:rPr sz="2000" b="0" dirty="0">
                <a:solidFill>
                  <a:srgbClr val="222222"/>
                </a:solidFill>
                <a:latin typeface="Calibri"/>
              </a:rPr>
              <a:t>The mouse stands in a small infrared box. The face is a small part of the frame. The app then crops that face and prints five scores: orbital, nose, cheek, ear, whisker.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941354"/>
            <a:ext cx="407561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0D5C63"/>
                </a:solidFill>
                <a:latin typeface="Calibri"/>
              </a:rPr>
              <a:t>Conclusion.  </a:t>
            </a:r>
            <a:r>
              <a:rPr sz="2200" b="0" dirty="0">
                <a:solidFill>
                  <a:srgbClr val="0D5C63"/>
                </a:solidFill>
                <a:latin typeface="Calibri"/>
              </a:rPr>
              <a:t>This is the picture the quality network and the YOLO were trained on. Our camera is already a tight close-up, so it is a different image.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Sturman et al., Lab Animal 2026, Fig. 1. CC BY 4.0. doi.org/10.1038/s41684-026-01695-9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09728"/>
            <a:ext cx="11521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Calibri"/>
              </a:rPr>
              <a:t>2. Paper reference: a real pain increase</a:t>
            </a:r>
          </a:p>
        </p:txBody>
      </p:sp>
      <p:pic>
        <p:nvPicPr>
          <p:cNvPr id="3" name="Picture 2" descr="paper_fig2_good_ass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840" y="566928"/>
            <a:ext cx="4026015" cy="3520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4224528"/>
            <a:ext cx="11430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Calibri"/>
              </a:rPr>
              <a:t>Summary.  </a:t>
            </a:r>
            <a:r>
              <a:rPr sz="2000" b="0">
                <a:solidFill>
                  <a:srgbClr val="222222"/>
                </a:solidFill>
                <a:latin typeface="Calibri"/>
              </a:rPr>
              <a:t>After craniotomy with a head implant, expert and automated MGS rise from about 0.3 before surgery to about 1.1 at 4 hours, then fall. Panel a is the front face the model expects.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49240"/>
            <a:ext cx="11430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5C63"/>
                </a:solidFill>
                <a:latin typeface="Calibri"/>
              </a:rPr>
              <a:t>Conclusion.  </a:t>
            </a:r>
            <a:r>
              <a:rPr sz="2200" b="0">
                <a:solidFill>
                  <a:srgbClr val="0D5C63"/>
                </a:solidFill>
                <a:latin typeface="Calibri"/>
              </a:rPr>
              <a:t>A successful GrimACE result in this paper is a within-animal rise of about 1 point. Scores stay near 1. They do not jump to 5-8.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Sturman et al., Lab Animal 2026, Fig. 2. CC BY 4.0. doi.org/10.1038/s41684-026-01695-9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09728"/>
            <a:ext cx="11521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Calibri"/>
              </a:rPr>
              <a:t>3. The same three steps on one of our frames</a:t>
            </a:r>
          </a:p>
        </p:txBody>
      </p:sp>
      <p:pic>
        <p:nvPicPr>
          <p:cNvPr id="3" name="Picture 2" descr="figS1_three_steps_one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566928"/>
            <a:ext cx="11430000" cy="31851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4224528"/>
            <a:ext cx="11430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Calibri"/>
              </a:rPr>
              <a:t>Summary.  </a:t>
            </a:r>
            <a:r>
              <a:rPr sz="2000" b="0">
                <a:solidFill>
                  <a:srgbClr val="222222"/>
                </a:solidFill>
                <a:latin typeface="Calibri"/>
              </a:rPr>
              <a:t>Quality score, then the YOLO box, then the vision transformer on that crop. The orange box is the model coordinate, not a hand drawing.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49240"/>
            <a:ext cx="11430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B1B30"/>
                </a:solidFill>
                <a:latin typeface="Calibri"/>
              </a:rPr>
              <a:t>Conclusion.  </a:t>
            </a:r>
            <a:r>
              <a:rPr sz="2200" b="0">
                <a:solidFill>
                  <a:srgbClr val="9B1B30"/>
                </a:solidFill>
                <a:latin typeface="Calibri"/>
              </a:rPr>
              <a:t>YOLO confidence is 0.45, but the box is on the paws. The transformer scores that paw crop and returns MGS 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09728"/>
            <a:ext cx="11521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Calibri"/>
              </a:rPr>
              <a:t>4. Quality network on our camera</a:t>
            </a:r>
          </a:p>
        </p:txBody>
      </p:sp>
      <p:pic>
        <p:nvPicPr>
          <p:cNvPr id="3" name="Picture 2" descr="figS2_quality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3517" y="828185"/>
            <a:ext cx="15302993" cy="2862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4224528"/>
            <a:ext cx="11430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Calibri"/>
              </a:rPr>
              <a:t>Summary.  </a:t>
            </a:r>
            <a:r>
              <a:rPr sz="2000" b="0">
                <a:solidFill>
                  <a:srgbClr val="222222"/>
                </a:solidFill>
                <a:latin typeface="Calibri"/>
              </a:rPr>
              <a:t>Six sharp front faces from our recordings score 0.21 to 0.37. The network scale is 0 to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49240"/>
            <a:ext cx="11430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B1B30"/>
                </a:solidFill>
                <a:latin typeface="Calibri"/>
              </a:rPr>
              <a:t>Conclusion.  </a:t>
            </a:r>
            <a:r>
              <a:rPr sz="2200" b="0">
                <a:solidFill>
                  <a:srgbClr val="9B1B30"/>
                </a:solidFill>
                <a:latin typeface="Calibri"/>
              </a:rPr>
              <a:t>The quality network does not separate good faces from bad ones on this camera. It would reject almost every frame.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09728"/>
            <a:ext cx="11521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Calibri"/>
              </a:rPr>
              <a:t>5. YOLO face box on our camera</a:t>
            </a:r>
          </a:p>
        </p:txBody>
      </p:sp>
      <p:pic>
        <p:nvPicPr>
          <p:cNvPr id="3" name="Picture 2" descr="figS3_yolo_bo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357" y="566928"/>
            <a:ext cx="5804980" cy="3520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4224528"/>
            <a:ext cx="11430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Calibri"/>
              </a:rPr>
              <a:t>Summary.  </a:t>
            </a:r>
            <a:r>
              <a:rPr sz="2000" b="0">
                <a:solidFill>
                  <a:srgbClr val="222222"/>
                </a:solidFill>
                <a:latin typeface="Calibri"/>
              </a:rPr>
              <a:t>Orange boxes passed the 0.10 cutoff and were used for scoring. Red labels are frames with no box, so the center of the image was cropped instead.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49240"/>
            <a:ext cx="11430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B1B30"/>
                </a:solidFill>
                <a:latin typeface="Calibri"/>
              </a:rPr>
              <a:t>Conclusion.  </a:t>
            </a:r>
            <a:r>
              <a:rPr sz="2200" b="0">
                <a:solidFill>
                  <a:srgbClr val="9B1B30"/>
                </a:solidFill>
                <a:latin typeface="Calibri"/>
              </a:rPr>
              <a:t>When a box appears, it sits on the paws or the top of the head. Clear front-face frames get no box.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09728"/>
            <a:ext cx="11521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Calibri"/>
              </a:rPr>
              <a:t>6. Vision transformer: a score for the whole crop</a:t>
            </a:r>
          </a:p>
        </p:txBody>
      </p:sp>
      <p:pic>
        <p:nvPicPr>
          <p:cNvPr id="3" name="Picture 2" descr="figS4_vit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469" y="566928"/>
            <a:ext cx="7146757" cy="3520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4224528"/>
            <a:ext cx="11430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Calibri"/>
              </a:rPr>
              <a:t>Summary.  </a:t>
            </a:r>
            <a:r>
              <a:rPr sz="2000" b="0">
                <a:solidFill>
                  <a:srgbClr val="222222"/>
                </a:solidFill>
                <a:latin typeface="Calibri"/>
              </a:rPr>
              <a:t>The transformer does not mark the eye, nose, cheek, ear, or whiskers. It returns 0, 1, 2, or not rateable for the entire crop.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49240"/>
            <a:ext cx="11430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B1B30"/>
                </a:solidFill>
                <a:latin typeface="Calibri"/>
              </a:rPr>
              <a:t>Conclusion.  </a:t>
            </a:r>
            <a:r>
              <a:rPr sz="2200" b="0">
                <a:solidFill>
                  <a:srgbClr val="9B1B30"/>
                </a:solidFill>
                <a:latin typeface="Calibri"/>
              </a:rPr>
              <a:t>A crop that contains only the paws still receives an ear score of 1. A number is not evidence that the feature was found.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09728"/>
            <a:ext cx="11521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Calibri"/>
              </a:rPr>
              <a:t>7. Which step works on crystal-skull video</a:t>
            </a:r>
          </a:p>
        </p:txBody>
      </p:sp>
      <p:pic>
        <p:nvPicPr>
          <p:cNvPr id="3" name="Picture 2" descr="figS5_which_step_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504" y="566928"/>
            <a:ext cx="9520686" cy="35204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4224528"/>
            <a:ext cx="11430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Calibri"/>
              </a:rPr>
              <a:t>Summary.  </a:t>
            </a:r>
            <a:r>
              <a:rPr sz="2000" b="0">
                <a:solidFill>
                  <a:srgbClr val="222222"/>
                </a:solidFill>
                <a:latin typeface="Calibri"/>
              </a:rPr>
              <a:t>Against the paper's front-face box image, our quality scores stay low, the best YOLO box is on the paws, and the transformer still emits an MGS.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49240"/>
            <a:ext cx="11430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B1B30"/>
                </a:solidFill>
                <a:latin typeface="Calibri"/>
              </a:rPr>
              <a:t>Conclusion.  </a:t>
            </a:r>
            <a:r>
              <a:rPr sz="2200" b="0">
                <a:solidFill>
                  <a:srgbClr val="9B1B30"/>
                </a:solidFill>
                <a:latin typeface="Calibri"/>
              </a:rPr>
              <a:t>None of the three steps is reliable on these recordings. This is not yet a pain assay for the crystal skull.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7033</TotalTime>
  <Words>531</Words>
  <Application>Microsoft Office PowerPoint</Application>
  <PresentationFormat>Widescreen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Hansol Lim</cp:lastModifiedBy>
  <cp:revision>2</cp:revision>
  <dcterms:created xsi:type="dcterms:W3CDTF">2013-01-27T09:14:16Z</dcterms:created>
  <dcterms:modified xsi:type="dcterms:W3CDTF">2026-10-05T19:25:15Z</dcterms:modified>
  <cp:category/>
</cp:coreProperties>
</file>