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27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64592"/>
            <a:ext cx="11430000" cy="384048"/>
          </a:xfrm>
          <a:prstGeom prst="rect">
            <a:avLst/>
          </a:prstGeom>
          <a:noFill/>
        </p:spPr>
        <p:txBody>
          <a:bodyPr wrap="square">
            <a:spAutoFit/>
          </a:bodyPr>
          <a:lstStyle/>
          <a:p>
            <a:pPr algn="l"/>
            <a:r>
              <a:rPr sz="2600" b="1">
                <a:solidFill>
                  <a:srgbClr val="1F3A5F"/>
                </a:solidFill>
                <a:latin typeface="Calibri"/>
              </a:rPr>
              <a:t>How GrimACE was applied to our face video</a:t>
            </a:r>
          </a:p>
        </p:txBody>
      </p:sp>
      <p:pic>
        <p:nvPicPr>
          <p:cNvPr id="3" name="Picture 2" descr="fig01_algorithm_steps.png"/>
          <p:cNvPicPr>
            <a:picLocks noChangeAspect="1"/>
          </p:cNvPicPr>
          <p:nvPr/>
        </p:nvPicPr>
        <p:blipFill>
          <a:blip r:embed="rId2"/>
          <a:stretch>
            <a:fillRect/>
          </a:stretch>
        </p:blipFill>
        <p:spPr>
          <a:xfrm>
            <a:off x="2624895" y="621792"/>
            <a:ext cx="6941904" cy="4160520"/>
          </a:xfrm>
          <a:prstGeom prst="rect">
            <a:avLst/>
          </a:prstGeom>
        </p:spPr>
      </p:pic>
      <p:sp>
        <p:nvSpPr>
          <p:cNvPr id="4" name="TextBox 3"/>
          <p:cNvSpPr txBox="1"/>
          <p:nvPr/>
        </p:nvSpPr>
        <p:spPr>
          <a:xfrm>
            <a:off x="411480" y="4937760"/>
            <a:ext cx="11338560" cy="777240"/>
          </a:xfrm>
          <a:prstGeom prst="rect">
            <a:avLst/>
          </a:prstGeom>
          <a:noFill/>
        </p:spPr>
        <p:txBody>
          <a:bodyPr wrap="square">
            <a:spAutoFit/>
          </a:bodyPr>
          <a:lstStyle/>
          <a:p>
            <a:pPr algn="l"/>
            <a:r>
              <a:rPr sz="1500" b="1">
                <a:solidFill>
                  <a:srgbClr val="222222"/>
                </a:solidFill>
                <a:latin typeface="Calibri"/>
              </a:rPr>
              <a:t>Summary.  </a:t>
            </a:r>
            <a:r>
              <a:rPr sz="1500" b="0">
                <a:solidFill>
                  <a:srgbClr val="222222"/>
                </a:solidFill>
                <a:latin typeface="Calibri"/>
              </a:rPr>
              <a:t>A frame is cropped, resized to 224 px, and scored by the published ViT. Five action units each return 0, 1, 2, or not rateable. MGS is the sum of the rateable units (0–10).</a:t>
            </a:r>
          </a:p>
        </p:txBody>
      </p:sp>
      <p:sp>
        <p:nvSpPr>
          <p:cNvPr id="5" name="TextBox 4"/>
          <p:cNvSpPr txBox="1"/>
          <p:nvPr/>
        </p:nvSpPr>
        <p:spPr>
          <a:xfrm>
            <a:off x="411480" y="5760720"/>
            <a:ext cx="11338560" cy="868680"/>
          </a:xfrm>
          <a:prstGeom prst="rect">
            <a:avLst/>
          </a:prstGeom>
          <a:noFill/>
        </p:spPr>
        <p:txBody>
          <a:bodyPr wrap="square">
            <a:spAutoFit/>
          </a:bodyPr>
          <a:lstStyle/>
          <a:p>
            <a:pPr algn="l"/>
            <a:r>
              <a:rPr sz="1600" b="1">
                <a:solidFill>
                  <a:srgbClr val="0D5C63"/>
                </a:solidFill>
                <a:latin typeface="Calibri"/>
              </a:rPr>
              <a:t>Conclusion.  </a:t>
            </a:r>
            <a:r>
              <a:rPr sz="1600" b="0">
                <a:solidFill>
                  <a:srgbClr val="0D5C63"/>
                </a:solidFill>
                <a:latin typeface="Calibri"/>
              </a:rPr>
              <a:t>The published weights do run on our infrared faces. On this example the score is 1, and that 1 point is the ear alone.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64592"/>
            <a:ext cx="11430000" cy="384048"/>
          </a:xfrm>
          <a:prstGeom prst="rect">
            <a:avLst/>
          </a:prstGeom>
          <a:noFill/>
        </p:spPr>
        <p:txBody>
          <a:bodyPr wrap="square">
            <a:spAutoFit/>
          </a:bodyPr>
          <a:lstStyle/>
          <a:p>
            <a:pPr algn="l"/>
            <a:r>
              <a:rPr sz="2600" b="1">
                <a:solidFill>
                  <a:srgbClr val="1F3A5F"/>
                </a:solidFill>
                <a:latin typeface="Calibri"/>
              </a:rPr>
              <a:t>What 0, 1, and 3 points look like on our mice</a:t>
            </a:r>
          </a:p>
        </p:txBody>
      </p:sp>
      <p:pic>
        <p:nvPicPr>
          <p:cNvPr id="3" name="Picture 2" descr="fig08_what_one_point_means.png"/>
          <p:cNvPicPr>
            <a:picLocks noChangeAspect="1"/>
          </p:cNvPicPr>
          <p:nvPr/>
        </p:nvPicPr>
        <p:blipFill>
          <a:blip r:embed="rId2"/>
          <a:stretch>
            <a:fillRect/>
          </a:stretch>
        </p:blipFill>
        <p:spPr>
          <a:xfrm>
            <a:off x="657763" y="621792"/>
            <a:ext cx="10876168" cy="4160520"/>
          </a:xfrm>
          <a:prstGeom prst="rect">
            <a:avLst/>
          </a:prstGeom>
        </p:spPr>
      </p:pic>
      <p:sp>
        <p:nvSpPr>
          <p:cNvPr id="4" name="TextBox 3"/>
          <p:cNvSpPr txBox="1"/>
          <p:nvPr/>
        </p:nvSpPr>
        <p:spPr>
          <a:xfrm>
            <a:off x="411480" y="4937760"/>
            <a:ext cx="11338560" cy="777240"/>
          </a:xfrm>
          <a:prstGeom prst="rect">
            <a:avLst/>
          </a:prstGeom>
          <a:noFill/>
        </p:spPr>
        <p:txBody>
          <a:bodyPr wrap="square">
            <a:spAutoFit/>
          </a:bodyPr>
          <a:lstStyle/>
          <a:p>
            <a:pPr algn="l"/>
            <a:r>
              <a:rPr sz="1500" b="1">
                <a:solidFill>
                  <a:srgbClr val="222222"/>
                </a:solidFill>
                <a:latin typeface="Calibri"/>
              </a:rPr>
              <a:t>Summary.  </a:t>
            </a:r>
            <a:r>
              <a:rPr sz="1500" b="0">
                <a:solidFill>
                  <a:srgbClr val="222222"/>
                </a:solidFill>
                <a:latin typeface="Calibri"/>
              </a:rPr>
              <a:t>0 means the feature is absent, 1 means moderate, 2 means obvious. In 192 sampled frames from our cameras, no action unit was ever scored 2.</a:t>
            </a:r>
          </a:p>
        </p:txBody>
      </p:sp>
      <p:sp>
        <p:nvSpPr>
          <p:cNvPr id="5" name="TextBox 4"/>
          <p:cNvSpPr txBox="1"/>
          <p:nvPr/>
        </p:nvSpPr>
        <p:spPr>
          <a:xfrm>
            <a:off x="411480" y="5760720"/>
            <a:ext cx="11338560" cy="868680"/>
          </a:xfrm>
          <a:prstGeom prst="rect">
            <a:avLst/>
          </a:prstGeom>
          <a:noFill/>
        </p:spPr>
        <p:txBody>
          <a:bodyPr wrap="square">
            <a:spAutoFit/>
          </a:bodyPr>
          <a:lstStyle/>
          <a:p>
            <a:pPr algn="l"/>
            <a:r>
              <a:rPr sz="1600" b="1">
                <a:solidFill>
                  <a:srgbClr val="9B1B30"/>
                </a:solidFill>
                <a:latin typeface="Calibri"/>
              </a:rPr>
              <a:t>Conclusion.  </a:t>
            </a:r>
            <a:r>
              <a:rPr sz="1600" b="0">
                <a:solidFill>
                  <a:srgbClr val="9B1B30"/>
                </a:solidFill>
                <a:latin typeface="Calibri"/>
              </a:rPr>
              <a:t>An MGS of 1 here is not a pain face. The MGS 4 frame is a crop that missed the eyes, so its nose and cheek points are not a real face score.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64592"/>
            <a:ext cx="11430000" cy="384048"/>
          </a:xfrm>
          <a:prstGeom prst="rect">
            <a:avLst/>
          </a:prstGeom>
          <a:noFill/>
        </p:spPr>
        <p:txBody>
          <a:bodyPr wrap="square">
            <a:spAutoFit/>
          </a:bodyPr>
          <a:lstStyle/>
          <a:p>
            <a:pPr algn="l"/>
            <a:r>
              <a:rPr sz="2600" b="1">
                <a:solidFill>
                  <a:srgbClr val="1F3A5F"/>
                </a:solidFill>
                <a:latin typeface="Calibri"/>
              </a:rPr>
              <a:t>Representative faces: baseline, melittin, melittin + morphine</a:t>
            </a:r>
          </a:p>
        </p:txBody>
      </p:sp>
      <p:pic>
        <p:nvPicPr>
          <p:cNvPr id="3" name="Picture 2" descr="fig02_representative_faces.png"/>
          <p:cNvPicPr>
            <a:picLocks noChangeAspect="1"/>
          </p:cNvPicPr>
          <p:nvPr/>
        </p:nvPicPr>
        <p:blipFill>
          <a:blip r:embed="rId2"/>
          <a:stretch>
            <a:fillRect/>
          </a:stretch>
        </p:blipFill>
        <p:spPr>
          <a:xfrm>
            <a:off x="4636477" y="621792"/>
            <a:ext cx="2918741" cy="4160520"/>
          </a:xfrm>
          <a:prstGeom prst="rect">
            <a:avLst/>
          </a:prstGeom>
        </p:spPr>
      </p:pic>
      <p:sp>
        <p:nvSpPr>
          <p:cNvPr id="4" name="TextBox 3"/>
          <p:cNvSpPr txBox="1"/>
          <p:nvPr/>
        </p:nvSpPr>
        <p:spPr>
          <a:xfrm>
            <a:off x="411480" y="4937760"/>
            <a:ext cx="11338560" cy="777240"/>
          </a:xfrm>
          <a:prstGeom prst="rect">
            <a:avLst/>
          </a:prstGeom>
          <a:noFill/>
        </p:spPr>
        <p:txBody>
          <a:bodyPr wrap="square">
            <a:spAutoFit/>
          </a:bodyPr>
          <a:lstStyle/>
          <a:p>
            <a:pPr algn="l"/>
            <a:r>
              <a:rPr sz="1500" b="1">
                <a:solidFill>
                  <a:srgbClr val="222222"/>
                </a:solidFill>
                <a:latin typeface="Calibri"/>
              </a:rPr>
              <a:t>Summary.  </a:t>
            </a:r>
            <a:r>
              <a:rPr sz="1500" b="0">
                <a:solidFill>
                  <a:srgbClr val="222222"/>
                </a:solidFill>
                <a:latin typeface="Calibri"/>
              </a:rPr>
              <a:t>Rows are mice. Columns are melittin-day baseline, melittin, morphine-day baseline, and melittin + morphine. Gray cells have no video for that condition.</a:t>
            </a:r>
          </a:p>
        </p:txBody>
      </p:sp>
      <p:sp>
        <p:nvSpPr>
          <p:cNvPr id="5" name="TextBox 4"/>
          <p:cNvSpPr txBox="1"/>
          <p:nvPr/>
        </p:nvSpPr>
        <p:spPr>
          <a:xfrm>
            <a:off x="411480" y="5760720"/>
            <a:ext cx="11338560" cy="868680"/>
          </a:xfrm>
          <a:prstGeom prst="rect">
            <a:avLst/>
          </a:prstGeom>
          <a:noFill/>
        </p:spPr>
        <p:txBody>
          <a:bodyPr wrap="square">
            <a:spAutoFit/>
          </a:bodyPr>
          <a:lstStyle/>
          <a:p>
            <a:pPr algn="l"/>
            <a:r>
              <a:rPr sz="1600" b="1">
                <a:solidFill>
                  <a:srgbClr val="0D5C63"/>
                </a:solidFill>
                <a:latin typeface="Calibri"/>
              </a:rPr>
              <a:t>Conclusion.  </a:t>
            </a:r>
            <a:r>
              <a:rPr sz="1600" b="0">
                <a:solidFill>
                  <a:srgbClr val="0D5C63"/>
                </a:solidFill>
                <a:latin typeface="Calibri"/>
              </a:rPr>
              <a:t>The camera is a tight front view, which is the kind of image GrimACE was built for. CS0204, mouse1f, and mouse2c have no morphine-day face video.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64592"/>
            <a:ext cx="11430000" cy="384048"/>
          </a:xfrm>
          <a:prstGeom prst="rect">
            <a:avLst/>
          </a:prstGeom>
          <a:noFill/>
        </p:spPr>
        <p:txBody>
          <a:bodyPr wrap="square">
            <a:spAutoFit/>
          </a:bodyPr>
          <a:lstStyle/>
          <a:p>
            <a:pPr algn="l"/>
            <a:r>
              <a:rPr sz="2600" b="1">
                <a:solidFill>
                  <a:srgbClr val="1F3A5F"/>
                </a:solidFill>
                <a:latin typeface="Calibri"/>
              </a:rPr>
              <a:t>Mouse-level score across the pain conditions</a:t>
            </a:r>
          </a:p>
        </p:txBody>
      </p:sp>
      <p:pic>
        <p:nvPicPr>
          <p:cNvPr id="3" name="Picture 2" descr="fig03_mouse_mgs_conditions.png"/>
          <p:cNvPicPr>
            <a:picLocks noChangeAspect="1"/>
          </p:cNvPicPr>
          <p:nvPr/>
        </p:nvPicPr>
        <p:blipFill>
          <a:blip r:embed="rId2"/>
          <a:stretch>
            <a:fillRect/>
          </a:stretch>
        </p:blipFill>
        <p:spPr>
          <a:xfrm>
            <a:off x="672602" y="621792"/>
            <a:ext cx="10846491" cy="4160520"/>
          </a:xfrm>
          <a:prstGeom prst="rect">
            <a:avLst/>
          </a:prstGeom>
        </p:spPr>
      </p:pic>
      <p:sp>
        <p:nvSpPr>
          <p:cNvPr id="4" name="TextBox 3"/>
          <p:cNvSpPr txBox="1"/>
          <p:nvPr/>
        </p:nvSpPr>
        <p:spPr>
          <a:xfrm>
            <a:off x="411480" y="4937760"/>
            <a:ext cx="11338560" cy="777240"/>
          </a:xfrm>
          <a:prstGeom prst="rect">
            <a:avLst/>
          </a:prstGeom>
          <a:noFill/>
        </p:spPr>
        <p:txBody>
          <a:bodyPr wrap="square">
            <a:spAutoFit/>
          </a:bodyPr>
          <a:lstStyle/>
          <a:p>
            <a:pPr algn="l"/>
            <a:r>
              <a:rPr sz="1500" b="1">
                <a:solidFill>
                  <a:srgbClr val="222222"/>
                </a:solidFill>
                <a:latin typeface="Calibri"/>
              </a:rPr>
              <a:t>Summary.  </a:t>
            </a:r>
            <a:r>
              <a:rPr sz="1500" b="0">
                <a:solidFill>
                  <a:srgbClr val="222222"/>
                </a:solidFill>
                <a:latin typeface="Calibri"/>
              </a:rPr>
              <a:t>Each point is one mouse: the mean of sampled frames with at least 3 rateable units. Lines connect the same mouse. Every mean is below 3 on a 0–10 scale.</a:t>
            </a:r>
          </a:p>
        </p:txBody>
      </p:sp>
      <p:sp>
        <p:nvSpPr>
          <p:cNvPr id="5" name="TextBox 4"/>
          <p:cNvSpPr txBox="1"/>
          <p:nvPr/>
        </p:nvSpPr>
        <p:spPr>
          <a:xfrm>
            <a:off x="411480" y="5760720"/>
            <a:ext cx="11338560" cy="868680"/>
          </a:xfrm>
          <a:prstGeom prst="rect">
            <a:avLst/>
          </a:prstGeom>
          <a:noFill/>
        </p:spPr>
        <p:txBody>
          <a:bodyPr wrap="square">
            <a:spAutoFit/>
          </a:bodyPr>
          <a:lstStyle/>
          <a:p>
            <a:pPr algn="l"/>
            <a:r>
              <a:rPr sz="1600" b="1">
                <a:solidFill>
                  <a:srgbClr val="9B1B30"/>
                </a:solidFill>
                <a:latin typeface="Calibri"/>
              </a:rPr>
              <a:t>Conclusion.  </a:t>
            </a:r>
            <a:r>
              <a:rPr sz="1600" b="0">
                <a:solidFill>
                  <a:srgbClr val="9B1B30"/>
                </a:solidFill>
                <a:latin typeface="Calibri"/>
              </a:rPr>
              <a:t>Melittin and melittin + morphine do not raise MGS in this sample. That is not evidence that pain was absent, or that morphine reduced pain.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64592"/>
            <a:ext cx="11430000" cy="384048"/>
          </a:xfrm>
          <a:prstGeom prst="rect">
            <a:avLst/>
          </a:prstGeom>
          <a:noFill/>
        </p:spPr>
        <p:txBody>
          <a:bodyPr wrap="square">
            <a:spAutoFit/>
          </a:bodyPr>
          <a:lstStyle/>
          <a:p>
            <a:pPr algn="l"/>
            <a:r>
              <a:rPr sz="2600" b="1">
                <a:solidFill>
                  <a:srgbClr val="1F3A5F"/>
                </a:solidFill>
                <a:latin typeface="Calibri"/>
              </a:rPr>
              <a:t>Pros and cons: which features actually carry the score</a:t>
            </a:r>
          </a:p>
        </p:txBody>
      </p:sp>
      <p:pic>
        <p:nvPicPr>
          <p:cNvPr id="3" name="Picture 2" descr="fig04_action_units.png"/>
          <p:cNvPicPr>
            <a:picLocks noChangeAspect="1"/>
          </p:cNvPicPr>
          <p:nvPr/>
        </p:nvPicPr>
        <p:blipFill>
          <a:blip r:embed="rId2"/>
          <a:stretch>
            <a:fillRect/>
          </a:stretch>
        </p:blipFill>
        <p:spPr>
          <a:xfrm>
            <a:off x="1021274" y="621792"/>
            <a:ext cx="10149147" cy="4160519"/>
          </a:xfrm>
          <a:prstGeom prst="rect">
            <a:avLst/>
          </a:prstGeom>
        </p:spPr>
      </p:pic>
      <p:sp>
        <p:nvSpPr>
          <p:cNvPr id="4" name="TextBox 3"/>
          <p:cNvSpPr txBox="1"/>
          <p:nvPr/>
        </p:nvSpPr>
        <p:spPr>
          <a:xfrm>
            <a:off x="411480" y="4937760"/>
            <a:ext cx="11338560" cy="777240"/>
          </a:xfrm>
          <a:prstGeom prst="rect">
            <a:avLst/>
          </a:prstGeom>
          <a:noFill/>
        </p:spPr>
        <p:txBody>
          <a:bodyPr wrap="square">
            <a:spAutoFit/>
          </a:bodyPr>
          <a:lstStyle/>
          <a:p>
            <a:pPr algn="l"/>
            <a:r>
              <a:rPr sz="1500" b="1">
                <a:solidFill>
                  <a:srgbClr val="222222"/>
                </a:solidFill>
                <a:latin typeface="Calibri"/>
              </a:rPr>
              <a:t>Summary.  </a:t>
            </a:r>
            <a:r>
              <a:rPr sz="1500" b="0">
                <a:solidFill>
                  <a:srgbClr val="222222"/>
                </a:solidFill>
                <a:latin typeface="Calibri"/>
              </a:rPr>
              <a:t>Pro: five standard MGS units, automated, and already matched to EXTRACT. Con: the ear sits near 1 in every condition, nose and cheek stay near 0, and whisker is not rateable on about 60–75% of frames.</a:t>
            </a:r>
          </a:p>
        </p:txBody>
      </p:sp>
      <p:sp>
        <p:nvSpPr>
          <p:cNvPr id="5" name="TextBox 4"/>
          <p:cNvSpPr txBox="1"/>
          <p:nvPr/>
        </p:nvSpPr>
        <p:spPr>
          <a:xfrm>
            <a:off x="411480" y="5760720"/>
            <a:ext cx="11338560" cy="868680"/>
          </a:xfrm>
          <a:prstGeom prst="rect">
            <a:avLst/>
          </a:prstGeom>
          <a:noFill/>
        </p:spPr>
        <p:txBody>
          <a:bodyPr wrap="square">
            <a:spAutoFit/>
          </a:bodyPr>
          <a:lstStyle/>
          <a:p>
            <a:pPr algn="l"/>
            <a:r>
              <a:rPr sz="1600" b="1">
                <a:solidFill>
                  <a:srgbClr val="9B1B30"/>
                </a:solidFill>
                <a:latin typeface="Calibri"/>
              </a:rPr>
              <a:t>Conclusion.  </a:t>
            </a:r>
            <a:r>
              <a:rPr sz="1600" b="0">
                <a:solidFill>
                  <a:srgbClr val="9B1B30"/>
                </a:solidFill>
                <a:latin typeface="Calibri"/>
              </a:rPr>
              <a:t>Only orbital tightening moves, and it moves down after melittin + morphine. Three of the five pain features are not informative on this camera.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64592"/>
            <a:ext cx="11430000" cy="384048"/>
          </a:xfrm>
          <a:prstGeom prst="rect">
            <a:avLst/>
          </a:prstGeom>
          <a:noFill/>
        </p:spPr>
        <p:txBody>
          <a:bodyPr wrap="square">
            <a:spAutoFit/>
          </a:bodyPr>
          <a:lstStyle/>
          <a:p>
            <a:pPr algn="l"/>
            <a:r>
              <a:rPr sz="2600" b="1">
                <a:solidFill>
                  <a:srgbClr val="1F3A5F"/>
                </a:solidFill>
                <a:latin typeface="Calibri"/>
              </a:rPr>
              <a:t>Can GrimACE be the crystal-skull pain assay?</a:t>
            </a:r>
          </a:p>
        </p:txBody>
      </p:sp>
      <p:pic>
        <p:nvPicPr>
          <p:cNvPr id="3" name="Picture 2" descr="fig05_delta_inj_minus_bl.png"/>
          <p:cNvPicPr>
            <a:picLocks noChangeAspect="1"/>
          </p:cNvPicPr>
          <p:nvPr/>
        </p:nvPicPr>
        <p:blipFill>
          <a:blip r:embed="rId2"/>
          <a:stretch>
            <a:fillRect/>
          </a:stretch>
        </p:blipFill>
        <p:spPr>
          <a:xfrm>
            <a:off x="2810451" y="621792"/>
            <a:ext cx="6570792" cy="4160520"/>
          </a:xfrm>
          <a:prstGeom prst="rect">
            <a:avLst/>
          </a:prstGeom>
        </p:spPr>
      </p:pic>
      <p:sp>
        <p:nvSpPr>
          <p:cNvPr id="4" name="TextBox 3"/>
          <p:cNvSpPr txBox="1"/>
          <p:nvPr/>
        </p:nvSpPr>
        <p:spPr>
          <a:xfrm>
            <a:off x="411480" y="4937760"/>
            <a:ext cx="11338560" cy="777240"/>
          </a:xfrm>
          <a:prstGeom prst="rect">
            <a:avLst/>
          </a:prstGeom>
          <a:noFill/>
        </p:spPr>
        <p:txBody>
          <a:bodyPr wrap="square">
            <a:spAutoFit/>
          </a:bodyPr>
          <a:lstStyle/>
          <a:p>
            <a:pPr algn="l"/>
            <a:r>
              <a:rPr sz="1500" b="1">
                <a:solidFill>
                  <a:srgbClr val="222222"/>
                </a:solidFill>
                <a:latin typeface="Calibri"/>
              </a:rPr>
              <a:t>Summary.  </a:t>
            </a:r>
            <a:r>
              <a:rPr sz="1500" b="0">
                <a:solidFill>
                  <a:srgbClr val="222222"/>
                </a:solidFill>
                <a:latin typeface="Calibri"/>
              </a:rPr>
              <a:t>Within each mouse, injection minus baseline is between −0.63 and +0.14 MGS points. The black bar is the mean of mice. n is mice, not frames.</a:t>
            </a:r>
          </a:p>
        </p:txBody>
      </p:sp>
      <p:sp>
        <p:nvSpPr>
          <p:cNvPr id="5" name="TextBox 4"/>
          <p:cNvSpPr txBox="1"/>
          <p:nvPr/>
        </p:nvSpPr>
        <p:spPr>
          <a:xfrm>
            <a:off x="411480" y="5760720"/>
            <a:ext cx="11338560" cy="868680"/>
          </a:xfrm>
          <a:prstGeom prst="rect">
            <a:avLst/>
          </a:prstGeom>
          <a:noFill/>
        </p:spPr>
        <p:txBody>
          <a:bodyPr wrap="square">
            <a:spAutoFit/>
          </a:bodyPr>
          <a:lstStyle/>
          <a:p>
            <a:pPr algn="l"/>
            <a:r>
              <a:rPr sz="1600" b="1">
                <a:solidFill>
                  <a:srgbClr val="9B1B30"/>
                </a:solidFill>
                <a:latin typeface="Calibri"/>
              </a:rPr>
              <a:t>Conclusion.  </a:t>
            </a:r>
            <a:r>
              <a:rPr sz="1600" b="0">
                <a:solidFill>
                  <a:srgbClr val="9B1B30"/>
                </a:solidFill>
                <a:latin typeface="Calibri"/>
              </a:rPr>
              <a:t>Not yet. Keep it as an exploratory face score. A trained person has to score the same crops before any pain claim. These shifts are smaller than 1 point on a 0–10 scale.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479</Words>
  <Application>Microsoft Office PowerPoint</Application>
  <PresentationFormat>Widescreen</PresentationFormat>
  <Paragraphs>18</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Hansol Lim</cp:lastModifiedBy>
  <cp:revision>1</cp:revision>
  <dcterms:created xsi:type="dcterms:W3CDTF">2013-01-27T09:14:16Z</dcterms:created>
  <dcterms:modified xsi:type="dcterms:W3CDTF">2026-09-30T17:40:39Z</dcterms:modified>
  <cp:category/>
</cp:coreProperties>
</file>