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METHOD</a:t>
            </a:r>
          </a:p>
          <a:p>
            <a:r>
              <a:t>Atlas: BrainGlobe allen_mouse_25um_v1.2, 'asr' orientation, 528 x 320 x 456. Projected top-down; the first labelled voxel along each dorsal ray gives the surface area, and cortical layers are collapsed to their parent area.</a:t>
            </a:r>
          </a:p>
          <a:p/>
          <a:p>
            <a:r>
              <a:t>Registration is a similarity transform (rotation, isotropic scale, translation). Rotation comes from the auto-detected midline plus the fixed 90 deg between the FOV frame (A-P horizontal) and the atlas frame (A-P vertical). Scale and translation are found by maximising Dice. A-P sense is resolved by running both and keeping the better Dice.</a:t>
            </a:r>
          </a:p>
          <a:p/>
          <a:p>
            <a:r>
              <a:t>WHY NOT LANDMARKS</a:t>
            </a:r>
          </a:p>
          <a:p>
            <a:r>
              <a:t>I first asked Hansol to click bregma and lambda. That was my error - the skull is removed in this preparation, so neither is visible. The clicked registrations gave a 1.69x spread in fitted scale and an implied FOV width of 24.6 mm, which is impossible. The mask method needs no clicking and gives 1.05x.</a:t>
            </a:r>
          </a:p>
          <a:p/>
          <a:p>
            <a:r>
              <a:t>WHAT 'DICE' MEANS HERE</a:t>
            </a:r>
          </a:p>
          <a:p>
            <a:r>
              <a:t>2 x |A and B| / (|A| + |B|) between the binarised FOV tissue mask and the atlas cortex mask, after transform. 1.0 is perfect; 0.912 is the worst of the 30.</a:t>
            </a:r>
          </a:p>
          <a:p/>
          <a:p>
            <a:r>
              <a:t>VALIDATION</a:t>
            </a:r>
          </a:p>
          <a:p>
            <a:r>
              <a:t>Cerebellum mislabels dropped from 25% of posterior cells to 0%. Three known stereotaxic coordinates each land in the correct Allen area (see panel D).</a:t>
            </a:r>
          </a:p>
          <a:p/>
          <a:p>
            <a:r>
              <a:t>FILES</a:t>
            </a:r>
          </a:p>
          <a:p>
            <a:r>
              <a:t>Transforms: C:\Users\hsollim\behavior_task\crystal_skull_analysis\ccf_registration\transforms\*.mat (30 files, each with dice, um_per_px, midline_angle_deg, ap_flipped).</a:t>
            </a:r>
          </a:p>
          <a:p>
            <a:r>
              <a:t>QC table: ...\final_deck\reg_qc.csv</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RESPONSE CLASSIFICATION (face poke)</a:t>
            </a:r>
          </a:p>
          <a:p>
            <a:r>
              <a:t>Per cell, per poke: mean dF/F in the response window 0 to +2 s minus mean dF/F in the base window -2 to 0 s. Amplitude = the mean of that difference across trials. Two-sided t across trials, uncorrected p &lt; 0.05; sign of the amplitude gives excited vs inhibited. This is a within-cell, trial-paired design.</a:t>
            </a:r>
          </a:p>
          <a:p/>
          <a:p>
            <a:r>
              <a:t>Note that an uncorrected alpha of 0.05 would call about 2.5% of cells excited and 2.5% inhibited by chance alone. 8.6% and 27.6% are both above that floor, but the excited fraction is only ~3x chance, so I would not lean on the absolute number - the regional comparison is the robust part, because the same test is applied everywhere.</a:t>
            </a:r>
          </a:p>
          <a:p/>
          <a:p>
            <a:r>
              <a:t>PANEL B - ENRICHMENT</a:t>
            </a:r>
          </a:p>
          <a:p>
            <a:r>
              <a:t>Fold enrichment = that area's excited-cell rate divided by the cortex-wide rate of 8.6%. 19 areas have at least 300 cells. Two-sided binomial test of each area against the cortex-wide rate, Benjamini-Hochberg across the 19. Stars: *** q&lt;0.001, ** q&lt;0.01, * q&lt;0.05. Red = enriched, blue = depleted.</a:t>
            </a:r>
          </a:p>
          <a:p/>
          <a:p>
            <a:r>
              <a:t>PANEL C - A-P GRADIENT</a:t>
            </a:r>
          </a:p>
          <a:p>
            <a:r>
              <a:t>Each recording is split at its own median AP coordinate, so the test does not depend on how far forward that FOV happened to sit. Wilcoxon signed-rank over the 18 recordings, W = 0 (every single recording moves the same way), p = 7.6e-06.</a:t>
            </a:r>
          </a:p>
          <a:p/>
          <a:p>
            <a:r>
              <a:t>The 4 animals are 0004749770_m1, m200, m201 and m3, derived from the movie name. The 'mouse' column in the recording index holds the FOV label (m1f / m2c) and would have collapsed these to 3.</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WHY THIS SLIDE MIRRORS SLIDE 2 EXACTLY</a:t>
            </a:r>
          </a:p>
          <a:p>
            <a:r>
              <a:t>Same enrichment recipe, same &gt;= 300 cell floor, same binomial + BH-FDR, same colour meanings. The only thing that differs is which arm the cells come from. That is deliberate: it is the only way the two paradigms can be compared by eye.</a:t>
            </a:r>
          </a:p>
          <a:p/>
          <a:p>
            <a:r>
              <a:t>PANEL C IS THE IMPORTANT ONE</a:t>
            </a:r>
          </a:p>
          <a:p>
            <a:r>
              <a:t>The up-enrichment and down-enrichment maps correlate at Spearman rho = -0.98 (p = 1e-19, 27 areas). They are the same map with the sign flipped, so reporting both is reporting one number twice.</a:t>
            </a:r>
          </a:p>
          <a:p/>
          <a:p>
            <a:r>
              <a:t>The reason is in the base rates: 28.3% of cells are called up and 63.0% down, which is 91.3% of all cells called responsive. The melittin test uses time bins as its sample, so df is in the thousands and nearly every cell crosses p&lt;0.05 in one direction or the other. An area that is high on 'up' is therefore mechanically low on 'down'. Supplement S2 has the full argument.</a:t>
            </a:r>
          </a:p>
          <a:p/>
          <a:p>
            <a:r>
              <a:t>This is why the absolute 28% / 63% must never be compared with the face-poke 8.6% / 27.6% as biology. The enrichment ratios ARE comparable, because each is divided by its own arm's cortex-wide rate - that is what slide 6 (dissociation) rests on.</a:t>
            </a:r>
          </a:p>
          <a:p/>
          <a:p>
            <a:r>
              <a:t>PANEL D - NO GRADIENT, AND WHY THAT IS NOT THE SAME AS 'NO EFFECT'</a:t>
            </a:r>
          </a:p>
          <a:p>
            <a:r>
              <a:t>Face poke: +7.2 pp posterior, 18/18 recordings, p = 7.6e-06.</a:t>
            </a:r>
          </a:p>
          <a:p>
            <a:r>
              <a:t>Melittin:  +2.2 pp posterior, 3/4 mice, p = 0.38.</a:t>
            </a:r>
          </a:p>
          <a:p>
            <a:r>
              <a:t>Two separate reasons not to read the melittin result as a demonstrated absence:</a:t>
            </a:r>
          </a:p>
          <a:p>
            <a:r>
              <a:t>  1. the effect is 3x smaller, and</a:t>
            </a:r>
          </a:p>
          <a:p>
            <a:r>
              <a:t>  2. a two-sided Wilcoxon signed-rank on n = 4 has a FLOOR of p = 0.125. Even if all 4 animals had agreed, this test could not have reached p &lt; 0.05. It is structurally incapable of significance at this n.</a:t>
            </a:r>
          </a:p>
          <a:p>
            <a:r>
              <a:t>Running it over the 8 recordings instead of the 4 mice would clear that floor, but mirror1 and mirror2 are two recordings of the SAME session covering the same bilateral FOV - they are technical replicates, and using them as n = 8 is pseudoreplication. The honest statement is 'not demonstrable', not 'absent'.</a:t>
            </a:r>
          </a:p>
          <a:p/>
          <a:p>
            <a:r>
              <a:t>PER-MOUSE CHECK</a:t>
            </a:r>
          </a:p>
          <a:p>
            <a:r>
              <a:t>CS0204-1b 29.7% up, CS0204-2w 20.9%, CS1014-1b 28.5%, CS1014-2w 28.9%. CS0204-2w sits low and also has the fewest cells (7,256), so it carries the least weight in the pooled number - the pooled 28.3% is not driven by one animal.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WHY PAIRED</a:t>
            </a:r>
          </a:p>
          <a:p>
            <a:r>
              <a:t>Hansol confirmed CS1014-1b = 1014m01b and CS1014-2w = 1014m02w. Every earlier version of this comparison treated the two arms as independent groups (n = 4 vs 2, unpaired Mann-Whitney). For these two animals that was the wrong design. The unpaired estimate was roughly 3x larger, inflated by one outlier animal (CS0204-2w); the within-animal effect is +2.7 pp on average.</a:t>
            </a:r>
          </a:p>
          <a:p/>
          <a:p>
            <a:r>
              <a:t>WHY NO P VALUE</a:t>
            </a:r>
          </a:p>
          <a:p>
            <a:r>
              <a:t>A two-sided sign test on n = 2 has a floor of p = 0.5, and a paired Wilcoxon on n = 2 cannot go below p = 0.5 either. Quoting any p here would be theatre. Two more paired animals would make this testable.</a:t>
            </a:r>
          </a:p>
          <a:p/>
          <a:p>
            <a:r>
              <a:t>RESPONSE CLASSIFICATION (melittin) - IMPORTANT CAVEAT</a:t>
            </a:r>
          </a:p>
          <a:p>
            <a:r>
              <a:t>Baseline and injection are separate EXTRACT runs, so cells are NOT tracked across the injection. Each injection cell's amplitude is its mean dF/F minus the grand mean over all baseline cells, tested with a t across time bins. Because there are thousands of time bins, that test has enormous degrees of freedom and calls a very large fraction of cells responsive - which is why panel A shows 28% up and 63% down, far above the face-poke numbers. Those absolute percentages are NOT comparable to slide 2 and should not be read as biology.</a:t>
            </a:r>
          </a:p>
          <a:p/>
          <a:p>
            <a:r>
              <a:t>What IS valid is the comparison between the two arms and between areas, because the identical test is applied to both sides. That is what panels B, C and D show.</a:t>
            </a:r>
          </a:p>
          <a:p/>
          <a:p>
            <a:r>
              <a:t>PANEL D</a:t>
            </a:r>
          </a:p>
          <a:p>
            <a:r>
              <a:t>Isocortex only, areas with at least 100 cells in all four sessions. Leaving every labelled area in pulls in SCzo (superior colliculus) and an 'outside' bin, which do not belong in a cortical claim.</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FIRST, THE DESIGN CONSTRAINT</a:t>
            </a:r>
          </a:p>
          <a:p>
            <a:r>
              <a:t>There is NO morphine-alone arm and NO morphine + face-poke arm in this dataset. Morphine only ever appears as melittin + morphine, on 20260408, in two animals: 1014m01b and 1014m02w, which Hansol confirmed are CS1014-1b and CS1014-2w from the melittin-only cohort. So every morphine statement is a within-animal melittin -&gt; melittin+morphine comparison in those two mice.</a:t>
            </a:r>
          </a:p>
          <a:p/>
          <a:p>
            <a:r>
              <a:t>WHY TWO LAYERS AND NOT ONE</a:t>
            </a:r>
          </a:p>
          <a:p>
            <a:r>
              <a:t>Panel A alone would support a headline like 'morphine acts region-specifically' - and the statistics for it are overwhelming, Q = 129 and 278. But the sample in that test is CELLS within one animal. It is the right test for 'do regions differ inside this animal', and it says nothing at all about whether the pattern is a property of morphine or a property of that animal's particular FOV and cell sampling. Panel B is what distinguishes those, and it comes out flat.</a:t>
            </a:r>
          </a:p>
          <a:p/>
          <a:p>
            <a:r>
              <a:t>THE NUMBERS</a:t>
            </a:r>
          </a:p>
          <a:p>
            <a:r>
              <a:t>CS1014-1b: pooled log OR +0.136 (OR 1.145), Q = 129, df = 23, p = 9.5e-17, I2 = 82%, 9/24 areas individually significant after BH.</a:t>
            </a:r>
          </a:p>
          <a:p>
            <a:r>
              <a:t>CS1014-2w: pooled log OR +0.147 (OR 1.158), Q = 278, df = 21, p = 9.6e-47, I2 = 92%, 17/22 areas individually significant after BH.</a:t>
            </a:r>
          </a:p>
          <a:p>
            <a:r>
              <a:t>Cross-animal: Pearson r = +0.10 (p = 0.65), Spearman rho = +0.10 (p = 0.65), 11/22 directions agree (binomial vs 0.5, p = 1.00), CIs overlap in 14/22.</a:t>
            </a:r>
          </a:p>
          <a:p/>
          <a:p>
            <a:r>
              <a:t>WHAT THE FOREST PLOT SHOWS IF SOMEONE LOOKS CLOSELY</a:t>
            </a:r>
          </a:p>
          <a:p>
            <a:r>
              <a:t>The areas at the top (AUDpo, RSPd, VISal, RSPagl, VISl) and at the bottom (SSp-n, SSp-ll, SSp-un) are ordered by the MEAN of the two animals, which is why they look tidy. Look at the individual bars and the two colours disagree constantly: AUDd is +0.75 in one animal and -0.09 in the other, SSp-ll is +0.20 and -0.64, SSp-n is -0.50 and +0.04. That disagreement is panel B.</a:t>
            </a:r>
          </a:p>
          <a:p/>
          <a:p>
            <a:r>
              <a:t>VISpor in CS1014-2w has a CI running past +/- 4 because its up-rate is near zero; the axis is clipped at +/- 1.6 and three CI ends are marked with arrowheads.</a:t>
            </a:r>
          </a:p>
          <a:p/>
          <a:p>
            <a:r>
              <a:t>A THIRD ANALYSIS, ALSO NEGATIVE</a:t>
            </a:r>
          </a:p>
          <a:p>
            <a:r>
              <a:t>Does morphine act most where melittin already acts most? Correlating each area's melittin-alone up-rate against its morphine-minus-melittin change gives r = -0.51 in CS1014-1b and -0.23 in CS1014-2w. A negative correlation is EXPECTED here even under no real effect, because the noise in x re-enters y with a minus sign. I simulated that null (2,000 draws, both arms resampled at the pooled per-area rate): the null mean is about -0.10 with a 95% range of roughly -0.48 to +0.31. CS1014-1b's -0.51 sits at the 2nd percentile, outside the artifact; CS1014-2w's -0.23 sits at the 27th, inside it. One animal yes, one no - the same n = 2 problem, so it is not on the slide as a finding.</a:t>
            </a:r>
          </a:p>
          <a:p/>
          <a:p>
            <a:r>
              <a:t>WHAT WOULD SETTLE IT</a:t>
            </a:r>
          </a:p>
          <a:p>
            <a:r>
              <a:t>Two more paired animals. With n = 4, the cross-animal correlation of per-area log ORs becomes interpretable, and a sign test on the whole-cortex shift can reach p = 0.125; with n = 6 it can reach p = 0.031.</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WHY FOLD ENRICHMENT AND NOT RAW RATES</a:t>
            </a:r>
          </a:p>
          <a:p>
            <a:r>
              <a:t>The two paradigms use different response tests (see slide 3 notes), so their cortex-wide rates differ 3-fold: 8.6% excited for face poke, 28.3% driven up for melittin. Dividing each area by its own paradigm's cortex-wide rate removes that offset and leaves the spatial pattern, which is the thing we want to compare.</a:t>
            </a:r>
          </a:p>
          <a:p/>
          <a:p>
            <a:r>
              <a:t>STATISTICS</a:t>
            </a:r>
          </a:p>
          <a:p>
            <a:r>
              <a:t>Two-sided binomial test per area against the cortex-wide rate of that paradigm, Benjamini-Hochberg FDR across the 19 (face poke) and 27 (melittin) areas that have at least 300 cells. Spearman rank correlation across the 19 areas present in both lists.</a:t>
            </a:r>
          </a:p>
          <a:p/>
          <a:p>
            <a:r>
              <a:t>HOW TO READ THE SPEARMAN RESULT</a:t>
            </a:r>
          </a:p>
          <a:p>
            <a:r>
              <a:t>rho = -0.22 with p = 0.36 means the two maps are UNCORRELATED, not anti-correlated. The honest statement is that knowing an area's face-poke enrichment tells you nothing about its melittin enrichment. With 19 areas this test has limited power, so a modest true correlation would not be detected.</a:t>
            </a:r>
          </a:p>
          <a:p/>
          <a:p>
            <a:r>
              <a:t>SANITY CHECK</a:t>
            </a:r>
          </a:p>
          <a:p>
            <a:r>
              <a:t>SSs at 2.01x for face poke comes from 422 cells, which is the smallest n in the enriched set. It survives FDR (q = 7e-08), but it is the one number on this slide I would most want a second cohort to confirm.</a:t>
            </a:r>
          </a:p>
          <a:p/>
          <a:p>
            <a:r>
              <a:t>The melittin side uses the melittin-only arm (81,834 cells, 4 mice), not the morphine arm, so the comparison is drug-free on both sides.</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WHAT WAS ACTUALLY RUN</a:t>
            </a:r>
          </a:p>
          <a:p>
            <a:r>
              <a:t>The GitHub repo ships no weights (only models/.gitkeep). The trained weights and the labelled dataset are on Zenodo record 15119195: grimace_scorer.pt 341.5 MB, top_pose_estimator_l.pt 85.4 MB, top_pose_estimator.pt 22.8 MB, face_cropper.pt 21.5 MB, frame_quality.pt 21.1 MB, 493 MB in total, plus 2,970 human-scored PNG frames and 15 score tables from 3 independent scorers. Those weights were dropped into the cloned repo's models/ folder and driven from a GUI-free runner (run_grimace_offline.py) so no camera is needed.</a:t>
            </a:r>
          </a:p>
          <a:p/>
          <a:p>
            <a:r>
              <a:t>THE CONTROL RUN MATTERS</a:t>
            </a:r>
          </a:p>
          <a:p>
            <a:r>
              <a:t>Running on their own example video first is what makes the negative result interpretable. The install is correct; the footage is the difference.</a:t>
            </a:r>
          </a:p>
          <a:p/>
          <a:p>
            <a:r>
              <a:t>WHY A GAIN CANNOT FIX IT</a:t>
            </a:r>
          </a:p>
          <a:p>
            <a:r>
              <a:t>The scorer normalises with hard-coded constants (x - 0.5175) / 0.14. A scalar gain moves the mean and the SD together, so it cannot match both. An earlier gain sweep I ran looked like evidence of scorer instability; it was arithmetic, not evidence, and I am not showing it.</a:t>
            </a:r>
          </a:p>
          <a:p/>
          <a:p>
            <a:r>
              <a:t>RECOMMENDATION</a:t>
            </a:r>
          </a:p>
          <a:p>
            <a:r>
              <a:t>1. light background behind the mouse  2. diffuse IR with no specular hot spot  3. wider framing so both ears stay in frame. With those three, either GrimACE or PainFace should run with no retraining.</a:t>
            </a:r>
          </a:p>
          <a:p/>
          <a:p>
            <a:r>
              <a:t>PAINFACE</a:t>
            </a:r>
          </a:p>
          <a:p>
            <a:r>
              <a:t>PainFace (Zylka lab, UNC) is the alternative and is a web service - it needs an account that only Hansol can create, at painface.net. Converted clips are already staged at ...\behavior_sync\painface_upload\.</a:t>
            </a:r>
          </a:p>
          <a:p/>
          <a:p>
            <a:r>
              <a:t>SYNC WARNING</a:t>
            </a:r>
          </a:p>
          <a:p>
            <a:r>
              <a:t>Frame index x 1/35 s is NOT wall clock. 1014m01b 20260408 Injection holds 1,504 s of frames spread over 3,761 s of wall clock, so that recording is segmented. Always use the per-frame timestamps.</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supplement exists so slide 1 does not have to carry it.</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If Mark asks one hard question about this deck, it will be this one.</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slide exists so slides 3 and 5 can stay readable. If Mark asks 'how did you decide an area is enriched' or 'why is n = 4 and not 8', the answer is here.</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png"/><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png"/><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11480" y="201168"/>
            <a:ext cx="11384280" cy="548640"/>
          </a:xfrm>
          <a:prstGeom prst="rect">
            <a:avLst/>
          </a:prstGeom>
          <a:noFill/>
        </p:spPr>
        <p:txBody>
          <a:bodyPr wrap="square">
            <a:spAutoFit/>
          </a:bodyPr>
          <a:lstStyle/>
          <a:p>
            <a:pPr algn="l">
              <a:spcAft>
                <a:spcPts val="400"/>
              </a:spcAft>
            </a:pPr>
            <a:r>
              <a:rPr sz="2400" b="1">
                <a:solidFill>
                  <a:srgbClr val="1F3A5F"/>
                </a:solidFill>
                <a:latin typeface="Calibri"/>
              </a:rPr>
              <a:t>1.  All 30 recordings registered to the Allen CCF — no manual landmarks</a:t>
            </a:r>
          </a:p>
        </p:txBody>
      </p:sp>
      <p:pic>
        <p:nvPicPr>
          <p:cNvPr id="3" name="Picture 2" descr="S1_registration.png"/>
          <p:cNvPicPr>
            <a:picLocks noChangeAspect="1"/>
          </p:cNvPicPr>
          <p:nvPr/>
        </p:nvPicPr>
        <p:blipFill>
          <a:blip r:embed="rId2"/>
          <a:stretch>
            <a:fillRect/>
          </a:stretch>
        </p:blipFill>
        <p:spPr>
          <a:xfrm>
            <a:off x="995158" y="749808"/>
            <a:ext cx="10201378" cy="4315968"/>
          </a:xfrm>
          <a:prstGeom prst="rect">
            <a:avLst/>
          </a:prstGeom>
        </p:spPr>
      </p:pic>
      <p:sp>
        <p:nvSpPr>
          <p:cNvPr id="4" name="TextBox 3"/>
          <p:cNvSpPr txBox="1"/>
          <p:nvPr/>
        </p:nvSpPr>
        <p:spPr>
          <a:xfrm>
            <a:off x="502920" y="5175504"/>
            <a:ext cx="11201400" cy="1572768"/>
          </a:xfrm>
          <a:prstGeom prst="rect">
            <a:avLst/>
          </a:prstGeom>
          <a:noFill/>
        </p:spPr>
        <p:txBody>
          <a:bodyPr wrap="square">
            <a:spAutoFit/>
          </a:bodyPr>
          <a:lstStyle/>
          <a:p>
            <a:pPr algn="l">
              <a:spcAft>
                <a:spcPts val="300"/>
              </a:spcAft>
            </a:pPr>
            <a:r>
              <a:rPr sz="1250" b="0">
                <a:solidFill>
                  <a:srgbClr val="222222"/>
                </a:solidFill>
                <a:latin typeface="Calibri"/>
              </a:rPr>
              <a:t>What we did:  registered all 30 FOVs (18 face-poke + 12 melittin) to the Allen CCFv3 dorsal-surface map by maximising the Dice overlap between the tissue mask and the atlas cortex mask, after detecting the sagittal midline from the image itself.</a:t>
            </a:r>
          </a:p>
          <a:p>
            <a:pPr algn="l">
              <a:spcAft>
                <a:spcPts val="300"/>
              </a:spcAft>
            </a:pPr>
            <a:r>
              <a:rPr sz="1250" b="0">
                <a:solidFill>
                  <a:srgbClr val="222222"/>
                </a:solidFill>
                <a:latin typeface="Calibri"/>
              </a:rPr>
              <a:t>What we found:  all 30 pass (Dice 0.912–0.942, median 0.931) and the fitted scale agrees to within 1.05× across every FOV, so a cell's Allen area label is now a usable variable in the analysis.</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11480" y="201168"/>
            <a:ext cx="11384280" cy="548640"/>
          </a:xfrm>
          <a:prstGeom prst="rect">
            <a:avLst/>
          </a:prstGeom>
          <a:noFill/>
        </p:spPr>
        <p:txBody>
          <a:bodyPr wrap="square">
            <a:spAutoFit/>
          </a:bodyPr>
          <a:lstStyle/>
          <a:p>
            <a:pPr algn="l">
              <a:spcAft>
                <a:spcPts val="400"/>
              </a:spcAft>
            </a:pPr>
            <a:r>
              <a:rPr sz="2400" b="1">
                <a:solidFill>
                  <a:srgbClr val="1F3A5F"/>
                </a:solidFill>
                <a:latin typeface="Calibri"/>
              </a:rPr>
              <a:t>2.  Face poke: somatosensory excitation, posterior inhibition</a:t>
            </a:r>
          </a:p>
        </p:txBody>
      </p:sp>
      <p:pic>
        <p:nvPicPr>
          <p:cNvPr id="3" name="Picture 2" descr="S2_facepoke.png"/>
          <p:cNvPicPr>
            <a:picLocks noChangeAspect="1"/>
          </p:cNvPicPr>
          <p:nvPr/>
        </p:nvPicPr>
        <p:blipFill>
          <a:blip r:embed="rId2"/>
          <a:stretch>
            <a:fillRect/>
          </a:stretch>
        </p:blipFill>
        <p:spPr>
          <a:xfrm>
            <a:off x="995158" y="749808"/>
            <a:ext cx="10201378" cy="4315968"/>
          </a:xfrm>
          <a:prstGeom prst="rect">
            <a:avLst/>
          </a:prstGeom>
        </p:spPr>
      </p:pic>
      <p:sp>
        <p:nvSpPr>
          <p:cNvPr id="4" name="TextBox 3"/>
          <p:cNvSpPr txBox="1"/>
          <p:nvPr/>
        </p:nvSpPr>
        <p:spPr>
          <a:xfrm>
            <a:off x="502920" y="5175504"/>
            <a:ext cx="11201400" cy="1572768"/>
          </a:xfrm>
          <a:prstGeom prst="rect">
            <a:avLst/>
          </a:prstGeom>
          <a:noFill/>
        </p:spPr>
        <p:txBody>
          <a:bodyPr wrap="square">
            <a:spAutoFit/>
          </a:bodyPr>
          <a:lstStyle/>
          <a:p>
            <a:pPr algn="l">
              <a:spcAft>
                <a:spcPts val="300"/>
              </a:spcAft>
            </a:pPr>
            <a:r>
              <a:rPr sz="1250" b="0">
                <a:solidFill>
                  <a:srgbClr val="222222"/>
                </a:solidFill>
                <a:latin typeface="Calibri"/>
              </a:rPr>
              <a:t>What we did:  classified each of 43,156 cells (18 recordings, 4 mice) as excited or inhibited by comparing the 0–2 s window after each poke with the 2 s before it, trial-paired within cell, then asked which Allen areas are over-represented.</a:t>
            </a:r>
          </a:p>
          <a:p>
            <a:pPr algn="l">
              <a:spcAft>
                <a:spcPts val="300"/>
              </a:spcAft>
            </a:pPr>
            <a:r>
              <a:rPr sz="1250" b="0">
                <a:solidFill>
                  <a:srgbClr val="222222"/>
                </a:solidFill>
                <a:latin typeface="Calibri"/>
              </a:rPr>
              <a:t>What we found:  8.6 % of cells are excited and 27.6 % inhibited; excitation concentrates in SSs (2.01×), SSp-n (1.42×) and MOp (1.37×), and inhibition is stronger in the posterior half of the FOV in 18 of 18 recordings (+7.2 pp, Wilcoxon signed-rank p = 7.6e-06).</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11480" y="201168"/>
            <a:ext cx="11384280" cy="548640"/>
          </a:xfrm>
          <a:prstGeom prst="rect">
            <a:avLst/>
          </a:prstGeom>
          <a:noFill/>
        </p:spPr>
        <p:txBody>
          <a:bodyPr wrap="square">
            <a:spAutoFit/>
          </a:bodyPr>
          <a:lstStyle/>
          <a:p>
            <a:pPr algn="l">
              <a:spcAft>
                <a:spcPts val="400"/>
              </a:spcAft>
            </a:pPr>
            <a:r>
              <a:rPr sz="2400" b="1">
                <a:solidFill>
                  <a:srgbClr val="1F3A5F"/>
                </a:solidFill>
                <a:latin typeface="Calibri"/>
              </a:rPr>
              <a:t>3.  Melittin: posterior-medial parietal and motor cortex</a:t>
            </a:r>
          </a:p>
        </p:txBody>
      </p:sp>
      <p:pic>
        <p:nvPicPr>
          <p:cNvPr id="3" name="Picture 2" descr="S6_melittin_regions.png"/>
          <p:cNvPicPr>
            <a:picLocks noChangeAspect="1"/>
          </p:cNvPicPr>
          <p:nvPr/>
        </p:nvPicPr>
        <p:blipFill>
          <a:blip r:embed="rId2"/>
          <a:stretch>
            <a:fillRect/>
          </a:stretch>
        </p:blipFill>
        <p:spPr>
          <a:xfrm>
            <a:off x="995158" y="749808"/>
            <a:ext cx="10201378" cy="4315968"/>
          </a:xfrm>
          <a:prstGeom prst="rect">
            <a:avLst/>
          </a:prstGeom>
        </p:spPr>
      </p:pic>
      <p:sp>
        <p:nvSpPr>
          <p:cNvPr id="4" name="TextBox 3"/>
          <p:cNvSpPr txBox="1"/>
          <p:nvPr/>
        </p:nvSpPr>
        <p:spPr>
          <a:xfrm>
            <a:off x="502920" y="5175504"/>
            <a:ext cx="11201400" cy="1572768"/>
          </a:xfrm>
          <a:prstGeom prst="rect">
            <a:avLst/>
          </a:prstGeom>
          <a:noFill/>
        </p:spPr>
        <p:txBody>
          <a:bodyPr wrap="square">
            <a:spAutoFit/>
          </a:bodyPr>
          <a:lstStyle/>
          <a:p>
            <a:pPr algn="l">
              <a:spcAft>
                <a:spcPts val="300"/>
              </a:spcAft>
            </a:pPr>
            <a:r>
              <a:rPr sz="1250" b="0">
                <a:solidFill>
                  <a:srgbClr val="222222"/>
                </a:solidFill>
                <a:latin typeface="Calibri"/>
              </a:rPr>
              <a:t>What we did:  ran exactly the face-poke region analysis on the melittin-only arm (81,834 cells, 4 mice), expressing each Allen area's response rate as a fold enrichment over that arm's own cortex-wide rate so the two paradigms can be read side by side.</a:t>
            </a:r>
          </a:p>
          <a:p>
            <a:pPr algn="l">
              <a:spcAft>
                <a:spcPts val="300"/>
              </a:spcAft>
            </a:pPr>
            <a:r>
              <a:rPr sz="1250" b="0">
                <a:solidFill>
                  <a:srgbClr val="222222"/>
                </a:solidFill>
                <a:latin typeface="Calibri"/>
              </a:rPr>
              <a:t>What we found:  melittin drives posterior-medial parietal cortex (VISam 1.74×, VISpm 1.46×, VISa 1.42×) and motor cortex (MOp 1.42×, MOs 1.36×), and spares lateral temporal and auditory areas (TEa, VISpor, AUDp all ≈ 0.22–0.24×). 'Up' and 'down' are near-perfect mirrors of each other (ρ = −0.98), so they carry one map and not two; and face poke's posterior inhibition gradient is not demonstrable here.</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11480" y="201168"/>
            <a:ext cx="11384280" cy="548640"/>
          </a:xfrm>
          <a:prstGeom prst="rect">
            <a:avLst/>
          </a:prstGeom>
          <a:noFill/>
        </p:spPr>
        <p:txBody>
          <a:bodyPr wrap="square">
            <a:spAutoFit/>
          </a:bodyPr>
          <a:lstStyle/>
          <a:p>
            <a:pPr algn="l">
              <a:spcAft>
                <a:spcPts val="400"/>
              </a:spcAft>
            </a:pPr>
            <a:r>
              <a:rPr sz="2400" b="1">
                <a:solidFill>
                  <a:srgbClr val="1F3A5F"/>
                </a:solidFill>
                <a:latin typeface="Calibri"/>
              </a:rPr>
              <a:t>4.  Morphine does not silence the melittin response (within animal)</a:t>
            </a:r>
          </a:p>
        </p:txBody>
      </p:sp>
      <p:pic>
        <p:nvPicPr>
          <p:cNvPr id="3" name="Picture 2" descr="S3_morphine.png"/>
          <p:cNvPicPr>
            <a:picLocks noChangeAspect="1"/>
          </p:cNvPicPr>
          <p:nvPr/>
        </p:nvPicPr>
        <p:blipFill>
          <a:blip r:embed="rId2"/>
          <a:stretch>
            <a:fillRect/>
          </a:stretch>
        </p:blipFill>
        <p:spPr>
          <a:xfrm>
            <a:off x="995158" y="749808"/>
            <a:ext cx="10201378" cy="4315968"/>
          </a:xfrm>
          <a:prstGeom prst="rect">
            <a:avLst/>
          </a:prstGeom>
        </p:spPr>
      </p:pic>
      <p:sp>
        <p:nvSpPr>
          <p:cNvPr id="4" name="TextBox 3"/>
          <p:cNvSpPr txBox="1"/>
          <p:nvPr/>
        </p:nvSpPr>
        <p:spPr>
          <a:xfrm>
            <a:off x="502920" y="5175504"/>
            <a:ext cx="11201400" cy="1572768"/>
          </a:xfrm>
          <a:prstGeom prst="rect">
            <a:avLst/>
          </a:prstGeom>
          <a:noFill/>
        </p:spPr>
        <p:txBody>
          <a:bodyPr wrap="square">
            <a:spAutoFit/>
          </a:bodyPr>
          <a:lstStyle/>
          <a:p>
            <a:pPr algn="l">
              <a:spcAft>
                <a:spcPts val="300"/>
              </a:spcAft>
            </a:pPr>
            <a:r>
              <a:rPr sz="1250" b="0">
                <a:solidFill>
                  <a:srgbClr val="222222"/>
                </a:solidFill>
                <a:latin typeface="Calibri"/>
              </a:rPr>
              <a:t>What we did:  compared melittin alone with melittin + morphine in the two animals (CS1014-1b, CS1014-2w) that were recorded under both arms, which removes the between-animal variance that dominates the pooled comparison.</a:t>
            </a:r>
          </a:p>
          <a:p>
            <a:pPr algn="l">
              <a:spcAft>
                <a:spcPts val="300"/>
              </a:spcAft>
            </a:pPr>
            <a:r>
              <a:rPr sz="1250" b="0">
                <a:solidFill>
                  <a:srgbClr val="222222"/>
                </a:solidFill>
                <a:latin typeface="Calibri"/>
              </a:rPr>
              <a:t>What we found:  in both animals the fraction of cells driven up rose (+2.8 and +2.6 pp) and mean amplitude rose (+2.4 and +2.3 % of baseline). With n = 2 pairs no p value is meaningful, so none is quoted — the pairing sharpens the estimate, it does not supply the evidence.</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11480" y="201168"/>
            <a:ext cx="11384280" cy="548640"/>
          </a:xfrm>
          <a:prstGeom prst="rect">
            <a:avLst/>
          </a:prstGeom>
          <a:noFill/>
        </p:spPr>
        <p:txBody>
          <a:bodyPr wrap="square">
            <a:spAutoFit/>
          </a:bodyPr>
          <a:lstStyle/>
          <a:p>
            <a:pPr algn="l">
              <a:spcAft>
                <a:spcPts val="400"/>
              </a:spcAft>
            </a:pPr>
            <a:r>
              <a:rPr sz="2400" b="1">
                <a:solidFill>
                  <a:srgbClr val="1F3A5F"/>
                </a:solidFill>
                <a:latin typeface="Calibri"/>
              </a:rPr>
              <a:t>5.  Is morphine region-specific?  Not reproducibly, at n = 2</a:t>
            </a:r>
          </a:p>
        </p:txBody>
      </p:sp>
      <p:pic>
        <p:nvPicPr>
          <p:cNvPr id="3" name="Picture 2" descr="S7_morphine_regions.png"/>
          <p:cNvPicPr>
            <a:picLocks noChangeAspect="1"/>
          </p:cNvPicPr>
          <p:nvPr/>
        </p:nvPicPr>
        <p:blipFill>
          <a:blip r:embed="rId2"/>
          <a:stretch>
            <a:fillRect/>
          </a:stretch>
        </p:blipFill>
        <p:spPr>
          <a:xfrm>
            <a:off x="995158" y="749808"/>
            <a:ext cx="10201378" cy="4315968"/>
          </a:xfrm>
          <a:prstGeom prst="rect">
            <a:avLst/>
          </a:prstGeom>
        </p:spPr>
      </p:pic>
      <p:sp>
        <p:nvSpPr>
          <p:cNvPr id="4" name="TextBox 3"/>
          <p:cNvSpPr txBox="1"/>
          <p:nvPr/>
        </p:nvSpPr>
        <p:spPr>
          <a:xfrm>
            <a:off x="502920" y="5175504"/>
            <a:ext cx="11201400" cy="1572768"/>
          </a:xfrm>
          <a:prstGeom prst="rect">
            <a:avLst/>
          </a:prstGeom>
          <a:noFill/>
        </p:spPr>
        <p:txBody>
          <a:bodyPr wrap="square">
            <a:spAutoFit/>
          </a:bodyPr>
          <a:lstStyle/>
          <a:p>
            <a:pPr algn="l">
              <a:spcAft>
                <a:spcPts val="300"/>
              </a:spcAft>
            </a:pPr>
            <a:r>
              <a:rPr sz="1250" b="0">
                <a:solidFill>
                  <a:srgbClr val="222222"/>
                </a:solidFill>
                <a:latin typeface="Calibri"/>
              </a:rPr>
              <a:t>What we did:  asked the question in the two layers it needs — first, within each of the two animals recorded under both arms, does the morphine effect differ between Allen areas (Cochran's Q on the per-area log odds ratio); second, do the two animals agree on which areas.</a:t>
            </a:r>
          </a:p>
          <a:p>
            <a:pPr algn="l">
              <a:spcAft>
                <a:spcPts val="300"/>
              </a:spcAft>
            </a:pPr>
            <a:r>
              <a:rPr sz="1250" b="0">
                <a:solidFill>
                  <a:srgbClr val="222222"/>
                </a:solidFill>
                <a:latin typeface="Calibri"/>
              </a:rPr>
              <a:t>What we found:  within each animal the effect is strongly region-dependent (I² = 82 % and 92 %, p = 1e-16 and 1e-46), but the two animals rank the areas completely differently (r = +0.10, p = 0.65; 11/22 directions agree, which is chance). Only the whole-cortex shift reproduces: OR 1.15 and 1.16, both above 1. No individual area can be named from n = 2.</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11480" y="201168"/>
            <a:ext cx="11384280" cy="548640"/>
          </a:xfrm>
          <a:prstGeom prst="rect">
            <a:avLst/>
          </a:prstGeom>
          <a:noFill/>
        </p:spPr>
        <p:txBody>
          <a:bodyPr wrap="square">
            <a:spAutoFit/>
          </a:bodyPr>
          <a:lstStyle/>
          <a:p>
            <a:pPr algn="l">
              <a:spcAft>
                <a:spcPts val="400"/>
              </a:spcAft>
            </a:pPr>
            <a:r>
              <a:rPr sz="2400" b="1">
                <a:solidFill>
                  <a:srgbClr val="1F3A5F"/>
                </a:solidFill>
                <a:latin typeface="Calibri"/>
              </a:rPr>
              <a:t>6.  Face poke and melittin recruit different cortical territory</a:t>
            </a:r>
          </a:p>
        </p:txBody>
      </p:sp>
      <p:pic>
        <p:nvPicPr>
          <p:cNvPr id="3" name="Picture 2" descr="S4_dissociation.png"/>
          <p:cNvPicPr>
            <a:picLocks noChangeAspect="1"/>
          </p:cNvPicPr>
          <p:nvPr/>
        </p:nvPicPr>
        <p:blipFill>
          <a:blip r:embed="rId2"/>
          <a:stretch>
            <a:fillRect/>
          </a:stretch>
        </p:blipFill>
        <p:spPr>
          <a:xfrm>
            <a:off x="995158" y="749808"/>
            <a:ext cx="10201378" cy="4315968"/>
          </a:xfrm>
          <a:prstGeom prst="rect">
            <a:avLst/>
          </a:prstGeom>
        </p:spPr>
      </p:pic>
      <p:sp>
        <p:nvSpPr>
          <p:cNvPr id="4" name="TextBox 3"/>
          <p:cNvSpPr txBox="1"/>
          <p:nvPr/>
        </p:nvSpPr>
        <p:spPr>
          <a:xfrm>
            <a:off x="502920" y="5175504"/>
            <a:ext cx="11201400" cy="1572768"/>
          </a:xfrm>
          <a:prstGeom prst="rect">
            <a:avLst/>
          </a:prstGeom>
          <a:noFill/>
        </p:spPr>
        <p:txBody>
          <a:bodyPr wrap="square">
            <a:spAutoFit/>
          </a:bodyPr>
          <a:lstStyle/>
          <a:p>
            <a:pPr algn="l">
              <a:spcAft>
                <a:spcPts val="300"/>
              </a:spcAft>
            </a:pPr>
            <a:r>
              <a:rPr sz="1250" b="0">
                <a:solidFill>
                  <a:srgbClr val="222222"/>
                </a:solidFill>
                <a:latin typeface="Calibri"/>
              </a:rPr>
              <a:t>What we did:  put the two paradigms on the same axis by expressing each area's response rate as a fold enrichment over its own paradigm's cortex-wide rate, so the 3-fold difference in base rate cancels.</a:t>
            </a:r>
          </a:p>
          <a:p>
            <a:pPr algn="l">
              <a:spcAft>
                <a:spcPts val="300"/>
              </a:spcAft>
            </a:pPr>
            <a:r>
              <a:rPr sz="1250" b="0">
                <a:solidFill>
                  <a:srgbClr val="222222"/>
                </a:solidFill>
                <a:latin typeface="Calibri"/>
              </a:rPr>
              <a:t>What we found:  face poke is strongest in somatosensory cortex (SSs 2.01×, SSp-n 1.42×) while melittin is strongest in posterior-medial parietal / visual areas (VISam 1.74×, VISpm 1.46×, VISa 1.42×); the two area maps are uncorrelated (Spearman ρ = −0.22, p = 0.36, 19 shared areas), and only MOp / MOs are enriched in both.</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11480" y="201168"/>
            <a:ext cx="11384280" cy="548640"/>
          </a:xfrm>
          <a:prstGeom prst="rect">
            <a:avLst/>
          </a:prstGeom>
          <a:noFill/>
        </p:spPr>
        <p:txBody>
          <a:bodyPr wrap="square">
            <a:spAutoFit/>
          </a:bodyPr>
          <a:lstStyle/>
          <a:p>
            <a:pPr algn="l">
              <a:spcAft>
                <a:spcPts val="400"/>
              </a:spcAft>
            </a:pPr>
            <a:r>
              <a:rPr sz="2400" b="1">
                <a:solidFill>
                  <a:srgbClr val="1F3A5F"/>
                </a:solidFill>
                <a:latin typeface="Calibri"/>
              </a:rPr>
              <a:t>7.  Face video is indexed and synced; grimace scoring needs a rig change</a:t>
            </a:r>
          </a:p>
        </p:txBody>
      </p:sp>
      <p:pic>
        <p:nvPicPr>
          <p:cNvPr id="3" name="Picture 2" descr="S5_behavior.png"/>
          <p:cNvPicPr>
            <a:picLocks noChangeAspect="1"/>
          </p:cNvPicPr>
          <p:nvPr/>
        </p:nvPicPr>
        <p:blipFill>
          <a:blip r:embed="rId2"/>
          <a:stretch>
            <a:fillRect/>
          </a:stretch>
        </p:blipFill>
        <p:spPr>
          <a:xfrm>
            <a:off x="995158" y="749808"/>
            <a:ext cx="10201378" cy="4315968"/>
          </a:xfrm>
          <a:prstGeom prst="rect">
            <a:avLst/>
          </a:prstGeom>
        </p:spPr>
      </p:pic>
      <p:sp>
        <p:nvSpPr>
          <p:cNvPr id="4" name="TextBox 3"/>
          <p:cNvSpPr txBox="1"/>
          <p:nvPr/>
        </p:nvSpPr>
        <p:spPr>
          <a:xfrm>
            <a:off x="502920" y="5175504"/>
            <a:ext cx="11201400" cy="1572768"/>
          </a:xfrm>
          <a:prstGeom prst="rect">
            <a:avLst/>
          </a:prstGeom>
          <a:noFill/>
        </p:spPr>
        <p:txBody>
          <a:bodyPr wrap="square">
            <a:spAutoFit/>
          </a:bodyPr>
          <a:lstStyle/>
          <a:p>
            <a:pPr algn="l">
              <a:spcAft>
                <a:spcPts val="300"/>
              </a:spcAft>
            </a:pPr>
            <a:r>
              <a:rPr sz="1250" b="0">
                <a:solidFill>
                  <a:srgbClr val="222222"/>
                </a:solidFill>
                <a:latin typeface="Calibri"/>
              </a:rPr>
              <a:t>What we did:  indexed all 19 facial-video sessions against the calcium recordings, then ran the published GrimACE model chain (frame quality → face cropper → ViT grimace scorer, authors' own weights and code) first on GrimACE's own example video as a control, then on ours.</a:t>
            </a:r>
          </a:p>
          <a:p>
            <a:pPr algn="l">
              <a:spcAft>
                <a:spcPts val="300"/>
              </a:spcAft>
            </a:pPr>
            <a:r>
              <a:rPr sz="1250" b="0">
                <a:solidFill>
                  <a:srgbClr val="222222"/>
                </a:solidFill>
                <a:latin typeface="Calibri"/>
              </a:rPr>
              <a:t>What we found:  it works on their footage (6/12 frames accepted) and finds no face at all in ours (0/12). Our frames are bimodal — dark IR background, bright mouse, SD 1.5× theirs — against a scorer that hard-codes an input mean of 0.5175 and SD of 0.14, so this is a rig mismatch, not a software problem.</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11480" y="201168"/>
            <a:ext cx="11384280" cy="548640"/>
          </a:xfrm>
          <a:prstGeom prst="rect">
            <a:avLst/>
          </a:prstGeom>
          <a:noFill/>
        </p:spPr>
        <p:txBody>
          <a:bodyPr wrap="square">
            <a:spAutoFit/>
          </a:bodyPr>
          <a:lstStyle/>
          <a:p>
            <a:pPr algn="l">
              <a:spcAft>
                <a:spcPts val="400"/>
              </a:spcAft>
            </a:pPr>
            <a:r>
              <a:rPr sz="2200" b="1">
                <a:solidFill>
                  <a:srgbClr val="1F3A5F"/>
                </a:solidFill>
                <a:latin typeface="Calibri"/>
              </a:rPr>
              <a:t>S1.  Methods — registration to the Allen CCF</a:t>
            </a:r>
          </a:p>
        </p:txBody>
      </p:sp>
      <p:sp>
        <p:nvSpPr>
          <p:cNvPr id="3" name="TextBox 2"/>
          <p:cNvSpPr txBox="1"/>
          <p:nvPr/>
        </p:nvSpPr>
        <p:spPr>
          <a:xfrm>
            <a:off x="475488" y="914400"/>
            <a:ext cx="5577840" cy="5577840"/>
          </a:xfrm>
          <a:prstGeom prst="rect">
            <a:avLst/>
          </a:prstGeom>
          <a:noFill/>
        </p:spPr>
        <p:txBody>
          <a:bodyPr wrap="square">
            <a:spAutoFit/>
          </a:bodyPr>
          <a:lstStyle/>
          <a:p>
            <a:pPr algn="l">
              <a:spcAft>
                <a:spcPts val="300"/>
              </a:spcAft>
            </a:pPr>
            <a:r>
              <a:rPr sz="1150" b="0">
                <a:solidFill>
                  <a:srgbClr val="222222"/>
                </a:solidFill>
                <a:latin typeface="Calibri"/>
              </a:rPr>
              <a:t>ATLAS</a:t>
            </a:r>
          </a:p>
          <a:p>
            <a:pPr algn="l">
              <a:spcAft>
                <a:spcPts val="300"/>
              </a:spcAft>
            </a:pPr>
            <a:r>
              <a:rPr sz="1150" b="0">
                <a:solidFill>
                  <a:srgbClr val="222222"/>
                </a:solidFill>
                <a:latin typeface="Calibri"/>
              </a:rPr>
              <a:t>BrainGlobe allen_mouse_25um_v1.2 annotation volume, 'asr' orientation, 528 × 320 × 456 voxels at 25 µm.</a:t>
            </a:r>
          </a:p>
          <a:p>
            <a:pPr algn="l">
              <a:spcAft>
                <a:spcPts val="300"/>
              </a:spcAft>
            </a:pPr>
            <a:r>
              <a:rPr sz="1150" b="0">
                <a:solidFill>
                  <a:srgbClr val="222222"/>
                </a:solidFill>
                <a:latin typeface="Calibri"/>
              </a:rPr>
              <a:t>A top-down ray through each dorsal column takes the first labelled voxel as the surface area. Cortical layers are collapsed to their parent area, so SSp-bfd2/3 and SSp-bfd5 both become SSp-bfd.</a:t>
            </a:r>
          </a:p>
          <a:p>
            <a:pPr algn="l">
              <a:spcAft>
                <a:spcPts val="300"/>
              </a:spcAft>
            </a:pPr>
            <a:r>
              <a:rPr sz="1150" b="0">
                <a:solidFill>
                  <a:srgbClr val="222222"/>
                </a:solidFill>
                <a:latin typeface="Calibri"/>
              </a:rPr>
              <a:t>Bregma sits at atlas row 216, column 228.</a:t>
            </a:r>
          </a:p>
          <a:p>
            <a:pPr algn="l">
              <a:spcAft>
                <a:spcPts val="300"/>
              </a:spcAft>
            </a:pPr>
            <a:r>
              <a:rPr sz="1150" b="0">
                <a:solidFill>
                  <a:srgbClr val="222222"/>
                </a:solidFill>
                <a:latin typeface="Calibri"/>
              </a:rPr>
              <a:t/>
            </a:r>
          </a:p>
          <a:p>
            <a:pPr algn="l">
              <a:spcAft>
                <a:spcPts val="300"/>
              </a:spcAft>
            </a:pPr>
            <a:r>
              <a:rPr sz="1150" b="0">
                <a:solidFill>
                  <a:srgbClr val="222222"/>
                </a:solidFill>
                <a:latin typeface="Calibri"/>
              </a:rPr>
              <a:t>TRANSFORM</a:t>
            </a:r>
          </a:p>
          <a:p>
            <a:pPr algn="l">
              <a:spcAft>
                <a:spcPts val="300"/>
              </a:spcAft>
            </a:pPr>
            <a:r>
              <a:rPr sz="1150" b="0">
                <a:solidFill>
                  <a:srgbClr val="222222"/>
                </a:solidFill>
                <a:latin typeface="Calibri"/>
              </a:rPr>
              <a:t>Similarity: rotation, one isotropic scale, translation. Four degrees of freedom.</a:t>
            </a:r>
          </a:p>
          <a:p>
            <a:pPr algn="l">
              <a:spcAft>
                <a:spcPts val="300"/>
              </a:spcAft>
            </a:pPr>
            <a:r>
              <a:rPr sz="1150" b="0">
                <a:solidFill>
                  <a:srgbClr val="222222"/>
                </a:solidFill>
                <a:latin typeface="Calibri"/>
              </a:rPr>
              <a:t>• rotation = auto-detected sagittal midline + the fixed 90° between the FOV frame (A–P horizontal) and the atlas frame (A–P vertical). Detected angles ran −4.0° to +7.5° over the 30 FOVs.</a:t>
            </a:r>
          </a:p>
          <a:p>
            <a:pPr algn="l">
              <a:spcAft>
                <a:spcPts val="300"/>
              </a:spcAft>
            </a:pPr>
            <a:r>
              <a:rPr sz="1150" b="0">
                <a:solidFill>
                  <a:srgbClr val="222222"/>
                </a:solidFill>
                <a:latin typeface="Calibri"/>
              </a:rPr>
              <a:t>• scale + translation = maximise Dice between the binarised FOV tissue mask and the atlas cortex mask.</a:t>
            </a:r>
          </a:p>
          <a:p>
            <a:pPr algn="l">
              <a:spcAft>
                <a:spcPts val="300"/>
              </a:spcAft>
            </a:pPr>
            <a:r>
              <a:rPr sz="1150" b="0">
                <a:solidFill>
                  <a:srgbClr val="222222"/>
                </a:solidFill>
                <a:latin typeface="Calibri"/>
              </a:rPr>
              <a:t>• A–P sense = run both, keep the better Dice.</a:t>
            </a:r>
          </a:p>
          <a:p>
            <a:pPr algn="l">
              <a:spcAft>
                <a:spcPts val="300"/>
              </a:spcAft>
            </a:pPr>
            <a:r>
              <a:rPr sz="1150" b="0">
                <a:solidFill>
                  <a:srgbClr val="222222"/>
                </a:solidFill>
                <a:latin typeface="Calibri"/>
              </a:rPr>
              <a:t/>
            </a:r>
          </a:p>
          <a:p>
            <a:pPr algn="l">
              <a:spcAft>
                <a:spcPts val="300"/>
              </a:spcAft>
            </a:pPr>
            <a:r>
              <a:rPr sz="1150" b="0">
                <a:solidFill>
                  <a:srgbClr val="222222"/>
                </a:solidFill>
                <a:latin typeface="Calibri"/>
              </a:rPr>
              <a:t>No cell coordinates enter the fit. The transform is estimated from the FOV silhouette alone, then applied to the EXTRACT footprint centroids.</a:t>
            </a:r>
          </a:p>
        </p:txBody>
      </p:sp>
      <p:sp>
        <p:nvSpPr>
          <p:cNvPr id="4" name="TextBox 3"/>
          <p:cNvSpPr txBox="1"/>
          <p:nvPr/>
        </p:nvSpPr>
        <p:spPr>
          <a:xfrm>
            <a:off x="6281927" y="914400"/>
            <a:ext cx="5577840" cy="5577840"/>
          </a:xfrm>
          <a:prstGeom prst="rect">
            <a:avLst/>
          </a:prstGeom>
          <a:noFill/>
        </p:spPr>
        <p:txBody>
          <a:bodyPr wrap="square">
            <a:spAutoFit/>
          </a:bodyPr>
          <a:lstStyle/>
          <a:p>
            <a:pPr algn="l">
              <a:spcAft>
                <a:spcPts val="300"/>
              </a:spcAft>
            </a:pPr>
            <a:r>
              <a:rPr sz="1150" b="0">
                <a:solidFill>
                  <a:srgbClr val="222222"/>
                </a:solidFill>
                <a:latin typeface="Calibri"/>
              </a:rPr>
              <a:t>WHY NOT LANDMARK CLICKING</a:t>
            </a:r>
          </a:p>
          <a:p>
            <a:pPr algn="l">
              <a:spcAft>
                <a:spcPts val="300"/>
              </a:spcAft>
            </a:pPr>
            <a:r>
              <a:rPr sz="1150" b="0">
                <a:solidFill>
                  <a:srgbClr val="222222"/>
                </a:solidFill>
                <a:latin typeface="Calibri"/>
              </a:rPr>
              <a:t>The skull is removed in this preparation, so bregma and lambda cannot be seen. An initial clicked-landmark pass gave a 1.69× spread in fitted scale and an implied FOV width of 24.6 mm. The mask method gives 1.05× and needs no input.</a:t>
            </a:r>
          </a:p>
          <a:p>
            <a:pPr algn="l">
              <a:spcAft>
                <a:spcPts val="300"/>
              </a:spcAft>
            </a:pPr>
            <a:r>
              <a:rPr sz="1150" b="0">
                <a:solidFill>
                  <a:srgbClr val="222222"/>
                </a:solidFill>
                <a:latin typeface="Calibri"/>
              </a:rPr>
              <a:t/>
            </a:r>
          </a:p>
          <a:p>
            <a:pPr algn="l">
              <a:spcAft>
                <a:spcPts val="300"/>
              </a:spcAft>
            </a:pPr>
            <a:r>
              <a:rPr sz="1150" b="0">
                <a:solidFill>
                  <a:srgbClr val="222222"/>
                </a:solidFill>
                <a:latin typeface="Calibri"/>
              </a:rPr>
              <a:t>QUALITY, ALL 30 RECORDINGS</a:t>
            </a:r>
          </a:p>
          <a:p>
            <a:pPr algn="l">
              <a:spcAft>
                <a:spcPts val="300"/>
              </a:spcAft>
            </a:pPr>
            <a:r>
              <a:rPr sz="1150" b="0">
                <a:solidFill>
                  <a:srgbClr val="222222"/>
                </a:solidFill>
                <a:latin typeface="Calibri"/>
              </a:rPr>
              <a:t>Dice   median 0.931,  range 0.912 – 0.942</a:t>
            </a:r>
          </a:p>
          <a:p>
            <a:pPr algn="l">
              <a:spcAft>
                <a:spcPts val="300"/>
              </a:spcAft>
            </a:pPr>
            <a:r>
              <a:rPr sz="1150" b="0">
                <a:solidFill>
                  <a:srgbClr val="222222"/>
                </a:solidFill>
                <a:latin typeface="Calibri"/>
              </a:rPr>
              <a:t>Scale  median 5.48 µm/px,  range 5.38 – 5.65,  spread 1.05×</a:t>
            </a:r>
          </a:p>
          <a:p>
            <a:pPr algn="l">
              <a:spcAft>
                <a:spcPts val="300"/>
              </a:spcAft>
            </a:pPr>
            <a:r>
              <a:rPr sz="1150" b="0">
                <a:solidFill>
                  <a:srgbClr val="222222"/>
                </a:solidFill>
                <a:latin typeface="Calibri"/>
              </a:rPr>
              <a:t>Midline angle  −4.0° to +7.5°</a:t>
            </a:r>
          </a:p>
          <a:p>
            <a:pPr algn="l">
              <a:spcAft>
                <a:spcPts val="300"/>
              </a:spcAft>
            </a:pPr>
            <a:r>
              <a:rPr sz="1150" b="0">
                <a:solidFill>
                  <a:srgbClr val="222222"/>
                </a:solidFill>
                <a:latin typeface="Calibri"/>
              </a:rPr>
              <a:t/>
            </a:r>
          </a:p>
          <a:p>
            <a:pPr algn="l">
              <a:spcAft>
                <a:spcPts val="300"/>
              </a:spcAft>
            </a:pPr>
            <a:r>
              <a:rPr sz="1150" b="0">
                <a:solidFill>
                  <a:srgbClr val="222222"/>
                </a:solidFill>
                <a:latin typeface="Calibri"/>
              </a:rPr>
              <a:t>VALIDATION</a:t>
            </a:r>
          </a:p>
          <a:p>
            <a:pPr algn="l">
              <a:spcAft>
                <a:spcPts val="300"/>
              </a:spcAft>
            </a:pPr>
            <a:r>
              <a:rPr sz="1150" b="0">
                <a:solidFill>
                  <a:srgbClr val="222222"/>
                </a:solidFill>
                <a:latin typeface="Calibri"/>
              </a:rPr>
              <a:t>• cerebellum mislabels among posterior cells: 25 % → 0 %</a:t>
            </a:r>
          </a:p>
          <a:p>
            <a:pPr algn="l">
              <a:spcAft>
                <a:spcPts val="300"/>
              </a:spcAft>
            </a:pPr>
            <a:r>
              <a:rPr sz="1150" b="0">
                <a:solidFill>
                  <a:srgbClr val="222222"/>
                </a:solidFill>
                <a:latin typeface="Calibri"/>
              </a:rPr>
              <a:t>• 3.8 mm posterior / 2.5 lateral → VISp</a:t>
            </a:r>
          </a:p>
          <a:p>
            <a:pPr algn="l">
              <a:spcAft>
                <a:spcPts val="300"/>
              </a:spcAft>
            </a:pPr>
            <a:r>
              <a:rPr sz="1150" b="0">
                <a:solidFill>
                  <a:srgbClr val="222222"/>
                </a:solidFill>
                <a:latin typeface="Calibri"/>
              </a:rPr>
              <a:t>• 1.5 mm posterior / 3.2 lateral → SSp-bfd</a:t>
            </a:r>
          </a:p>
          <a:p>
            <a:pPr algn="l">
              <a:spcAft>
                <a:spcPts val="300"/>
              </a:spcAft>
            </a:pPr>
            <a:r>
              <a:rPr sz="1150" b="0">
                <a:solidFill>
                  <a:srgbClr val="222222"/>
                </a:solidFill>
                <a:latin typeface="Calibri"/>
              </a:rPr>
              <a:t>• 1.0 mm anterior / 1.5 lateral → MOp</a:t>
            </a:r>
          </a:p>
          <a:p>
            <a:pPr algn="l">
              <a:spcAft>
                <a:spcPts val="300"/>
              </a:spcAft>
            </a:pPr>
            <a:r>
              <a:rPr sz="1150" b="0">
                <a:solidFill>
                  <a:srgbClr val="222222"/>
                </a:solidFill>
                <a:latin typeface="Calibri"/>
              </a:rPr>
              <a:t/>
            </a:r>
          </a:p>
          <a:p>
            <a:pPr algn="l">
              <a:spcAft>
                <a:spcPts val="300"/>
              </a:spcAft>
            </a:pPr>
            <a:r>
              <a:rPr sz="1150" b="0">
                <a:solidFill>
                  <a:srgbClr val="222222"/>
                </a:solidFill>
                <a:latin typeface="Calibri"/>
              </a:rPr>
              <a:t>A known failure that was fixed: the first midline detector succeeded on only 12/30 and reported confidence 1.00 everywhere, because the score was clipped at 1 and the connected-component step split one hemisphere. The projection-based detector with an unclipped score succeeds on 30/30.</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11480" y="201168"/>
            <a:ext cx="11384280" cy="548640"/>
          </a:xfrm>
          <a:prstGeom prst="rect">
            <a:avLst/>
          </a:prstGeom>
          <a:noFill/>
        </p:spPr>
        <p:txBody>
          <a:bodyPr wrap="square">
            <a:spAutoFit/>
          </a:bodyPr>
          <a:lstStyle/>
          <a:p>
            <a:pPr algn="l">
              <a:spcAft>
                <a:spcPts val="400"/>
              </a:spcAft>
            </a:pPr>
            <a:r>
              <a:rPr sz="2200" b="1">
                <a:solidFill>
                  <a:srgbClr val="1F3A5F"/>
                </a:solidFill>
                <a:latin typeface="Calibri"/>
              </a:rPr>
              <a:t>S2.  Methods — how a cell is called excited or inhibited</a:t>
            </a:r>
          </a:p>
        </p:txBody>
      </p:sp>
      <p:sp>
        <p:nvSpPr>
          <p:cNvPr id="3" name="TextBox 2"/>
          <p:cNvSpPr txBox="1"/>
          <p:nvPr/>
        </p:nvSpPr>
        <p:spPr>
          <a:xfrm>
            <a:off x="475488" y="914400"/>
            <a:ext cx="5577840" cy="5577840"/>
          </a:xfrm>
          <a:prstGeom prst="rect">
            <a:avLst/>
          </a:prstGeom>
          <a:noFill/>
        </p:spPr>
        <p:txBody>
          <a:bodyPr wrap="square">
            <a:spAutoFit/>
          </a:bodyPr>
          <a:lstStyle/>
          <a:p>
            <a:pPr algn="l">
              <a:spcAft>
                <a:spcPts val="300"/>
              </a:spcAft>
            </a:pPr>
            <a:r>
              <a:rPr sz="1150" b="0">
                <a:solidFill>
                  <a:srgbClr val="222222"/>
                </a:solidFill>
                <a:latin typeface="Calibri"/>
              </a:rPr>
              <a:t>The two paradigms use DIFFERENT tests, so their responsive-cell percentages are NOT comparable to each other. Read this slide before quoting either number.</a:t>
            </a:r>
          </a:p>
          <a:p>
            <a:pPr algn="l">
              <a:spcAft>
                <a:spcPts val="300"/>
              </a:spcAft>
            </a:pPr>
            <a:r>
              <a:rPr sz="1150" b="0">
                <a:solidFill>
                  <a:srgbClr val="222222"/>
                </a:solidFill>
                <a:latin typeface="Calibri"/>
              </a:rPr>
              <a:t/>
            </a:r>
          </a:p>
          <a:p>
            <a:pPr algn="l">
              <a:spcAft>
                <a:spcPts val="300"/>
              </a:spcAft>
            </a:pPr>
            <a:r>
              <a:rPr sz="1150" b="0">
                <a:solidFill>
                  <a:srgbClr val="222222"/>
                </a:solidFill>
                <a:latin typeface="Calibri"/>
              </a:rPr>
              <a:t>FACE POKE  —  within-cell, trial-paired</a:t>
            </a:r>
          </a:p>
          <a:p>
            <a:pPr algn="l">
              <a:spcAft>
                <a:spcPts val="300"/>
              </a:spcAft>
            </a:pPr>
            <a:r>
              <a:rPr sz="1150" b="0">
                <a:solidFill>
                  <a:srgbClr val="222222"/>
                </a:solidFill>
                <a:latin typeface="Calibri"/>
              </a:rPr>
              <a:t>For each cell and each poke:</a:t>
            </a:r>
          </a:p>
          <a:p>
            <a:pPr algn="l">
              <a:spcAft>
                <a:spcPts val="300"/>
              </a:spcAft>
            </a:pPr>
            <a:r>
              <a:rPr sz="1150" b="0">
                <a:solidFill>
                  <a:srgbClr val="222222"/>
                </a:solidFill>
                <a:latin typeface="Calibri"/>
              </a:rPr>
              <a:t>   amplitude = mean dF/F over 0 to +2 s   −   mean dF/F over −2 to 0 s</a:t>
            </a:r>
          </a:p>
          <a:p>
            <a:pPr algn="l">
              <a:spcAft>
                <a:spcPts val="300"/>
              </a:spcAft>
            </a:pPr>
            <a:r>
              <a:rPr sz="1150" b="0">
                <a:solidFill>
                  <a:srgbClr val="222222"/>
                </a:solidFill>
                <a:latin typeface="Calibri"/>
              </a:rPr>
              <a:t>The per-cell amplitude is the mean of that difference over trials. Two-sided t across trials, uncorrected p &lt; 0.05. Sign of the amplitude gives excited vs inhibited.</a:t>
            </a:r>
          </a:p>
          <a:p>
            <a:pPr algn="l">
              <a:spcAft>
                <a:spcPts val="300"/>
              </a:spcAft>
            </a:pPr>
            <a:r>
              <a:rPr sz="1150" b="0">
                <a:solidFill>
                  <a:srgbClr val="222222"/>
                </a:solidFill>
                <a:latin typeface="Calibri"/>
              </a:rPr>
              <a:t>Peri-stimulus window −2 to +3 s; only pokes whose full window lies inside the recording are used.</a:t>
            </a:r>
          </a:p>
          <a:p>
            <a:pPr algn="l">
              <a:spcAft>
                <a:spcPts val="300"/>
              </a:spcAft>
            </a:pPr>
            <a:r>
              <a:rPr sz="1150" b="0">
                <a:solidFill>
                  <a:srgbClr val="222222"/>
                </a:solidFill>
                <a:latin typeface="Calibri"/>
              </a:rPr>
              <a:t/>
            </a:r>
          </a:p>
          <a:p>
            <a:pPr algn="l">
              <a:spcAft>
                <a:spcPts val="300"/>
              </a:spcAft>
            </a:pPr>
            <a:r>
              <a:rPr sz="1150" b="0">
                <a:solidFill>
                  <a:srgbClr val="222222"/>
                </a:solidFill>
                <a:latin typeface="Calibri"/>
              </a:rPr>
              <a:t>Result: 8.6 % excited, 27.6 % inhibited, of 43,156 cells.</a:t>
            </a:r>
          </a:p>
          <a:p>
            <a:pPr algn="l">
              <a:spcAft>
                <a:spcPts val="300"/>
              </a:spcAft>
            </a:pPr>
            <a:r>
              <a:rPr sz="1150" b="0">
                <a:solidFill>
                  <a:srgbClr val="222222"/>
                </a:solidFill>
                <a:latin typeface="Calibri"/>
              </a:rPr>
              <a:t/>
            </a:r>
          </a:p>
          <a:p>
            <a:pPr algn="l">
              <a:spcAft>
                <a:spcPts val="300"/>
              </a:spcAft>
            </a:pPr>
            <a:r>
              <a:rPr sz="1150" b="0">
                <a:solidFill>
                  <a:srgbClr val="222222"/>
                </a:solidFill>
                <a:latin typeface="Calibri"/>
              </a:rPr>
              <a:t>MELITTIN  —  across-session, cells NOT tracked</a:t>
            </a:r>
          </a:p>
          <a:p>
            <a:pPr algn="l">
              <a:spcAft>
                <a:spcPts val="300"/>
              </a:spcAft>
            </a:pPr>
            <a:r>
              <a:rPr sz="1150" b="0">
                <a:solidFill>
                  <a:srgbClr val="222222"/>
                </a:solidFill>
                <a:latin typeface="Calibri"/>
              </a:rPr>
              <a:t>Baseline and injection are separate EXTRACT runs, so there is no cell correspondence across the injection.</a:t>
            </a:r>
          </a:p>
          <a:p>
            <a:pPr algn="l">
              <a:spcAft>
                <a:spcPts val="300"/>
              </a:spcAft>
            </a:pPr>
            <a:r>
              <a:rPr sz="1150" b="0">
                <a:solidFill>
                  <a:srgbClr val="222222"/>
                </a:solidFill>
                <a:latin typeface="Calibri"/>
              </a:rPr>
              <a:t>   amplitude = that injection cell's mean dF/F  −  the grand mean over all baseline cells</a:t>
            </a:r>
          </a:p>
          <a:p>
            <a:pPr algn="l">
              <a:spcAft>
                <a:spcPts val="300"/>
              </a:spcAft>
            </a:pPr>
            <a:r>
              <a:rPr sz="1150" b="0">
                <a:solidFill>
                  <a:srgbClr val="222222"/>
                </a:solidFill>
                <a:latin typeface="Calibri"/>
              </a:rPr>
              <a:t>tested with a t across time bins, uncorrected p &lt; 0.05.</a:t>
            </a:r>
          </a:p>
          <a:p>
            <a:pPr algn="l">
              <a:spcAft>
                <a:spcPts val="300"/>
              </a:spcAft>
            </a:pPr>
            <a:r>
              <a:rPr sz="1150" b="0">
                <a:solidFill>
                  <a:srgbClr val="222222"/>
                </a:solidFill>
                <a:latin typeface="Calibri"/>
              </a:rPr>
              <a:t/>
            </a:r>
          </a:p>
          <a:p>
            <a:pPr algn="l">
              <a:spcAft>
                <a:spcPts val="300"/>
              </a:spcAft>
            </a:pPr>
            <a:r>
              <a:rPr sz="1150" b="0">
                <a:solidFill>
                  <a:srgbClr val="222222"/>
                </a:solidFill>
                <a:latin typeface="Calibri"/>
              </a:rPr>
              <a:t>Result: 28.3 % up, 63.0 % down (melittin only).</a:t>
            </a:r>
          </a:p>
        </p:txBody>
      </p:sp>
      <p:sp>
        <p:nvSpPr>
          <p:cNvPr id="4" name="TextBox 3"/>
          <p:cNvSpPr txBox="1"/>
          <p:nvPr/>
        </p:nvSpPr>
        <p:spPr>
          <a:xfrm>
            <a:off x="6281927" y="914400"/>
            <a:ext cx="5577840" cy="5577840"/>
          </a:xfrm>
          <a:prstGeom prst="rect">
            <a:avLst/>
          </a:prstGeom>
          <a:noFill/>
        </p:spPr>
        <p:txBody>
          <a:bodyPr wrap="square">
            <a:spAutoFit/>
          </a:bodyPr>
          <a:lstStyle/>
          <a:p>
            <a:pPr algn="l">
              <a:spcAft>
                <a:spcPts val="300"/>
              </a:spcAft>
            </a:pPr>
            <a:r>
              <a:rPr sz="1150" b="0">
                <a:solidFill>
                  <a:srgbClr val="222222"/>
                </a:solidFill>
                <a:latin typeface="Calibri"/>
              </a:rPr>
              <a:t>WHY THE MELITTIN PERCENTAGES ARE SO MUCH HIGHER</a:t>
            </a:r>
          </a:p>
          <a:p>
            <a:pPr algn="l">
              <a:spcAft>
                <a:spcPts val="300"/>
              </a:spcAft>
            </a:pPr>
            <a:r>
              <a:rPr sz="1150" b="0">
                <a:solidFill>
                  <a:srgbClr val="222222"/>
                </a:solidFill>
                <a:latin typeface="Calibri"/>
              </a:rPr>
              <a:t>The melittin test uses time bins as its sample, so the degrees of freedom are in the thousands and almost any consistent offset reaches p &lt; 0.05. The face-poke test uses trials, which is both the correct unit and a far smaller n.</a:t>
            </a:r>
          </a:p>
          <a:p>
            <a:pPr algn="l">
              <a:spcAft>
                <a:spcPts val="300"/>
              </a:spcAft>
            </a:pPr>
            <a:r>
              <a:rPr sz="1150" b="0">
                <a:solidFill>
                  <a:srgbClr val="222222"/>
                </a:solidFill>
                <a:latin typeface="Calibri"/>
              </a:rPr>
              <a:t/>
            </a:r>
          </a:p>
          <a:p>
            <a:pPr algn="l">
              <a:spcAft>
                <a:spcPts val="300"/>
              </a:spcAft>
            </a:pPr>
            <a:r>
              <a:rPr sz="1150" b="0">
                <a:solidFill>
                  <a:srgbClr val="222222"/>
                </a:solidFill>
                <a:latin typeface="Calibri"/>
              </a:rPr>
              <a:t>So:  28 % up / 63 % down and 8.6 % / 27.6 % are NOT the same measurement and must not be compared to each other as biology.</a:t>
            </a:r>
          </a:p>
          <a:p>
            <a:pPr algn="l">
              <a:spcAft>
                <a:spcPts val="300"/>
              </a:spcAft>
            </a:pPr>
            <a:r>
              <a:rPr sz="1150" b="0">
                <a:solidFill>
                  <a:srgbClr val="222222"/>
                </a:solidFill>
                <a:latin typeface="Calibri"/>
              </a:rPr>
              <a:t/>
            </a:r>
          </a:p>
          <a:p>
            <a:pPr algn="l">
              <a:spcAft>
                <a:spcPts val="300"/>
              </a:spcAft>
            </a:pPr>
            <a:r>
              <a:rPr sz="1150" b="0">
                <a:solidFill>
                  <a:srgbClr val="222222"/>
                </a:solidFill>
                <a:latin typeface="Calibri"/>
              </a:rPr>
              <a:t>WHAT REMAINS VALID</a:t>
            </a:r>
          </a:p>
          <a:p>
            <a:pPr algn="l">
              <a:spcAft>
                <a:spcPts val="300"/>
              </a:spcAft>
            </a:pPr>
            <a:r>
              <a:rPr sz="1150" b="0">
                <a:solidFill>
                  <a:srgbClr val="222222"/>
                </a:solidFill>
                <a:latin typeface="Calibri"/>
              </a:rPr>
              <a:t>Every comparison in this deck is made between conditions or between areas that were run through the SAME test, so the test's bias cancels:</a:t>
            </a:r>
          </a:p>
          <a:p>
            <a:pPr algn="l">
              <a:spcAft>
                <a:spcPts val="300"/>
              </a:spcAft>
            </a:pPr>
            <a:r>
              <a:rPr sz="1150" b="0">
                <a:solidFill>
                  <a:srgbClr val="222222"/>
                </a:solidFill>
                <a:latin typeface="Calibri"/>
              </a:rPr>
              <a:t>• slide 2, areas within face poke</a:t>
            </a:r>
          </a:p>
          <a:p>
            <a:pPr algn="l">
              <a:spcAft>
                <a:spcPts val="300"/>
              </a:spcAft>
            </a:pPr>
            <a:r>
              <a:rPr sz="1150" b="0">
                <a:solidFill>
                  <a:srgbClr val="222222"/>
                </a:solidFill>
                <a:latin typeface="Calibri"/>
              </a:rPr>
              <a:t>• slide 3, melittin vs melittin+morphine, same test both sides</a:t>
            </a:r>
          </a:p>
          <a:p>
            <a:pPr algn="l">
              <a:spcAft>
                <a:spcPts val="300"/>
              </a:spcAft>
            </a:pPr>
            <a:r>
              <a:rPr sz="1150" b="0">
                <a:solidFill>
                  <a:srgbClr val="222222"/>
                </a:solidFill>
                <a:latin typeface="Calibri"/>
              </a:rPr>
              <a:t>• slide 4, each paradigm normalised by its own cortex-wide rate</a:t>
            </a:r>
          </a:p>
          <a:p>
            <a:pPr algn="l">
              <a:spcAft>
                <a:spcPts val="300"/>
              </a:spcAft>
            </a:pPr>
            <a:r>
              <a:rPr sz="1150" b="0">
                <a:solidFill>
                  <a:srgbClr val="222222"/>
                </a:solidFill>
                <a:latin typeface="Calibri"/>
              </a:rPr>
              <a:t/>
            </a:r>
          </a:p>
          <a:p>
            <a:pPr algn="l">
              <a:spcAft>
                <a:spcPts val="300"/>
              </a:spcAft>
            </a:pPr>
            <a:r>
              <a:rPr sz="1150" b="0">
                <a:solidFill>
                  <a:srgbClr val="222222"/>
                </a:solidFill>
                <a:latin typeface="Calibri"/>
              </a:rPr>
              <a:t>WHAT WOULD FIX IT</a:t>
            </a:r>
          </a:p>
          <a:p>
            <a:pPr algn="l">
              <a:spcAft>
                <a:spcPts val="300"/>
              </a:spcAft>
            </a:pPr>
            <a:r>
              <a:rPr sz="1150" b="0">
                <a:solidFill>
                  <a:srgbClr val="222222"/>
                </a:solidFill>
                <a:latin typeface="Calibri"/>
              </a:rPr>
              <a:t>Register the baseline and injection EXTRACT runs to each other so cells can be tracked across the injection, then run the melittin arm as a within-cell paired test like the face-poke arm. That is the single biggest methodological upgrade available on this dataset.</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11480" y="201168"/>
            <a:ext cx="11384280" cy="548640"/>
          </a:xfrm>
          <a:prstGeom prst="rect">
            <a:avLst/>
          </a:prstGeom>
          <a:noFill/>
        </p:spPr>
        <p:txBody>
          <a:bodyPr wrap="square">
            <a:spAutoFit/>
          </a:bodyPr>
          <a:lstStyle/>
          <a:p>
            <a:pPr algn="l">
              <a:spcAft>
                <a:spcPts val="400"/>
              </a:spcAft>
            </a:pPr>
            <a:r>
              <a:rPr sz="2200" b="1">
                <a:solidFill>
                  <a:srgbClr val="1F3A5F"/>
                </a:solidFill>
                <a:latin typeface="Calibri"/>
              </a:rPr>
              <a:t>S3.  Every statistic in the deck, in one place</a:t>
            </a:r>
          </a:p>
        </p:txBody>
      </p:sp>
      <p:sp>
        <p:nvSpPr>
          <p:cNvPr id="3" name="TextBox 2"/>
          <p:cNvSpPr txBox="1"/>
          <p:nvPr/>
        </p:nvSpPr>
        <p:spPr>
          <a:xfrm>
            <a:off x="475488" y="914400"/>
            <a:ext cx="5577840" cy="5577840"/>
          </a:xfrm>
          <a:prstGeom prst="rect">
            <a:avLst/>
          </a:prstGeom>
          <a:noFill/>
        </p:spPr>
        <p:txBody>
          <a:bodyPr wrap="square">
            <a:spAutoFit/>
          </a:bodyPr>
          <a:lstStyle/>
          <a:p>
            <a:pPr algn="l">
              <a:spcAft>
                <a:spcPts val="300"/>
              </a:spcAft>
            </a:pPr>
            <a:r>
              <a:rPr sz="1150" b="0">
                <a:solidFill>
                  <a:srgbClr val="222222"/>
                </a:solidFill>
                <a:latin typeface="Calibri"/>
              </a:rPr>
              <a:t>SLIDE 1 — registration</a:t>
            </a:r>
          </a:p>
          <a:p>
            <a:pPr algn="l">
              <a:spcAft>
                <a:spcPts val="300"/>
              </a:spcAft>
            </a:pPr>
            <a:r>
              <a:rPr sz="1150" b="0">
                <a:solidFill>
                  <a:srgbClr val="222222"/>
                </a:solidFill>
                <a:latin typeface="Calibri"/>
              </a:rPr>
              <a:t>Dice, 30 recordings: median 0.931, range 0.912–0.942. Descriptive, no test.</a:t>
            </a:r>
          </a:p>
          <a:p>
            <a:pPr algn="l">
              <a:spcAft>
                <a:spcPts val="300"/>
              </a:spcAft>
            </a:pPr>
            <a:r>
              <a:rPr sz="1150" b="0">
                <a:solidFill>
                  <a:srgbClr val="222222"/>
                </a:solidFill>
                <a:latin typeface="Calibri"/>
              </a:rPr>
              <a:t>Scale: median 5.48 µm/px, 1.05× spread. Descriptive.</a:t>
            </a:r>
          </a:p>
          <a:p>
            <a:pPr algn="l">
              <a:spcAft>
                <a:spcPts val="300"/>
              </a:spcAft>
            </a:pPr>
            <a:r>
              <a:rPr sz="1150" b="0">
                <a:solidFill>
                  <a:srgbClr val="222222"/>
                </a:solidFill>
                <a:latin typeface="Calibri"/>
              </a:rPr>
              <a:t/>
            </a:r>
          </a:p>
          <a:p>
            <a:pPr algn="l">
              <a:spcAft>
                <a:spcPts val="300"/>
              </a:spcAft>
            </a:pPr>
            <a:r>
              <a:rPr sz="1150" b="0">
                <a:solidFill>
                  <a:srgbClr val="222222"/>
                </a:solidFill>
                <a:latin typeface="Calibri"/>
              </a:rPr>
              <a:t>SLIDE 2 — face poke,  43,156 cells / 18 recordings / 4 mice</a:t>
            </a:r>
          </a:p>
          <a:p>
            <a:pPr algn="l">
              <a:spcAft>
                <a:spcPts val="300"/>
              </a:spcAft>
            </a:pPr>
            <a:r>
              <a:rPr sz="1150" b="0">
                <a:solidFill>
                  <a:srgbClr val="222222"/>
                </a:solidFill>
                <a:latin typeface="Calibri"/>
              </a:rPr>
              <a:t>Excited 8.6 %, inhibited 27.6 % (per-cell t across trials, p &lt; 0.05 uncorrected).</a:t>
            </a:r>
          </a:p>
          <a:p>
            <a:pPr algn="l">
              <a:spcAft>
                <a:spcPts val="300"/>
              </a:spcAft>
            </a:pPr>
            <a:r>
              <a:rPr sz="1150" b="0">
                <a:solidFill>
                  <a:srgbClr val="222222"/>
                </a:solidFill>
                <a:latin typeface="Calibri"/>
              </a:rPr>
              <a:t>Area enrichment: two-sided binomial vs the 8.6 % cortex-wide rate, BH-FDR over 19 areas with ≥ 300 cells.</a:t>
            </a:r>
          </a:p>
          <a:p>
            <a:pPr algn="l">
              <a:spcAft>
                <a:spcPts val="300"/>
              </a:spcAft>
            </a:pPr>
            <a:r>
              <a:rPr sz="1150" b="0">
                <a:solidFill>
                  <a:srgbClr val="222222"/>
                </a:solidFill>
                <a:latin typeface="Calibri"/>
              </a:rPr>
              <a:t>   SSs 2.01×  q = 7e-08       SSp-n 1.42×  q = 4e-02</a:t>
            </a:r>
          </a:p>
          <a:p>
            <a:pPr algn="l">
              <a:spcAft>
                <a:spcPts val="300"/>
              </a:spcAft>
            </a:pPr>
            <a:r>
              <a:rPr sz="1150" b="0">
                <a:solidFill>
                  <a:srgbClr val="222222"/>
                </a:solidFill>
                <a:latin typeface="Calibri"/>
              </a:rPr>
              <a:t>   MOp 1.37×  q = 5e-16       MOs  1.29×  q = 3e-09</a:t>
            </a:r>
          </a:p>
          <a:p>
            <a:pPr algn="l">
              <a:spcAft>
                <a:spcPts val="300"/>
              </a:spcAft>
            </a:pPr>
            <a:r>
              <a:rPr sz="1150" b="0">
                <a:solidFill>
                  <a:srgbClr val="222222"/>
                </a:solidFill>
                <a:latin typeface="Calibri"/>
              </a:rPr>
              <a:t>   SSp-ul 0.66×  q = 4e-25    RSPagl 0.60×  q = 7e-08</a:t>
            </a:r>
          </a:p>
          <a:p>
            <a:pPr algn="l">
              <a:spcAft>
                <a:spcPts val="300"/>
              </a:spcAft>
            </a:pPr>
            <a:r>
              <a:rPr sz="1150" b="0">
                <a:solidFill>
                  <a:srgbClr val="222222"/>
                </a:solidFill>
                <a:latin typeface="Calibri"/>
              </a:rPr>
              <a:t>A–P gradient: inhibited fraction, posterior half vs anterior half, each recording split at its own median AP. Wilcoxon signed-rank, W = 0, p = 7.6e-06, n = 18; 18/18 recordings move the same way; mean +7.2 pp.</a:t>
            </a:r>
          </a:p>
          <a:p>
            <a:pPr algn="l">
              <a:spcAft>
                <a:spcPts val="300"/>
              </a:spcAft>
            </a:pPr>
            <a:r>
              <a:rPr sz="1150" b="0">
                <a:solidFill>
                  <a:srgbClr val="222222"/>
                </a:solidFill>
                <a:latin typeface="Calibri"/>
              </a:rPr>
              <a:t/>
            </a:r>
          </a:p>
          <a:p>
            <a:pPr algn="l">
              <a:spcAft>
                <a:spcPts val="300"/>
              </a:spcAft>
            </a:pPr>
            <a:r>
              <a:rPr sz="1150" b="0">
                <a:solidFill>
                  <a:srgbClr val="222222"/>
                </a:solidFill>
                <a:latin typeface="Calibri"/>
              </a:rPr>
              <a:t>SLIDE 3 — melittin,  144,367 cells total</a:t>
            </a:r>
          </a:p>
          <a:p>
            <a:pPr algn="l">
              <a:spcAft>
                <a:spcPts val="300"/>
              </a:spcAft>
            </a:pPr>
            <a:r>
              <a:rPr sz="1150" b="0">
                <a:solidFill>
                  <a:srgbClr val="222222"/>
                </a:solidFill>
                <a:latin typeface="Calibri"/>
              </a:rPr>
              <a:t>melittin only: 81,834 cells, 4 mice, 28.3 % up / 63.0 % down</a:t>
            </a:r>
          </a:p>
          <a:p>
            <a:pPr algn="l">
              <a:spcAft>
                <a:spcPts val="300"/>
              </a:spcAft>
            </a:pPr>
            <a:r>
              <a:rPr sz="1150" b="0">
                <a:solidFill>
                  <a:srgbClr val="222222"/>
                </a:solidFill>
                <a:latin typeface="Calibri"/>
              </a:rPr>
              <a:t>melittin+morphine: 62,533 cells, 2 mice, 31.4 % up / 60.6 % down</a:t>
            </a:r>
          </a:p>
          <a:p>
            <a:pPr algn="l">
              <a:spcAft>
                <a:spcPts val="300"/>
              </a:spcAft>
            </a:pPr>
            <a:r>
              <a:rPr sz="1150" b="0">
                <a:solidFill>
                  <a:srgbClr val="222222"/>
                </a:solidFill>
                <a:latin typeface="Calibri"/>
              </a:rPr>
              <a:t>Paired, within animal (n = 2 pairs, NO p value quoted):</a:t>
            </a:r>
          </a:p>
          <a:p>
            <a:pPr algn="l">
              <a:spcAft>
                <a:spcPts val="300"/>
              </a:spcAft>
            </a:pPr>
            <a:r>
              <a:rPr sz="1150" b="0">
                <a:solidFill>
                  <a:srgbClr val="222222"/>
                </a:solidFill>
                <a:latin typeface="Calibri"/>
              </a:rPr>
              <a:t>   CS1014-1b  up 28.5 → 31.3 (+2.8 pp)   amp −5.7 → −3.3 (+2.4)</a:t>
            </a:r>
          </a:p>
          <a:p>
            <a:pPr algn="l">
              <a:spcAft>
                <a:spcPts val="300"/>
              </a:spcAft>
            </a:pPr>
            <a:r>
              <a:rPr sz="1150" b="0">
                <a:solidFill>
                  <a:srgbClr val="222222"/>
                </a:solidFill>
                <a:latin typeface="Calibri"/>
              </a:rPr>
              <a:t>   CS1014-2w  up 28.9 → 31.6 (+2.6 pp)   amp +0.5 → +2.7 (+2.3)</a:t>
            </a:r>
          </a:p>
          <a:p>
            <a:pPr algn="l">
              <a:spcAft>
                <a:spcPts val="300"/>
              </a:spcAft>
            </a:pPr>
            <a:r>
              <a:rPr sz="1150" b="0">
                <a:solidFill>
                  <a:srgbClr val="222222"/>
                </a:solidFill>
                <a:latin typeface="Calibri"/>
              </a:rPr>
              <a:t>By area: 11 of 22 isocortical areas (≥100 cells in all four sessions) agree in direction between the two animals — 50 %, i.e. chance.</a:t>
            </a:r>
          </a:p>
        </p:txBody>
      </p:sp>
      <p:sp>
        <p:nvSpPr>
          <p:cNvPr id="4" name="TextBox 3"/>
          <p:cNvSpPr txBox="1"/>
          <p:nvPr/>
        </p:nvSpPr>
        <p:spPr>
          <a:xfrm>
            <a:off x="6281927" y="914400"/>
            <a:ext cx="5577840" cy="5577840"/>
          </a:xfrm>
          <a:prstGeom prst="rect">
            <a:avLst/>
          </a:prstGeom>
          <a:noFill/>
        </p:spPr>
        <p:txBody>
          <a:bodyPr wrap="square">
            <a:spAutoFit/>
          </a:bodyPr>
          <a:lstStyle/>
          <a:p>
            <a:pPr algn="l">
              <a:spcAft>
                <a:spcPts val="300"/>
              </a:spcAft>
            </a:pPr>
            <a:r>
              <a:rPr sz="1150" b="0">
                <a:solidFill>
                  <a:srgbClr val="222222"/>
                </a:solidFill>
                <a:latin typeface="Calibri"/>
              </a:rPr>
              <a:t>SLIDE 4 — paradigm comparison</a:t>
            </a:r>
          </a:p>
          <a:p>
            <a:pPr algn="l">
              <a:spcAft>
                <a:spcPts val="300"/>
              </a:spcAft>
            </a:pPr>
            <a:r>
              <a:rPr sz="1150" b="0">
                <a:solidFill>
                  <a:srgbClr val="222222"/>
                </a:solidFill>
                <a:latin typeface="Calibri"/>
              </a:rPr>
              <a:t>Enrichment computed separately per paradigm against its own cortex-wide rate (face poke 8.6 % excited; melittin 28.3 % driven up), binomial + BH-FDR over 19 and 27 areas respectively.</a:t>
            </a:r>
          </a:p>
          <a:p>
            <a:pPr algn="l">
              <a:spcAft>
                <a:spcPts val="300"/>
              </a:spcAft>
            </a:pPr>
            <a:r>
              <a:rPr sz="1150" b="0">
                <a:solidFill>
                  <a:srgbClr val="222222"/>
                </a:solidFill>
                <a:latin typeface="Calibri"/>
              </a:rPr>
              <a:t>Spearman rank correlation across the 19 shared areas: ρ = −0.22, p = 0.36. Uncorrelated, not anti-correlated.</a:t>
            </a:r>
          </a:p>
          <a:p>
            <a:pPr algn="l">
              <a:spcAft>
                <a:spcPts val="300"/>
              </a:spcAft>
            </a:pPr>
            <a:r>
              <a:rPr sz="1150" b="0">
                <a:solidFill>
                  <a:srgbClr val="222222"/>
                </a:solidFill>
                <a:latin typeface="Calibri"/>
              </a:rPr>
              <a:t/>
            </a:r>
          </a:p>
          <a:p>
            <a:pPr algn="l">
              <a:spcAft>
                <a:spcPts val="300"/>
              </a:spcAft>
            </a:pPr>
            <a:r>
              <a:rPr sz="1150" b="0">
                <a:solidFill>
                  <a:srgbClr val="222222"/>
                </a:solidFill>
                <a:latin typeface="Calibri"/>
              </a:rPr>
              <a:t>SLIDE 5 — behaviour</a:t>
            </a:r>
          </a:p>
          <a:p>
            <a:pPr algn="l">
              <a:spcAft>
                <a:spcPts val="300"/>
              </a:spcAft>
            </a:pPr>
            <a:r>
              <a:rPr sz="1150" b="0">
                <a:solidFill>
                  <a:srgbClr val="222222"/>
                </a:solidFill>
                <a:latin typeface="Calibri"/>
              </a:rPr>
              <a:t>19 sessions indexed, 15 with a matching calcium folder.</a:t>
            </a:r>
          </a:p>
          <a:p>
            <a:pPr algn="l">
              <a:spcAft>
                <a:spcPts val="300"/>
              </a:spcAft>
            </a:pPr>
            <a:r>
              <a:rPr sz="1150" b="0">
                <a:solidFill>
                  <a:srgbClr val="222222"/>
                </a:solidFill>
                <a:latin typeface="Calibri"/>
              </a:rPr>
              <a:t>GrimACE face cropper, identical weights and code and sampling:</a:t>
            </a:r>
          </a:p>
          <a:p>
            <a:pPr algn="l">
              <a:spcAft>
                <a:spcPts val="300"/>
              </a:spcAft>
            </a:pPr>
            <a:r>
              <a:rPr sz="1150" b="0">
                <a:solidFill>
                  <a:srgbClr val="222222"/>
                </a:solidFill>
                <a:latin typeface="Calibri"/>
              </a:rPr>
              <a:t>   their example video   6 / 12 frames accepted</a:t>
            </a:r>
          </a:p>
          <a:p>
            <a:pPr algn="l">
              <a:spcAft>
                <a:spcPts val="300"/>
              </a:spcAft>
            </a:pPr>
            <a:r>
              <a:rPr sz="1150" b="0">
                <a:solidFill>
                  <a:srgbClr val="222222"/>
                </a:solidFill>
                <a:latin typeface="Calibri"/>
              </a:rPr>
              <a:t>   our 1014m01b baseline  0 / 12 frames accepted</a:t>
            </a:r>
          </a:p>
          <a:p>
            <a:pPr algn="l">
              <a:spcAft>
                <a:spcPts val="300"/>
              </a:spcAft>
            </a:pPr>
            <a:r>
              <a:rPr sz="1150" b="0">
                <a:solidFill>
                  <a:srgbClr val="222222"/>
                </a:solidFill>
                <a:latin typeface="Calibri"/>
              </a:rPr>
              <a:t>Frame statistics: GrimACE rig mean 0.74 SD 0.17; our rig mean 0.41 SD 0.25 (SD 1.5× theirs). Scorer hard-codes mean 0.5175, SD 0.14.</a:t>
            </a:r>
          </a:p>
          <a:p>
            <a:pPr algn="l">
              <a:spcAft>
                <a:spcPts val="300"/>
              </a:spcAft>
            </a:pPr>
            <a:r>
              <a:rPr sz="1150" b="0">
                <a:solidFill>
                  <a:srgbClr val="222222"/>
                </a:solidFill>
                <a:latin typeface="Calibri"/>
              </a:rPr>
              <a:t>Descriptive; no inferential test is run on the grimace arm, and none should be until the cropper works.</a:t>
            </a:r>
          </a:p>
          <a:p>
            <a:pPr algn="l">
              <a:spcAft>
                <a:spcPts val="300"/>
              </a:spcAft>
            </a:pPr>
            <a:r>
              <a:rPr sz="1150" b="0">
                <a:solidFill>
                  <a:srgbClr val="222222"/>
                </a:solidFill>
                <a:latin typeface="Calibri"/>
              </a:rPr>
              <a:t/>
            </a:r>
          </a:p>
          <a:p>
            <a:pPr algn="l">
              <a:spcAft>
                <a:spcPts val="300"/>
              </a:spcAft>
            </a:pPr>
            <a:r>
              <a:rPr sz="1150" b="0">
                <a:solidFill>
                  <a:srgbClr val="222222"/>
                </a:solidFill>
                <a:latin typeface="Calibri"/>
              </a:rPr>
              <a:t>MULTIPLE COMPARISONS</a:t>
            </a:r>
          </a:p>
          <a:p>
            <a:pPr algn="l">
              <a:spcAft>
                <a:spcPts val="300"/>
              </a:spcAft>
            </a:pPr>
            <a:r>
              <a:rPr sz="1150" b="0">
                <a:solidFill>
                  <a:srgbClr val="222222"/>
                </a:solidFill>
                <a:latin typeface="Calibri"/>
              </a:rPr>
              <a:t>Benjamini-Hochberg is applied within each enrichment family (the 19 or 27 areas of one paradigm). It is NOT applied across slides — the per-cell p &lt; 0.05 that defines a responsive cell is uncorrected, by design, and is discussed in S2.</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11480" y="201168"/>
            <a:ext cx="11384280" cy="548640"/>
          </a:xfrm>
          <a:prstGeom prst="rect">
            <a:avLst/>
          </a:prstGeom>
          <a:noFill/>
        </p:spPr>
        <p:txBody>
          <a:bodyPr wrap="square">
            <a:spAutoFit/>
          </a:bodyPr>
          <a:lstStyle/>
          <a:p>
            <a:pPr algn="l">
              <a:spcAft>
                <a:spcPts val="400"/>
              </a:spcAft>
            </a:pPr>
            <a:r>
              <a:rPr sz="2200" b="1">
                <a:solidFill>
                  <a:srgbClr val="1F3A5F"/>
                </a:solidFill>
                <a:latin typeface="Calibri"/>
              </a:rPr>
              <a:t>S4.  Data inventory and where everything lives</a:t>
            </a:r>
          </a:p>
        </p:txBody>
      </p:sp>
      <p:sp>
        <p:nvSpPr>
          <p:cNvPr id="3" name="TextBox 2"/>
          <p:cNvSpPr txBox="1"/>
          <p:nvPr/>
        </p:nvSpPr>
        <p:spPr>
          <a:xfrm>
            <a:off x="475488" y="914400"/>
            <a:ext cx="5577840" cy="5577840"/>
          </a:xfrm>
          <a:prstGeom prst="rect">
            <a:avLst/>
          </a:prstGeom>
          <a:noFill/>
        </p:spPr>
        <p:txBody>
          <a:bodyPr wrap="square">
            <a:spAutoFit/>
          </a:bodyPr>
          <a:lstStyle/>
          <a:p>
            <a:pPr algn="l">
              <a:spcAft>
                <a:spcPts val="300"/>
              </a:spcAft>
            </a:pPr>
            <a:r>
              <a:rPr sz="1150" b="0">
                <a:solidFill>
                  <a:srgbClr val="222222"/>
                </a:solidFill>
                <a:latin typeface="Calibri"/>
              </a:rPr>
              <a:t>CALCIUM — face poke</a:t>
            </a:r>
          </a:p>
          <a:p>
            <a:pPr algn="l">
              <a:spcAft>
                <a:spcPts val="300"/>
              </a:spcAft>
            </a:pPr>
            <a:r>
              <a:rPr sz="1150" b="0">
                <a:solidFill>
                  <a:srgbClr val="222222"/>
                </a:solidFill>
                <a:latin typeface="Calibri"/>
              </a:rPr>
              <a:t>18 recordings, 4 animals (0004749770_m1, m200, m201, m3), 43,156 cells.</a:t>
            </a:r>
          </a:p>
          <a:p>
            <a:pPr algn="l">
              <a:spcAft>
                <a:spcPts val="300"/>
              </a:spcAft>
            </a:pPr>
            <a:r>
              <a:rPr sz="1150" b="0">
                <a:solidFill>
                  <a:srgbClr val="222222"/>
                </a:solidFill>
                <a:latin typeface="Calibri"/>
              </a:rPr>
              <a:t>Cell table:</a:t>
            </a:r>
          </a:p>
          <a:p>
            <a:pPr algn="l">
              <a:spcAft>
                <a:spcPts val="300"/>
              </a:spcAft>
            </a:pPr>
            <a:r>
              <a:rPr sz="1150" b="0">
                <a:solidFill>
                  <a:srgbClr val="222222"/>
                </a:solidFill>
                <a:latin typeface="Calibri"/>
              </a:rPr>
              <a:t>C:\Users\hsollim\behavior_task\crystal_skull_analysis\ccf_registration\n18\cell_ccf_all.csv</a:t>
            </a:r>
          </a:p>
          <a:p>
            <a:pPr algn="l">
              <a:spcAft>
                <a:spcPts val="300"/>
              </a:spcAft>
            </a:pPr>
            <a:r>
              <a:rPr sz="1150" b="0">
                <a:solidFill>
                  <a:srgbClr val="222222"/>
                </a:solidFill>
                <a:latin typeface="Calibri"/>
              </a:rPr>
              <a:t/>
            </a:r>
          </a:p>
          <a:p>
            <a:pPr algn="l">
              <a:spcAft>
                <a:spcPts val="300"/>
              </a:spcAft>
            </a:pPr>
            <a:r>
              <a:rPr sz="1150" b="0">
                <a:solidFill>
                  <a:srgbClr val="222222"/>
                </a:solidFill>
                <a:latin typeface="Calibri"/>
              </a:rPr>
              <a:t>CALCIUM — melittin</a:t>
            </a:r>
          </a:p>
          <a:p>
            <a:pPr algn="l">
              <a:spcAft>
                <a:spcPts val="300"/>
              </a:spcAft>
            </a:pPr>
            <a:r>
              <a:rPr sz="1150" b="0">
                <a:solidFill>
                  <a:srgbClr val="222222"/>
                </a:solidFill>
                <a:latin typeface="Calibri"/>
              </a:rPr>
              <a:t>12 recordings, 6 mice, 144,367 cells.</a:t>
            </a:r>
          </a:p>
          <a:p>
            <a:pPr algn="l">
              <a:spcAft>
                <a:spcPts val="300"/>
              </a:spcAft>
            </a:pPr>
            <a:r>
              <a:rPr sz="1150" b="0">
                <a:solidFill>
                  <a:srgbClr val="222222"/>
                </a:solidFill>
                <a:latin typeface="Calibri"/>
              </a:rPr>
              <a:t>melittin only  CS0204-1b, CS0204-2w, CS1014-1b, CS1014-2w</a:t>
            </a:r>
          </a:p>
          <a:p>
            <a:pPr algn="l">
              <a:spcAft>
                <a:spcPts val="300"/>
              </a:spcAft>
            </a:pPr>
            <a:r>
              <a:rPr sz="1150" b="0">
                <a:solidFill>
                  <a:srgbClr val="222222"/>
                </a:solidFill>
                <a:latin typeface="Calibri"/>
              </a:rPr>
              <a:t>melittin+morphine  1014m01b, 1014m02w   (= CS1014-1b, CS1014-2w)</a:t>
            </a:r>
          </a:p>
          <a:p>
            <a:pPr algn="l">
              <a:spcAft>
                <a:spcPts val="300"/>
              </a:spcAft>
            </a:pPr>
            <a:r>
              <a:rPr sz="1150" b="0">
                <a:solidFill>
                  <a:srgbClr val="222222"/>
                </a:solidFill>
                <a:latin typeface="Calibri"/>
              </a:rPr>
              <a:t>Cell table:</a:t>
            </a:r>
          </a:p>
          <a:p>
            <a:pPr algn="l">
              <a:spcAft>
                <a:spcPts val="300"/>
              </a:spcAft>
            </a:pPr>
            <a:r>
              <a:rPr sz="1150" b="0">
                <a:solidFill>
                  <a:srgbClr val="222222"/>
                </a:solidFill>
                <a:latin typeface="Calibri"/>
              </a:rPr>
              <a:t>C:\Users\hsollim\behavior_task\crystal_skull_analysis\ccf_registration\melittin_ccf\cell_ccf_all.csv</a:t>
            </a:r>
          </a:p>
          <a:p>
            <a:pPr algn="l">
              <a:spcAft>
                <a:spcPts val="300"/>
              </a:spcAft>
            </a:pPr>
            <a:r>
              <a:rPr sz="1150" b="0">
                <a:solidFill>
                  <a:srgbClr val="222222"/>
                </a:solidFill>
                <a:latin typeface="Calibri"/>
              </a:rPr>
              <a:t/>
            </a:r>
          </a:p>
          <a:p>
            <a:pPr algn="l">
              <a:spcAft>
                <a:spcPts val="300"/>
              </a:spcAft>
            </a:pPr>
            <a:r>
              <a:rPr sz="1150" b="0">
                <a:solidFill>
                  <a:srgbClr val="222222"/>
                </a:solidFill>
                <a:latin typeface="Calibri"/>
              </a:rPr>
              <a:t>REGISTRATION</a:t>
            </a:r>
          </a:p>
          <a:p>
            <a:pPr algn="l">
              <a:spcAft>
                <a:spcPts val="300"/>
              </a:spcAft>
            </a:pPr>
            <a:r>
              <a:rPr sz="1150" b="0">
                <a:solidFill>
                  <a:srgbClr val="222222"/>
                </a:solidFill>
                <a:latin typeface="Calibri"/>
              </a:rPr>
              <a:t>C:\Users\hsollim\behavior_task\crystal_skull_analysis\ccf_registration\transforms\   (30 .mat + 30 QC .png)</a:t>
            </a:r>
          </a:p>
          <a:p>
            <a:pPr algn="l">
              <a:spcAft>
                <a:spcPts val="300"/>
              </a:spcAft>
            </a:pPr>
            <a:r>
              <a:rPr sz="1150" b="0">
                <a:solidFill>
                  <a:srgbClr val="222222"/>
                </a:solidFill>
                <a:latin typeface="Calibri"/>
              </a:rPr>
              <a:t>Atlas map:  ...\ccf_registration\allen_dorsal_map.mat</a:t>
            </a:r>
          </a:p>
          <a:p>
            <a:pPr algn="l">
              <a:spcAft>
                <a:spcPts val="300"/>
              </a:spcAft>
            </a:pPr>
            <a:r>
              <a:rPr sz="1150" b="0">
                <a:solidFill>
                  <a:srgbClr val="222222"/>
                </a:solidFill>
                <a:latin typeface="Calibri"/>
              </a:rPr>
              <a:t>QC table:   ...\final_deck\reg_qc.csv</a:t>
            </a:r>
          </a:p>
        </p:txBody>
      </p:sp>
      <p:sp>
        <p:nvSpPr>
          <p:cNvPr id="4" name="TextBox 3"/>
          <p:cNvSpPr txBox="1"/>
          <p:nvPr/>
        </p:nvSpPr>
        <p:spPr>
          <a:xfrm>
            <a:off x="6281927" y="914400"/>
            <a:ext cx="5577840" cy="5577840"/>
          </a:xfrm>
          <a:prstGeom prst="rect">
            <a:avLst/>
          </a:prstGeom>
          <a:noFill/>
        </p:spPr>
        <p:txBody>
          <a:bodyPr wrap="square">
            <a:spAutoFit/>
          </a:bodyPr>
          <a:lstStyle/>
          <a:p>
            <a:pPr algn="l">
              <a:spcAft>
                <a:spcPts val="300"/>
              </a:spcAft>
            </a:pPr>
            <a:r>
              <a:rPr sz="1150" b="0">
                <a:solidFill>
                  <a:srgbClr val="222222"/>
                </a:solidFill>
                <a:latin typeface="Calibri"/>
              </a:rPr>
              <a:t>BEHAVIOUR VIDEO</a:t>
            </a:r>
          </a:p>
          <a:p>
            <a:pPr algn="l">
              <a:spcAft>
                <a:spcPts val="300"/>
              </a:spcAft>
            </a:pPr>
            <a:r>
              <a:rPr sz="1150" b="0">
                <a:solidFill>
                  <a:srgbClr val="222222"/>
                </a:solidFill>
                <a:latin typeface="Calibri"/>
              </a:rPr>
              <a:t>19 sessions on  \\stg-tnr50a1.stanford.edu\crystal_skull\</a:t>
            </a:r>
          </a:p>
          <a:p>
            <a:pPr algn="l">
              <a:spcAft>
                <a:spcPts val="300"/>
              </a:spcAft>
            </a:pPr>
            <a:r>
              <a:rPr sz="1150" b="0">
                <a:solidFill>
                  <a:srgbClr val="222222"/>
                </a:solidFill>
                <a:latin typeface="Calibri"/>
              </a:rPr>
              <a:t>   20260408  5 × .mp4</a:t>
            </a:r>
          </a:p>
          <a:p>
            <a:pPr algn="l">
              <a:spcAft>
                <a:spcPts val="300"/>
              </a:spcAft>
            </a:pPr>
            <a:r>
              <a:rPr sz="1150" b="0">
                <a:solidFill>
                  <a:srgbClr val="222222"/>
                </a:solidFill>
                <a:latin typeface="Calibri"/>
              </a:rPr>
              <a:t>   20260218, 20260219  14 × loose .jpg sequences</a:t>
            </a:r>
          </a:p>
          <a:p>
            <a:pPr algn="l">
              <a:spcAft>
                <a:spcPts val="300"/>
              </a:spcAft>
            </a:pPr>
            <a:r>
              <a:rPr sz="1150" b="0">
                <a:solidFill>
                  <a:srgbClr val="222222"/>
                </a:solidFill>
                <a:latin typeface="Calibri"/>
              </a:rPr>
              <a:t>Manifest:</a:t>
            </a:r>
          </a:p>
          <a:p>
            <a:pPr algn="l">
              <a:spcAft>
                <a:spcPts val="300"/>
              </a:spcAft>
            </a:pPr>
            <a:r>
              <a:rPr sz="1150" b="0">
                <a:solidFill>
                  <a:srgbClr val="222222"/>
                </a:solidFill>
                <a:latin typeface="Calibri"/>
              </a:rPr>
              <a:t>C:\Users\hsollim\behavior_task\crystal_skull_analysis\behavior_sync\behavior_calcium_manifest.csv</a:t>
            </a:r>
          </a:p>
          <a:p>
            <a:pPr algn="l">
              <a:spcAft>
                <a:spcPts val="300"/>
              </a:spcAft>
            </a:pPr>
            <a:r>
              <a:rPr sz="1150" b="0">
                <a:solidFill>
                  <a:srgbClr val="222222"/>
                </a:solidFill>
                <a:latin typeface="Calibri"/>
              </a:rPr>
              <a:t>PainFace staging:  ...\behavior_sync\painface_upload\</a:t>
            </a:r>
          </a:p>
          <a:p>
            <a:pPr algn="l">
              <a:spcAft>
                <a:spcPts val="300"/>
              </a:spcAft>
            </a:pPr>
            <a:r>
              <a:rPr sz="1150" b="0">
                <a:solidFill>
                  <a:srgbClr val="222222"/>
                </a:solidFill>
                <a:latin typeface="Calibri"/>
              </a:rPr>
              <a:t/>
            </a:r>
          </a:p>
          <a:p>
            <a:pPr algn="l">
              <a:spcAft>
                <a:spcPts val="300"/>
              </a:spcAft>
            </a:pPr>
            <a:r>
              <a:rPr sz="1150" b="0">
                <a:solidFill>
                  <a:srgbClr val="222222"/>
                </a:solidFill>
                <a:latin typeface="Calibri"/>
              </a:rPr>
              <a:t>THIS DECK</a:t>
            </a:r>
          </a:p>
          <a:p>
            <a:pPr algn="l">
              <a:spcAft>
                <a:spcPts val="300"/>
              </a:spcAft>
            </a:pPr>
            <a:r>
              <a:rPr sz="1150" b="0">
                <a:solidFill>
                  <a:srgbClr val="222222"/>
                </a:solidFill>
                <a:latin typeface="Calibri"/>
              </a:rPr>
              <a:t>C:\Users\hsollim\behavior_task\crystal_skull_analysis\final_deck\</a:t>
            </a:r>
          </a:p>
          <a:p>
            <a:pPr algn="l">
              <a:spcAft>
                <a:spcPts val="300"/>
              </a:spcAft>
            </a:pPr>
            <a:r>
              <a:rPr sz="1150" b="0">
                <a:solidFill>
                  <a:srgbClr val="222222"/>
                </a:solidFill>
                <a:latin typeface="Calibri"/>
              </a:rPr>
              <a:t>   CrystalSkull_summary_5slides_for_Mark.pptx</a:t>
            </a:r>
          </a:p>
          <a:p>
            <a:pPr algn="l">
              <a:spcAft>
                <a:spcPts val="300"/>
              </a:spcAft>
            </a:pPr>
            <a:r>
              <a:rPr sz="1150" b="0">
                <a:solidFill>
                  <a:srgbClr val="222222"/>
                </a:solidFill>
                <a:latin typeface="Calibri"/>
              </a:rPr>
              <a:t>   make_final_figures.py, make_s5.py   (figures)</a:t>
            </a:r>
          </a:p>
          <a:p>
            <a:pPr algn="l">
              <a:spcAft>
                <a:spcPts val="300"/>
              </a:spcAft>
            </a:pPr>
            <a:r>
              <a:rPr sz="1150" b="0">
                <a:solidFill>
                  <a:srgbClr val="222222"/>
                </a:solidFill>
                <a:latin typeface="Calibri"/>
              </a:rPr>
              <a:t>   compute_stats.py                    (every number on the slides)</a:t>
            </a:r>
          </a:p>
          <a:p>
            <a:pPr algn="l">
              <a:spcAft>
                <a:spcPts val="300"/>
              </a:spcAft>
            </a:pPr>
            <a:r>
              <a:rPr sz="1150" b="0">
                <a:solidFill>
                  <a:srgbClr val="222222"/>
                </a:solidFill>
                <a:latin typeface="Calibri"/>
              </a:rPr>
              <a:t>   stats.json, reg_qc.csv              (the computed values)</a:t>
            </a:r>
          </a:p>
          <a:p>
            <a:pPr algn="l">
              <a:spcAft>
                <a:spcPts val="300"/>
              </a:spcAft>
            </a:pPr>
            <a:r>
              <a:rPr sz="1150" b="0">
                <a:solidFill>
                  <a:srgbClr val="222222"/>
                </a:solidFill>
                <a:latin typeface="Calibri"/>
              </a:rPr>
              <a:t>   figures\S1..S5*.png</a:t>
            </a:r>
          </a:p>
          <a:p>
            <a:pPr algn="l">
              <a:spcAft>
                <a:spcPts val="300"/>
              </a:spcAft>
            </a:pPr>
            <a:r>
              <a:rPr sz="1150" b="0">
                <a:solidFill>
                  <a:srgbClr val="222222"/>
                </a:solidFill>
                <a:latin typeface="Calibri"/>
              </a:rPr>
              <a:t/>
            </a:r>
          </a:p>
          <a:p>
            <a:pPr algn="l">
              <a:spcAft>
                <a:spcPts val="300"/>
              </a:spcAft>
            </a:pPr>
            <a:r>
              <a:rPr sz="1150" b="0">
                <a:solidFill>
                  <a:srgbClr val="222222"/>
                </a:solidFill>
                <a:latin typeface="Calibri"/>
              </a:rPr>
              <a:t>EARLIER DECKS, STILL ON DISK AND UNCHANGED</a:t>
            </a:r>
          </a:p>
          <a:p>
            <a:pPr algn="l">
              <a:spcAft>
                <a:spcPts val="300"/>
              </a:spcAft>
            </a:pPr>
            <a:r>
              <a:rPr sz="1150" b="0">
                <a:solidFill>
                  <a:srgbClr val="222222"/>
                </a:solidFill>
                <a:latin typeface="Calibri"/>
              </a:rPr>
              <a:t>...\mark_brief\CrystalSkull_facepoke_vs_melittin_Mark_with Allen CCF_hansol_v2.pptx  (29 slides)</a:t>
            </a:r>
          </a:p>
          <a:p>
            <a:pPr algn="l">
              <a:spcAft>
                <a:spcPts val="300"/>
              </a:spcAft>
            </a:pPr>
            <a:r>
              <a:rPr sz="1150" b="0">
                <a:solidFill>
                  <a:srgbClr val="222222"/>
                </a:solidFill>
                <a:latin typeface="Calibri"/>
              </a:rPr>
              <a:t>...\combined_paradigm\CrystalSkull_facepoke_vs_melittin_vs_morphine_v2.pptx  (24 slides)</a:t>
            </a:r>
          </a:p>
          <a:p>
            <a:pPr algn="l">
              <a:spcAft>
                <a:spcPts val="300"/>
              </a:spcAft>
            </a:pPr>
            <a:r>
              <a:rPr sz="1150" b="0">
                <a:solidFill>
                  <a:srgbClr val="222222"/>
                </a:solidFill>
                <a:latin typeface="Calibri"/>
              </a:rPr>
              <a:t>...\behavior_sync\GrimACE_feasibility_for_Mark.pptx  (16 slides)</a:t>
            </a:r>
          </a:p>
          <a:p>
            <a:pPr algn="l">
              <a:spcAft>
                <a:spcPts val="300"/>
              </a:spcAft>
            </a:pPr>
            <a:r>
              <a:rPr sz="1150" b="0">
                <a:solidFill>
                  <a:srgbClr val="222222"/>
                </a:solidFill>
                <a:latin typeface="Calibri"/>
              </a:rPr>
              <a:t>Plus figures_v2\fig1–fig17 and behavior_sync\figures\figB1–B8, figC1–C6.</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11480" y="201168"/>
            <a:ext cx="11384280" cy="548640"/>
          </a:xfrm>
          <a:prstGeom prst="rect">
            <a:avLst/>
          </a:prstGeom>
          <a:noFill/>
        </p:spPr>
        <p:txBody>
          <a:bodyPr wrap="square">
            <a:spAutoFit/>
          </a:bodyPr>
          <a:lstStyle/>
          <a:p>
            <a:pPr algn="l">
              <a:spcAft>
                <a:spcPts val="400"/>
              </a:spcAft>
            </a:pPr>
            <a:r>
              <a:rPr sz="2200" b="1">
                <a:solidFill>
                  <a:srgbClr val="1F3A5F"/>
                </a:solidFill>
                <a:latin typeface="Calibri"/>
              </a:rPr>
              <a:t>S5.  What each claim still needs</a:t>
            </a:r>
          </a:p>
        </p:txBody>
      </p:sp>
      <p:sp>
        <p:nvSpPr>
          <p:cNvPr id="3" name="TextBox 2"/>
          <p:cNvSpPr txBox="1"/>
          <p:nvPr/>
        </p:nvSpPr>
        <p:spPr>
          <a:xfrm>
            <a:off x="475488" y="914400"/>
            <a:ext cx="5577840" cy="5577840"/>
          </a:xfrm>
          <a:prstGeom prst="rect">
            <a:avLst/>
          </a:prstGeom>
          <a:noFill/>
        </p:spPr>
        <p:txBody>
          <a:bodyPr wrap="square">
            <a:spAutoFit/>
          </a:bodyPr>
          <a:lstStyle/>
          <a:p>
            <a:pPr algn="l">
              <a:spcAft>
                <a:spcPts val="300"/>
              </a:spcAft>
            </a:pPr>
            <a:r>
              <a:rPr sz="1150" b="0">
                <a:solidFill>
                  <a:srgbClr val="222222"/>
                </a:solidFill>
                <a:latin typeface="Calibri"/>
              </a:rPr>
              <a:t>STRONG AS IT STANDS</a:t>
            </a:r>
          </a:p>
          <a:p>
            <a:pPr algn="l">
              <a:spcAft>
                <a:spcPts val="300"/>
              </a:spcAft>
            </a:pPr>
            <a:r>
              <a:rPr sz="1150" b="0">
                <a:solidFill>
                  <a:srgbClr val="222222"/>
                </a:solidFill>
                <a:latin typeface="Calibri"/>
              </a:rPr>
              <a:t>• The registration. 30/30, Dice 0.931, 1.05× scale spread, three independent coordinate checks. Nothing here depends on a judgement call.</a:t>
            </a:r>
          </a:p>
          <a:p>
            <a:pPr algn="l">
              <a:spcAft>
                <a:spcPts val="300"/>
              </a:spcAft>
            </a:pPr>
            <a:r>
              <a:rPr sz="1150" b="0">
                <a:solidFill>
                  <a:srgbClr val="222222"/>
                </a:solidFill>
                <a:latin typeface="Calibri"/>
              </a:rPr>
              <a:t>• The face-poke A–P gradient. 18/18 recordings, W = 0. This does not depend on the responsive-cell threshold, because the same threshold is applied to both halves of the same recording.</a:t>
            </a:r>
          </a:p>
          <a:p>
            <a:pPr algn="l">
              <a:spcAft>
                <a:spcPts val="300"/>
              </a:spcAft>
            </a:pPr>
            <a:r>
              <a:rPr sz="1150" b="0">
                <a:solidFill>
                  <a:srgbClr val="222222"/>
                </a:solidFill>
                <a:latin typeface="Calibri"/>
              </a:rPr>
              <a:t>• The face-poke somatosensory enrichment. Survives FDR comfortably for SSs, MOp and MOs.</a:t>
            </a:r>
          </a:p>
          <a:p>
            <a:pPr algn="l">
              <a:spcAft>
                <a:spcPts val="300"/>
              </a:spcAft>
            </a:pPr>
            <a:r>
              <a:rPr sz="1150" b="0">
                <a:solidFill>
                  <a:srgbClr val="222222"/>
                </a:solidFill>
                <a:latin typeface="Calibri"/>
              </a:rPr>
              <a:t/>
            </a:r>
          </a:p>
          <a:p>
            <a:pPr algn="l">
              <a:spcAft>
                <a:spcPts val="300"/>
              </a:spcAft>
            </a:pPr>
            <a:r>
              <a:rPr sz="1150" b="0">
                <a:solidFill>
                  <a:srgbClr val="222222"/>
                </a:solidFill>
                <a:latin typeface="Calibri"/>
              </a:rPr>
              <a:t>NEEDS MORE ANIMALS</a:t>
            </a:r>
          </a:p>
          <a:p>
            <a:pPr algn="l">
              <a:spcAft>
                <a:spcPts val="300"/>
              </a:spcAft>
            </a:pPr>
            <a:r>
              <a:rPr sz="1150" b="0">
                <a:solidFill>
                  <a:srgbClr val="222222"/>
                </a:solidFill>
                <a:latin typeface="Calibri"/>
              </a:rPr>
              <a:t>• Morphine. n = 2 paired animals. The direction is consistent and the effect is small (+2.7 pp). Two more paired animals would make this testable; at n = 4 a sign test can reach p = 0.125, at n = 6 it can reach p = 0.031.</a:t>
            </a:r>
          </a:p>
          <a:p>
            <a:pPr algn="l">
              <a:spcAft>
                <a:spcPts val="300"/>
              </a:spcAft>
            </a:pPr>
            <a:r>
              <a:rPr sz="1150" b="0">
                <a:solidFill>
                  <a:srgbClr val="222222"/>
                </a:solidFill>
                <a:latin typeface="Calibri"/>
              </a:rPr>
              <a:t>• SSp-n at 1.42× rests on 335 cells, SSs at 2.01× on 422. Both survive FDR but are the thinnest numbers in the deck.</a:t>
            </a:r>
          </a:p>
        </p:txBody>
      </p:sp>
      <p:sp>
        <p:nvSpPr>
          <p:cNvPr id="4" name="TextBox 3"/>
          <p:cNvSpPr txBox="1"/>
          <p:nvPr/>
        </p:nvSpPr>
        <p:spPr>
          <a:xfrm>
            <a:off x="6281927" y="914400"/>
            <a:ext cx="5577840" cy="5577840"/>
          </a:xfrm>
          <a:prstGeom prst="rect">
            <a:avLst/>
          </a:prstGeom>
          <a:noFill/>
        </p:spPr>
        <p:txBody>
          <a:bodyPr wrap="square">
            <a:spAutoFit/>
          </a:bodyPr>
          <a:lstStyle/>
          <a:p>
            <a:pPr algn="l">
              <a:spcAft>
                <a:spcPts val="300"/>
              </a:spcAft>
            </a:pPr>
            <a:r>
              <a:rPr sz="1150" b="0">
                <a:solidFill>
                  <a:srgbClr val="222222"/>
                </a:solidFill>
                <a:latin typeface="Calibri"/>
              </a:rPr>
              <a:t>NEEDS A METHOD CHANGE</a:t>
            </a:r>
          </a:p>
          <a:p>
            <a:pPr algn="l">
              <a:spcAft>
                <a:spcPts val="300"/>
              </a:spcAft>
            </a:pPr>
            <a:r>
              <a:rPr sz="1150" b="0">
                <a:solidFill>
                  <a:srgbClr val="222222"/>
                </a:solidFill>
                <a:latin typeface="Calibri"/>
              </a:rPr>
              <a:t>• The melittin responsive-cell percentages. Cells are not tracked across the injection, so the test compares each injection cell to the baseline population mean using time bins as the sample. Registering the two EXTRACT runs to each other would let the melittin arm use the same within-cell paired test as face poke, and would make its percentages directly comparable to slide 2.</a:t>
            </a:r>
          </a:p>
          <a:p>
            <a:pPr algn="l">
              <a:spcAft>
                <a:spcPts val="300"/>
              </a:spcAft>
            </a:pPr>
            <a:r>
              <a:rPr sz="1150" b="0">
                <a:solidFill>
                  <a:srgbClr val="222222"/>
                </a:solidFill>
                <a:latin typeface="Calibri"/>
              </a:rPr>
              <a:t>• Grimace scoring. Blocked on the rig, not on the model: light background, diffuse IR, wider framing.</a:t>
            </a:r>
          </a:p>
          <a:p>
            <a:pPr algn="l">
              <a:spcAft>
                <a:spcPts val="300"/>
              </a:spcAft>
            </a:pPr>
            <a:r>
              <a:rPr sz="1150" b="0">
                <a:solidFill>
                  <a:srgbClr val="222222"/>
                </a:solidFill>
                <a:latin typeface="Calibri"/>
              </a:rPr>
              <a:t/>
            </a:r>
          </a:p>
          <a:p>
            <a:pPr algn="l">
              <a:spcAft>
                <a:spcPts val="300"/>
              </a:spcAft>
            </a:pPr>
            <a:r>
              <a:rPr sz="1150" b="0">
                <a:solidFill>
                  <a:srgbClr val="222222"/>
                </a:solidFill>
                <a:latin typeface="Calibri"/>
              </a:rPr>
              <a:t>OPEN AND WAITING ON SOMEONE ELSE</a:t>
            </a:r>
          </a:p>
          <a:p>
            <a:pPr algn="l">
              <a:spcAft>
                <a:spcPts val="300"/>
              </a:spcAft>
            </a:pPr>
            <a:r>
              <a:rPr sz="1150" b="0">
                <a:solidFill>
                  <a:srgbClr val="222222"/>
                </a:solidFill>
                <a:latin typeface="Calibri"/>
              </a:rPr>
              <a:t>• PainFace needs an account at painface.net that only Hansol can create. The converted clips are already staged.</a:t>
            </a:r>
          </a:p>
          <a:p>
            <a:pPr algn="l">
              <a:spcAft>
                <a:spcPts val="300"/>
              </a:spcAft>
            </a:pPr>
            <a:r>
              <a:rPr sz="1150" b="0">
                <a:solidFill>
                  <a:srgbClr val="222222"/>
                </a:solidFill>
                <a:latin typeface="Calibri"/>
              </a:rPr>
              <a:t>• Whether the 4 face-poke animals overlap with any melittin animal has not been confirmed. If they do, slide 4 could be made within-animal too.</a:t>
            </a:r>
          </a:p>
          <a:p>
            <a:pPr algn="l">
              <a:spcAft>
                <a:spcPts val="300"/>
              </a:spcAft>
            </a:pPr>
            <a:r>
              <a:rPr sz="1150" b="0">
                <a:solidFill>
                  <a:srgbClr val="222222"/>
                </a:solidFill>
                <a:latin typeface="Calibri"/>
              </a:rPr>
              <a:t/>
            </a:r>
          </a:p>
          <a:p>
            <a:pPr algn="l">
              <a:spcAft>
                <a:spcPts val="300"/>
              </a:spcAft>
            </a:pPr>
            <a:r>
              <a:rPr sz="1150" b="0">
                <a:solidFill>
                  <a:srgbClr val="222222"/>
                </a:solidFill>
                <a:latin typeface="Calibri"/>
              </a:rPr>
              <a:t>NOT CLAIMED ANYWHERE IN THIS DECK</a:t>
            </a:r>
          </a:p>
          <a:p>
            <a:pPr algn="l">
              <a:spcAft>
                <a:spcPts val="300"/>
              </a:spcAft>
            </a:pPr>
            <a:r>
              <a:rPr sz="1150" b="0">
                <a:solidFill>
                  <a:srgbClr val="222222"/>
                </a:solidFill>
                <a:latin typeface="Calibri"/>
              </a:rPr>
              <a:t>• That any of these cells are nociceptive specifically. The face-poke paradigm does not separate pain from touch or from surprise; that separation needs the behavioural arm working.</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11480" y="201168"/>
            <a:ext cx="11384280" cy="548640"/>
          </a:xfrm>
          <a:prstGeom prst="rect">
            <a:avLst/>
          </a:prstGeom>
          <a:noFill/>
        </p:spPr>
        <p:txBody>
          <a:bodyPr wrap="square">
            <a:spAutoFit/>
          </a:bodyPr>
          <a:lstStyle/>
          <a:p>
            <a:pPr algn="l">
              <a:spcAft>
                <a:spcPts val="400"/>
              </a:spcAft>
            </a:pPr>
            <a:r>
              <a:rPr sz="2200" b="1">
                <a:solidFill>
                  <a:srgbClr val="1F3A5F"/>
                </a:solidFill>
                <a:latin typeface="Calibri"/>
              </a:rPr>
              <a:t>S6.  Methods — the region-level tests on slides 3 and 5</a:t>
            </a:r>
          </a:p>
        </p:txBody>
      </p:sp>
      <p:sp>
        <p:nvSpPr>
          <p:cNvPr id="3" name="TextBox 2"/>
          <p:cNvSpPr txBox="1"/>
          <p:nvPr/>
        </p:nvSpPr>
        <p:spPr>
          <a:xfrm>
            <a:off x="475488" y="914400"/>
            <a:ext cx="5577840" cy="5577840"/>
          </a:xfrm>
          <a:prstGeom prst="rect">
            <a:avLst/>
          </a:prstGeom>
          <a:noFill/>
        </p:spPr>
        <p:txBody>
          <a:bodyPr wrap="square">
            <a:spAutoFit/>
          </a:bodyPr>
          <a:lstStyle/>
          <a:p>
            <a:pPr algn="l">
              <a:spcAft>
                <a:spcPts val="300"/>
              </a:spcAft>
            </a:pPr>
            <a:r>
              <a:rPr sz="1150" b="0">
                <a:solidFill>
                  <a:srgbClr val="222222"/>
                </a:solidFill>
                <a:latin typeface="Calibri"/>
              </a:rPr>
              <a:t>ENRICHMENT  (slides 2, 3, 6)</a:t>
            </a:r>
          </a:p>
          <a:p>
            <a:pPr algn="l">
              <a:spcAft>
                <a:spcPts val="300"/>
              </a:spcAft>
            </a:pPr>
            <a:r>
              <a:rPr sz="1150" b="0">
                <a:solidFill>
                  <a:srgbClr val="222222"/>
                </a:solidFill>
                <a:latin typeface="Calibri"/>
              </a:rPr>
              <a:t>Fold enrichment = that Allen area's response rate ÷ the cortex-wide rate of the SAME arm. Areas with ≥ 300 cells only. Two-sided binomial test of each area against the cortex-wide rate, Benjamini-Hochberg FDR across the areas tested (19 for face poke, 27 for melittin).</a:t>
            </a:r>
          </a:p>
          <a:p>
            <a:pPr algn="l">
              <a:spcAft>
                <a:spcPts val="300"/>
              </a:spcAft>
            </a:pPr>
            <a:r>
              <a:rPr sz="1150" b="0">
                <a:solidFill>
                  <a:srgbClr val="222222"/>
                </a:solidFill>
                <a:latin typeface="Calibri"/>
              </a:rPr>
              <a:t>Dividing by each arm's own base rate is what makes the two paradigms comparable despite base rates of 8.6 % and 28.3 % — see supplement S2.</a:t>
            </a:r>
          </a:p>
          <a:p>
            <a:pPr algn="l">
              <a:spcAft>
                <a:spcPts val="300"/>
              </a:spcAft>
            </a:pPr>
            <a:r>
              <a:rPr sz="1150" b="0">
                <a:solidFill>
                  <a:srgbClr val="222222"/>
                </a:solidFill>
                <a:latin typeface="Calibri"/>
              </a:rPr>
              <a:t/>
            </a:r>
          </a:p>
          <a:p>
            <a:pPr algn="l">
              <a:spcAft>
                <a:spcPts val="300"/>
              </a:spcAft>
            </a:pPr>
            <a:r>
              <a:rPr sz="1150" b="0">
                <a:solidFill>
                  <a:srgbClr val="222222"/>
                </a:solidFill>
                <a:latin typeface="Calibri"/>
              </a:rPr>
              <a:t>A–P GRADIENT  (slides 2, 3)</a:t>
            </a:r>
          </a:p>
          <a:p>
            <a:pPr algn="l">
              <a:spcAft>
                <a:spcPts val="300"/>
              </a:spcAft>
            </a:pPr>
            <a:r>
              <a:rPr sz="1150" b="0">
                <a:solidFill>
                  <a:srgbClr val="222222"/>
                </a:solidFill>
                <a:latin typeface="Calibri"/>
              </a:rPr>
              <a:t>Each recording is split at its OWN median AP_mm, so the result does not depend on how far forward that FOV happened to sit. Wilcoxon signed-rank on the paired anterior/posterior fractions.</a:t>
            </a:r>
          </a:p>
          <a:p>
            <a:pPr algn="l">
              <a:spcAft>
                <a:spcPts val="300"/>
              </a:spcAft>
            </a:pPr>
            <a:r>
              <a:rPr sz="1150" b="0">
                <a:solidFill>
                  <a:srgbClr val="222222"/>
                </a:solidFill>
                <a:latin typeface="Calibri"/>
              </a:rPr>
              <a:t>Unit of analysis: face poke n = 18 recordings; melittin n = 4 mice, because mirror1 and mirror2 are two recordings of the SAME session covering the same bilateral FOV. They are technical replicates, not independent samples.</a:t>
            </a:r>
          </a:p>
          <a:p>
            <a:pPr algn="l">
              <a:spcAft>
                <a:spcPts val="300"/>
              </a:spcAft>
            </a:pPr>
            <a:r>
              <a:rPr sz="1150" b="0">
                <a:solidFill>
                  <a:srgbClr val="222222"/>
                </a:solidFill>
                <a:latin typeface="Calibri"/>
              </a:rPr>
              <a:t>At n = 4 a two-sided signed-rank test floors at p = 0.125, so it cannot reach significance however consistent the animals are. 'Not demonstrable' ≠ 'absent'.</a:t>
            </a:r>
          </a:p>
          <a:p>
            <a:pPr algn="l">
              <a:spcAft>
                <a:spcPts val="300"/>
              </a:spcAft>
            </a:pPr>
            <a:r>
              <a:rPr sz="1150" b="0">
                <a:solidFill>
                  <a:srgbClr val="222222"/>
                </a:solidFill>
                <a:latin typeface="Calibri"/>
              </a:rPr>
              <a:t/>
            </a:r>
          </a:p>
          <a:p>
            <a:pPr algn="l">
              <a:spcAft>
                <a:spcPts val="300"/>
              </a:spcAft>
            </a:pPr>
            <a:r>
              <a:rPr sz="1150" b="0">
                <a:solidFill>
                  <a:srgbClr val="222222"/>
                </a:solidFill>
                <a:latin typeface="Calibri"/>
              </a:rPr>
              <a:t>WITHIN-ANIMAL REGION HETEROGENEITY  (slide 5, panel A)</a:t>
            </a:r>
          </a:p>
          <a:p>
            <a:pPr algn="l">
              <a:spcAft>
                <a:spcPts val="300"/>
              </a:spcAft>
            </a:pPr>
            <a:r>
              <a:rPr sz="1150" b="0">
                <a:solidFill>
                  <a:srgbClr val="222222"/>
                </a:solidFill>
                <a:latin typeface="Calibri"/>
              </a:rPr>
              <a:t>Per isocortical area with ≥ 100 cells in both arms, the 2×2 table (up / not-up) × (melittin / melittin+morphine) gives a log odds ratio and its SE, with a Haldane–Anscombe 0.5 correction so a zero count cannot break the log.</a:t>
            </a:r>
          </a:p>
          <a:p>
            <a:pPr algn="l">
              <a:spcAft>
                <a:spcPts val="300"/>
              </a:spcAft>
            </a:pPr>
            <a:r>
              <a:rPr sz="1150" b="0">
                <a:solidFill>
                  <a:srgbClr val="222222"/>
                </a:solidFill>
                <a:latin typeface="Calibri"/>
              </a:rPr>
              <a:t>Inverse-variance pooling gives that animal's overall log OR.</a:t>
            </a:r>
          </a:p>
          <a:p>
            <a:pPr algn="l">
              <a:spcAft>
                <a:spcPts val="300"/>
              </a:spcAft>
            </a:pPr>
            <a:r>
              <a:rPr sz="1150" b="0">
                <a:solidFill>
                  <a:srgbClr val="222222"/>
                </a:solidFill>
                <a:latin typeface="Calibri"/>
              </a:rPr>
              <a:t>Cochran's Q = Σ wᵢ(logORᵢ − logOR_pool)², wᵢ = 1/SEᵢ², df = K−1, χ². I² = (Q−df)/Q.</a:t>
            </a:r>
          </a:p>
          <a:p>
            <a:pPr algn="l">
              <a:spcAft>
                <a:spcPts val="300"/>
              </a:spcAft>
            </a:pPr>
            <a:r>
              <a:rPr sz="1150" b="0">
                <a:solidFill>
                  <a:srgbClr val="222222"/>
                </a:solidFill>
                <a:latin typeface="Calibri"/>
              </a:rPr>
              <a:t>A significant Q means the effect differs between areas.</a:t>
            </a:r>
          </a:p>
        </p:txBody>
      </p:sp>
      <p:sp>
        <p:nvSpPr>
          <p:cNvPr id="4" name="TextBox 3"/>
          <p:cNvSpPr txBox="1"/>
          <p:nvPr/>
        </p:nvSpPr>
        <p:spPr>
          <a:xfrm>
            <a:off x="6281927" y="914400"/>
            <a:ext cx="5577840" cy="5577840"/>
          </a:xfrm>
          <a:prstGeom prst="rect">
            <a:avLst/>
          </a:prstGeom>
          <a:noFill/>
        </p:spPr>
        <p:txBody>
          <a:bodyPr wrap="square">
            <a:spAutoFit/>
          </a:bodyPr>
          <a:lstStyle/>
          <a:p>
            <a:pPr algn="l">
              <a:spcAft>
                <a:spcPts val="300"/>
              </a:spcAft>
            </a:pPr>
            <a:r>
              <a:rPr sz="1150" b="0">
                <a:solidFill>
                  <a:srgbClr val="222222"/>
                </a:solidFill>
                <a:latin typeface="Calibri"/>
              </a:rPr>
              <a:t>WHAT COCHRAN'S Q DOES AND DOES NOT LICENSE</a:t>
            </a:r>
          </a:p>
          <a:p>
            <a:pPr algn="l">
              <a:spcAft>
                <a:spcPts val="300"/>
              </a:spcAft>
            </a:pPr>
            <a:r>
              <a:rPr sz="1150" b="0">
                <a:solidFill>
                  <a:srgbClr val="222222"/>
                </a:solidFill>
                <a:latin typeface="Calibri"/>
              </a:rPr>
              <a:t>The sample in that test is CELLS inside one animal. That is the right unit for asking whether regions differ within that animal, and the wrong unit for asking whether morphine is region-specific in general. Treating cells as independent animals would turn Q = 129 into a false headline — which is why slide 5 has a panel B.</a:t>
            </a:r>
          </a:p>
          <a:p>
            <a:pPr algn="l">
              <a:spcAft>
                <a:spcPts val="300"/>
              </a:spcAft>
            </a:pPr>
            <a:r>
              <a:rPr sz="1150" b="0">
                <a:solidFill>
                  <a:srgbClr val="222222"/>
                </a:solidFill>
                <a:latin typeface="Calibri"/>
              </a:rPr>
              <a:t/>
            </a:r>
          </a:p>
          <a:p>
            <a:pPr algn="l">
              <a:spcAft>
                <a:spcPts val="300"/>
              </a:spcAft>
            </a:pPr>
            <a:r>
              <a:rPr sz="1150" b="0">
                <a:solidFill>
                  <a:srgbClr val="222222"/>
                </a:solidFill>
                <a:latin typeface="Calibri"/>
              </a:rPr>
              <a:t>CROSS-ANIMAL REPRODUCIBILITY  (slide 5, panel B)</a:t>
            </a:r>
          </a:p>
          <a:p>
            <a:pPr algn="l">
              <a:spcAft>
                <a:spcPts val="300"/>
              </a:spcAft>
            </a:pPr>
            <a:r>
              <a:rPr sz="1150" b="0">
                <a:solidFill>
                  <a:srgbClr val="222222"/>
                </a:solidFill>
                <a:latin typeface="Calibri"/>
              </a:rPr>
              <a:t>Per-area log ORs from the two animals, same 22 areas, correlated with Pearson and Spearman. Direction agreement tested against chance with a two-sided binomial (null 0.5). 95 % CI overlap counted per area.</a:t>
            </a:r>
          </a:p>
          <a:p>
            <a:pPr algn="l">
              <a:spcAft>
                <a:spcPts val="300"/>
              </a:spcAft>
            </a:pPr>
            <a:r>
              <a:rPr sz="1150" b="0">
                <a:solidFill>
                  <a:srgbClr val="222222"/>
                </a:solidFill>
                <a:latin typeface="Calibri"/>
              </a:rPr>
              <a:t>All four read the same way: r = +0.10, ρ = +0.10, 11/22 directions, CIs overlap in 14/22.</a:t>
            </a:r>
          </a:p>
          <a:p>
            <a:pPr algn="l">
              <a:spcAft>
                <a:spcPts val="300"/>
              </a:spcAft>
            </a:pPr>
            <a:r>
              <a:rPr sz="1150" b="0">
                <a:solidFill>
                  <a:srgbClr val="222222"/>
                </a:solidFill>
                <a:latin typeface="Calibri"/>
              </a:rPr>
              <a:t/>
            </a:r>
          </a:p>
          <a:p>
            <a:pPr algn="l">
              <a:spcAft>
                <a:spcPts val="300"/>
              </a:spcAft>
            </a:pPr>
            <a:r>
              <a:rPr sz="1150" b="0">
                <a:solidFill>
                  <a:srgbClr val="222222"/>
                </a:solidFill>
                <a:latin typeface="Calibri"/>
              </a:rPr>
              <a:t>THE REGRESSION-TO-THE-MEAN NULL  (not on the slide)</a:t>
            </a:r>
          </a:p>
          <a:p>
            <a:pPr algn="l">
              <a:spcAft>
                <a:spcPts val="300"/>
              </a:spcAft>
            </a:pPr>
            <a:r>
              <a:rPr sz="1150" b="0">
                <a:solidFill>
                  <a:srgbClr val="222222"/>
                </a:solidFill>
                <a:latin typeface="Calibri"/>
              </a:rPr>
              <a:t>Correlating an area's melittin rate (x) against its morphine-minus-melittin change (y) is biased negative by construction: the noise in x re-enters y with a minus sign. Both arms were resampled 2,000× at each area's pooled rate (default_rng(0)) to size that bias. Null mean ≈ −0.10, 95 % range ≈ −0.48 to +0.31; the observed values sit at the 2nd and 27th percentile.</a:t>
            </a:r>
          </a:p>
          <a:p>
            <a:pPr algn="l">
              <a:spcAft>
                <a:spcPts val="300"/>
              </a:spcAft>
            </a:pPr>
            <a:r>
              <a:rPr sz="1150" b="0">
                <a:solidFill>
                  <a:srgbClr val="222222"/>
                </a:solidFill>
                <a:latin typeface="Calibri"/>
              </a:rPr>
              <a:t/>
            </a:r>
          </a:p>
          <a:p>
            <a:pPr algn="l">
              <a:spcAft>
                <a:spcPts val="300"/>
              </a:spcAft>
            </a:pPr>
            <a:r>
              <a:rPr sz="1150" b="0">
                <a:solidFill>
                  <a:srgbClr val="222222"/>
                </a:solidFill>
                <a:latin typeface="Calibri"/>
              </a:rPr>
              <a:t>DESIGN LIMIT, STATED ONCE</a:t>
            </a:r>
          </a:p>
          <a:p>
            <a:pPr algn="l">
              <a:spcAft>
                <a:spcPts val="300"/>
              </a:spcAft>
            </a:pPr>
            <a:r>
              <a:rPr sz="1150" b="0">
                <a:solidFill>
                  <a:srgbClr val="222222"/>
                </a:solidFill>
                <a:latin typeface="Calibri"/>
              </a:rPr>
              <a:t>No morphine-alone arm, no morphine + face-poke arm. Morphine exists only as melittin + morphine, in two animals. Every morphine number inherits that n = 2.</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