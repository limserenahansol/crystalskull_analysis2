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3A5F"/>
                </a:solidFill>
                <a:latin typeface="Calibri"/>
              </a:defRPr>
            </a:pPr>
            <a:r>
              <a:t>Crystal skull: face poke vs melittin vs melittin + morphine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Calibri"/>
              </a:defRPr>
            </a:pPr>
            <a:r>
              <a:t>One combined analysis of both candidate pain paradigms, so we can pick one for the SBI drug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D5C63"/>
                </a:solidFill>
                <a:latin typeface="Calibri"/>
              </a:defRPr>
            </a:pPr>
            <a:r>
              <a:t>Face poke   18 recordings · 4 mice · 43,156 cells   (13 + 18 Aug 2025)</a:t>
            </a:r>
            <a:br/>
            <a:r>
              <a:t>Melittin only   8 recordings · 4 mice · 81,834 cells</a:t>
            </a:r>
            <a:br/>
            <a:r>
              <a:t>Melittin + morphine   4 recordings · 2 mice · 62,533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Hansol Lim · Schnitzer lab · 9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Why this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600" b="1">
                <a:solidFill>
                  <a:srgbClr val="1F3A5F"/>
                </a:solidFill>
                <a:latin typeface="Calibri"/>
              </a:defRPr>
            </a:pPr>
            <a:r>
              <a:t>Mark asked four things:</a:t>
            </a:r>
          </a:p>
          <a:p>
            <a:pPr algn="l">
              <a:spcAft>
                <a:spcPts val="110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1.  How many cells per mouse were excited vs inhibited?</a:t>
            </a:r>
          </a:p>
          <a:p>
            <a:pPr algn="l">
              <a:spcAft>
                <a:spcPts val="110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2.  Which Allen brain areas do they sit in?</a:t>
            </a:r>
          </a:p>
          <a:p>
            <a:pPr algn="l">
              <a:spcAft>
                <a:spcPts val="110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3.  How will we separate pain- / touch- / surprise-responsive cells?</a:t>
            </a:r>
          </a:p>
          <a:p>
            <a:pPr algn="l">
              <a:spcAft>
                <a:spcPts val="110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4.  How were the excited/inhibited cells affected by drug?</a:t>
            </a:r>
          </a:p>
          <a:p>
            <a:pPr algn="l">
              <a:spcAft>
                <a:spcPts val="1100"/>
              </a:spcAft>
              <a:defRPr sz="1600" b="1">
                <a:solidFill>
                  <a:srgbClr val="1F3A5F"/>
                </a:solidFill>
                <a:latin typeface="Calibri"/>
              </a:defRPr>
            </a:pPr>
            <a:r>
              <a:t>Question 4 is the one that decides the project.</a:t>
            </a:r>
          </a:p>
          <a:p>
            <a:pPr algn="l">
              <a:spcAft>
                <a:spcPts val="110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Face poke has no drug arm — those 18 recordings were a feasibility test of the paradigm itself. Melittin does have a drug arm. So to answer 4 at all, both datasets are put through the same pipeline and the same figures here.</a:t>
            </a:r>
          </a:p>
          <a:p>
            <a:pPr algn="l">
              <a:spcAft>
                <a:spcPts val="1100"/>
              </a:spcAft>
              <a:defRPr sz="1600" b="1">
                <a:solidFill>
                  <a:srgbClr val="9B1B30"/>
                </a:solidFill>
                <a:latin typeface="Calibri"/>
              </a:defRPr>
            </a:pPr>
            <a:r>
              <a:t>The deck ends on a decision that you and Greg need to make.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Read this before comparing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400" b="1">
                <a:solidFill>
                  <a:srgbClr val="9B1B30"/>
                </a:solidFill>
                <a:latin typeface="Calibri"/>
              </a:defRPr>
            </a:pPr>
            <a:r>
              <a:t>The two paradigms do not measure the same thing, and the percentages are not interchangeable.</a:t>
            </a:r>
          </a:p>
          <a:p>
            <a:pPr algn="l">
              <a:spcAft>
                <a:spcPts val="1100"/>
              </a:spcAft>
              <a:defRPr sz="1400" b="1">
                <a:solidFill>
                  <a:srgbClr val="0D5C63"/>
                </a:solidFill>
                <a:latin typeface="Calibri"/>
              </a:defRPr>
            </a:pPr>
            <a:r>
              <a:t>Face poke — stimulus-locked, within one session.</a:t>
            </a:r>
          </a:p>
          <a:p>
            <a:pPr algn="l">
              <a:spcAft>
                <a:spcPts val="1100"/>
              </a:spcAft>
              <a:defRPr sz="1400" b="0">
                <a:solidFill>
                  <a:srgbClr val="555555"/>
                </a:solidFill>
                <a:latin typeface="Calibri"/>
              </a:defRPr>
            </a:pPr>
            <a:r>
              <a:t>A cell counts as excited or inhibited if its peri-poke response differs from its own pre-poke baseline, across ~55 pokes. Same cells throughout. This is a phasic, trial-averaged measure.</a:t>
            </a:r>
          </a:p>
          <a:p>
            <a:pPr algn="l">
              <a:spcAft>
                <a:spcPts val="1100"/>
              </a:spcAft>
              <a:defRPr sz="1400" b="1">
                <a:solidFill>
                  <a:srgbClr val="B0710B"/>
                </a:solidFill>
                <a:latin typeface="Calibri"/>
              </a:defRPr>
            </a:pPr>
            <a:r>
              <a:t>Melittin — session-level, baseline movie vs injection movie.</a:t>
            </a:r>
          </a:p>
          <a:p>
            <a:pPr algn="l">
              <a:spcAft>
                <a:spcPts val="1100"/>
              </a:spcAft>
              <a:defRPr sz="1400" b="0">
                <a:solidFill>
                  <a:srgbClr val="555555"/>
                </a:solidFill>
                <a:latin typeface="Calibri"/>
              </a:defRPr>
            </a:pPr>
            <a:r>
              <a:t>A cell counts as up or down if its mean dF/F over the injection recording differs from the baseline-session mean. Baseline and injection are separate movies with independent EXTRACT IDs, so these are NOT tracked neurons. Both sessions are cropped to the shorter of the two.</a:t>
            </a:r>
          </a:p>
          <a:p>
            <a:pPr algn="l">
              <a:spcAft>
                <a:spcPts val="11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Consequence: the melittin fractions are much larger (~27% / ~64%) than the face-poke fractions (~9% / ~28%) largely because a sustained session-level shift is an easier thing to detect than a phasic response. Compare the two paradigms qualitatively, not number against number.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Q1  |  Excited vs inhibited cells, per mouse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Calibri"/>
              </a:defRPr>
            </a:pPr>
            <a:r>
              <a:t>The direction of the effect is consistent in every animal, in all three conditions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Fig 1  |  Excited vs inhibited across the three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Per-recording fractions, mean +/- SD, each dot one recording. Right: every recording plotted.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All three conditions are inhibition-dominated. Face poke ~9% up / ~28% down; melittin ~27% / ~64%; adding morphine does not move the split.</a:t>
            </a:r>
          </a:p>
        </p:txBody>
      </p:sp>
      <p:pic>
        <p:nvPicPr>
          <p:cNvPr id="4" name="Picture 3" descr="fig1_fractions_three_paradig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1513"/>
            <a:ext cx="11612880" cy="44664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Fig 2  |  Cells excited vs inhibited, per mouse  (Mark's question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Cells pooled within each animal, expressed as % of that animal's cells.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Every mouse shows the same direction. Face poke: inhibition ~3x more common than excitation in 4/4 animals. Melittin: down ~2.3x up in 4/4. No animal reverses.</a:t>
            </a:r>
          </a:p>
        </p:txBody>
      </p:sp>
      <p:pic>
        <p:nvPicPr>
          <p:cNvPr id="4" name="Picture 3" descr="fig2_per_m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03980"/>
            <a:ext cx="11612880" cy="39815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Q1 numbers — face poke, per animal (18 recordings)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1088136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287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Animal (day)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Cells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Excited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Inhibited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Pop. sig.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87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555555"/>
                          </a:solidFill>
                        </a:defRPr>
                      </a:pPr>
                      <a:r>
                        <a:t>m1 (13 Aug)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9,705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896  (9.2%)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2,406  (24.8%)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4/4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87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555555"/>
                          </a:solidFill>
                        </a:defRPr>
                      </a:pPr>
                      <a:r>
                        <a:t>m201 (13 Aug)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15,467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1,151  (7.4%)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4,496  (29.1%)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5/6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87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555555"/>
                          </a:solidFill>
                        </a:defRPr>
                      </a:pPr>
                      <a:r>
                        <a:t>m3 (13 Aug)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3,685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475  (12.9%)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1,113  (30.2%)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2/2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87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555555"/>
                          </a:solidFill>
                        </a:defRPr>
                      </a:pPr>
                      <a:r>
                        <a:t>m200 (18 Aug)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5,681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553  (9.7%)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1,105  (19.5%)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0/2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87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555555"/>
                          </a:solidFill>
                        </a:defRPr>
                      </a:pPr>
                      <a:r>
                        <a:t>m201 (18 Aug)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8,618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644  (7.5%)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2,788  (32.4%)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3/4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87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555555"/>
                          </a:solidFill>
                        </a:defRPr>
                      </a:pPr>
                      <a: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43,156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3,719  (8.6%)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11,908  (27.6%)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14/18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Q2  |  Which Allen areas?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Calibri"/>
              </a:defRPr>
            </a:pPr>
            <a:r>
              <a:t>Honest answer: not yet — the FOVs are not registered to the Allen CCF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Q2  |  What we can say today: a consistent anterior-posterior gradient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Correlation between each cell's A-P position and its poke response, one value per recording, mirror2 flipped to align with mirror1.</a:t>
            </a:r>
          </a:p>
          <a:p>
            <a:pPr algn="l">
              <a:defRPr sz="1300" b="1">
                <a:solidFill>
                  <a:srgbClr val="B0710B"/>
                </a:solidFill>
                <a:latin typeface="Calibri"/>
              </a:defRPr>
            </a:pPr>
            <a:r>
              <a:t>Result:  Excitation biased anterior, inhibition biased posterior, in 18/18 recordings (median rho = 0.13, range 0.03-0.23). But 'anterior' here is the image axis after the mirror flip, NOT a bregma-referenced coordinate — so no Allen area names yet.</a:t>
            </a:r>
          </a:p>
        </p:txBody>
      </p:sp>
      <p:pic>
        <p:nvPicPr>
          <p:cNvPr id="4" name="Picture 3" descr="takehome_anterior_pos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195" y="960120"/>
            <a:ext cx="1001312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Q2  |  What it would take to name Allen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600" b="1">
                <a:solidFill>
                  <a:srgbClr val="9B1B30"/>
                </a:solidFill>
                <a:latin typeface="Calibri"/>
              </a:defRPr>
            </a:pPr>
            <a:r>
              <a:t>Today the crystal-skull FOVs have no CCF registration at all.</a:t>
            </a:r>
          </a:p>
          <a:p>
            <a:pPr algn="l">
              <a:spcAft>
                <a:spcPts val="110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Landmark-based warp of each FOV to the Allen dorsal-cortex map: bregma and lambda from the skull image, plus the midline and the transverse sinus as anchors.</a:t>
            </a:r>
          </a:p>
          <a:p>
            <a:pPr algn="l">
              <a:spcAft>
                <a:spcPts val="110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That gives per-cell area labels (SSp-bfd, SSp-m, MOp, MOs, RSP, VISp ...) and lets us report excited/inhibited counts per area, per mouse, and compare across animals.</a:t>
            </a:r>
          </a:p>
          <a:p>
            <a:pPr algn="l">
              <a:spcAft>
                <a:spcPts val="110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It also links this dataset to the TRAP whole-brain and GPCR atlases, which are already in CCF space.</a:t>
            </a:r>
          </a:p>
          <a:p>
            <a:pPr algn="l">
              <a:spcAft>
                <a:spcPts val="1100"/>
              </a:spcAft>
              <a:defRPr sz="1600" b="1">
                <a:solidFill>
                  <a:srgbClr val="1F3A5F"/>
                </a:solidFill>
                <a:latin typeface="Calibri"/>
              </a:defRPr>
            </a:pPr>
            <a:r>
              <a:t>I would rather build the registration once, on whichever paradigm we commit to, than build it twice. That is one more reason the paradigm decision comes first.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Q3  |  Pain vs touch vs surprise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Calibri"/>
              </a:defRPr>
            </a:pPr>
            <a:r>
              <a:t>This dataset cannot separate them, and no reanalysis will fix that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Q3  |  Why the current face-poke data cannot answer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500" b="1">
                <a:solidFill>
                  <a:srgbClr val="9B1B30"/>
                </a:solidFill>
                <a:latin typeface="Calibri"/>
              </a:defRPr>
            </a:pPr>
            <a:r>
              <a:t>There is one stimulus, delivered one way. There is no contrast to dissociate the categories.</a:t>
            </a:r>
          </a:p>
          <a:p>
            <a:pPr algn="l">
              <a:spcAft>
                <a:spcPts val="1100"/>
              </a:spcAft>
              <a:defRPr sz="1500" b="0">
                <a:solidFill>
                  <a:srgbClr val="555555"/>
                </a:solidFill>
                <a:latin typeface="Calibri"/>
              </a:defRPr>
            </a:pPr>
            <a:r>
              <a:t>A face poke is simultaneously a touch, a noxious event and an unexpected event. Any cell that responds is consistent with all three labels. Splitting them post hoc would be curve-fitting.</a:t>
            </a:r>
          </a:p>
          <a:p>
            <a:pPr algn="l">
              <a:spcAft>
                <a:spcPts val="11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What would actually answer it — one session, interleaved trials:</a:t>
            </a:r>
          </a:p>
          <a:p>
            <a:pPr algn="l">
              <a:spcAft>
                <a:spcPts val="1100"/>
              </a:spcAft>
              <a:defRPr sz="1500" b="0">
                <a:solidFill>
                  <a:srgbClr val="555555"/>
                </a:solidFill>
                <a:latin typeface="Calibri"/>
              </a:defRPr>
            </a:pPr>
            <a:r>
              <a:t>•  innocuous brush or air puff        -&gt; touch</a:t>
            </a:r>
          </a:p>
          <a:p>
            <a:pPr algn="l">
              <a:spcAft>
                <a:spcPts val="1100"/>
              </a:spcAft>
              <a:defRPr sz="1500" b="0">
                <a:solidFill>
                  <a:srgbClr val="555555"/>
                </a:solidFill>
                <a:latin typeface="Calibri"/>
              </a:defRPr>
            </a:pPr>
            <a:r>
              <a:t>•  calibrated von Frey / noxious pinch or radiant heat   -&gt; pain, graded intensity</a:t>
            </a:r>
          </a:p>
          <a:p>
            <a:pPr algn="l">
              <a:spcAft>
                <a:spcPts val="1100"/>
              </a:spcAft>
              <a:defRPr sz="1500" b="0">
                <a:solidFill>
                  <a:srgbClr val="555555"/>
                </a:solidFill>
                <a:latin typeface="Calibri"/>
              </a:defRPr>
            </a:pPr>
            <a:r>
              <a:t>•  unexpected tone or light flash     -&gt; surprise, non-somatosensory</a:t>
            </a:r>
          </a:p>
          <a:p>
            <a:pPr algn="l">
              <a:spcAft>
                <a:spcPts val="1100"/>
              </a:spcAft>
              <a:defRPr sz="1500" b="0">
                <a:solidFill>
                  <a:srgbClr val="555555"/>
                </a:solidFill>
                <a:latin typeface="Calibri"/>
              </a:defRPr>
            </a:pPr>
            <a:r>
              <a:t>•  stimulus-omission catch trials     -&gt; expectation / prediction error</a:t>
            </a:r>
          </a:p>
          <a:p>
            <a:pPr algn="l">
              <a:spcAft>
                <a:spcPts val="1100"/>
              </a:spcAft>
              <a:defRPr sz="1500" b="0">
                <a:solidFill>
                  <a:srgbClr val="555555"/>
                </a:solidFill>
                <a:latin typeface="Calibri"/>
              </a:defRPr>
            </a:pPr>
            <a:r>
              <a:t>•  same cells across all trial types, so each cell gets a response profile rather than one number</a:t>
            </a:r>
          </a:p>
          <a:p>
            <a:pPr algn="l">
              <a:spcAft>
                <a:spcPts val="11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Then a cell is 'pain-responsive' if it scales with noxious intensity and not with brush, rather than because we called the stimulus painful. This is a different experiment from what we have.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Q4  |  Drug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Calibri"/>
              </a:defRPr>
            </a:pPr>
            <a:r>
              <a:t>Face poke: no drug arm at all.  Melittin: morphine arm exists, and it points one way — but n = 2 mice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Fig 3  |  Melittin only vs melittin + morphine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Change in population mean dF/F, injection vs that animal's own baseline, as % of baseline. Left: per recording. Right: per mouse.</a:t>
            </a:r>
          </a:p>
          <a:p>
            <a:pPr algn="l">
              <a:defRPr sz="1300" b="1">
                <a:solidFill>
                  <a:srgbClr val="B0710B"/>
                </a:solidFill>
                <a:latin typeface="Calibri"/>
              </a:defRPr>
            </a:pPr>
            <a:r>
              <a:t>Result:  Melittin alone lowers population activity in 7/8 recordings (mean -8.5%). With morphine on board the shift is ~0 (-0.3%). But n = 4 vs 2 mice and it is not significant: p = 0.15 per recording, p = 0.27 per mouse.</a:t>
            </a:r>
          </a:p>
        </p:txBody>
      </p:sp>
      <p:pic>
        <p:nvPicPr>
          <p:cNvPr id="4" name="Picture 3" descr="fig3_drug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5087"/>
            <a:ext cx="11612880" cy="44593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Fig 4  |  Which way does morphine move the melittin response?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All four measures, melittin-only vs melittin + morphine, tested per recording and again per animal (the two mirrors of a session are not independent samples).</a:t>
            </a:r>
          </a:p>
          <a:p>
            <a:pPr algn="l">
              <a:defRPr sz="1300" b="1">
                <a:solidFill>
                  <a:srgbClr val="B0710B"/>
                </a:solidFill>
                <a:latin typeface="Calibri"/>
              </a:defRPr>
            </a:pPr>
            <a:r>
              <a:t>Result:  Direction is consistent: every measure that moves, moves toward MORE activity with morphine. Melittin alone suppresses the cortex; with morphine that suppression is gone. But only fraction-UP reaches p &lt; 0.05, and only at the recording level (p = 0.048); per animal it is p = 0.13 and nothing else is close.</a:t>
            </a:r>
          </a:p>
        </p:txBody>
      </p:sp>
      <p:pic>
        <p:nvPicPr>
          <p:cNvPr id="4" name="Picture 3" descr="fig4_morphine_direction.png"/>
          <p:cNvPicPr>
            <a:picLocks noChangeAspect="1"/>
          </p:cNvPicPr>
          <p:nvPr/>
        </p:nvPicPr>
        <p:blipFill>
          <a:blip r:embed="rId2"/>
          <a:srcRect t="15759" r="49869" b="5708"/>
          <a:stretch>
            <a:fillRect/>
          </a:stretch>
        </p:blipFill>
        <p:spPr>
          <a:xfrm>
            <a:off x="3104605" y="1952897"/>
            <a:ext cx="5821680" cy="33854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Q4  |  What we can and cannot say about morphine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300" b="1">
                <a:solidFill>
                  <a:srgbClr val="0D5C63"/>
                </a:solidFill>
                <a:latin typeface="Calibri"/>
              </a:defRPr>
            </a:pPr>
            <a:r>
              <a:t>Can say — melittin is a strong, repeatable pain read-out.</a:t>
            </a:r>
          </a:p>
          <a:p>
            <a:pPr algn="l">
              <a:spcAft>
                <a:spcPts val="1100"/>
              </a:spcAft>
              <a:defRPr sz="1300" b="0">
                <a:solidFill>
                  <a:srgbClr val="555555"/>
                </a:solidFill>
                <a:latin typeface="Calibri"/>
              </a:defRPr>
            </a:pPr>
            <a:r>
              <a:t>~27% of cells up and ~64% down relative to baseline, in 4/4 animals, with a net suppression of population activity of -8.5% in 7/8 recordings.</a:t>
            </a:r>
          </a:p>
          <a:p>
            <a:pPr algn="l">
              <a:spcAft>
                <a:spcPts val="1100"/>
              </a:spcAft>
              <a:defRPr sz="1300" b="1">
                <a:solidFill>
                  <a:srgbClr val="0D5C63"/>
                </a:solidFill>
                <a:latin typeface="Calibri"/>
              </a:defRPr>
            </a:pPr>
            <a:r>
              <a:t>Can say — the direction of the morphine effect is consistent.</a:t>
            </a:r>
          </a:p>
          <a:p>
            <a:pPr algn="l">
              <a:spcAft>
                <a:spcPts val="1100"/>
              </a:spcAft>
              <a:defRPr sz="1300" b="0">
                <a:solidFill>
                  <a:srgbClr val="555555"/>
                </a:solidFill>
                <a:latin typeface="Calibri"/>
              </a:defRPr>
            </a:pPr>
            <a:r>
              <a:t>With morphine on board there are more cells above baseline (27.2% -&gt; 31.4%) and the net suppression is abolished (-8.5% -&gt; -0.3%). Read physiologically: morphine reverses the melittin-induced cortical suppression. Nothing moves the other way.</a:t>
            </a:r>
          </a:p>
          <a:p>
            <a:pPr algn="l">
              <a:spcAft>
                <a:spcPts val="1100"/>
              </a:spcAft>
              <a:defRPr sz="1300" b="1">
                <a:solidFill>
                  <a:srgbClr val="9B1B30"/>
                </a:solidFill>
                <a:latin typeface="Calibri"/>
              </a:defRPr>
            </a:pPr>
            <a:r>
              <a:t>Cannot say — that this is an established effect.</a:t>
            </a:r>
          </a:p>
          <a:p>
            <a:pPr algn="l">
              <a:spcAft>
                <a:spcPts val="1100"/>
              </a:spcAft>
              <a:defRPr sz="1300" b="0">
                <a:solidFill>
                  <a:srgbClr val="555555"/>
                </a:solidFill>
                <a:latin typeface="Calibri"/>
              </a:defRPr>
            </a:pPr>
            <a:r>
              <a:t>Only fraction-UP crosses p &lt; 0.05, and only if the two mirrors of one session are counted as independent samples. At the animal level (n = 4 vs 2) nothing is significant: fraction UP p = 0.13, net population p = 0.27, UP amplitude p = 0.53.</a:t>
            </a:r>
          </a:p>
          <a:p>
            <a:pPr algn="l">
              <a:spcAft>
                <a:spcPts val="1100"/>
              </a:spcAft>
              <a:defRPr sz="1300" b="1">
                <a:solidFill>
                  <a:srgbClr val="9B1B30"/>
                </a:solidFill>
                <a:latin typeface="Calibri"/>
              </a:defRPr>
            </a:pPr>
            <a:r>
              <a:t>Cannot say — anything about 'the neurons'.</a:t>
            </a:r>
          </a:p>
          <a:p>
            <a:pPr algn="l">
              <a:spcAft>
                <a:spcPts val="1100"/>
              </a:spcAft>
              <a:defRPr sz="1300" b="0">
                <a:solidFill>
                  <a:srgbClr val="555555"/>
                </a:solidFill>
                <a:latin typeface="Calibri"/>
              </a:defRPr>
            </a:pPr>
            <a:r>
              <a:t>Baseline and injection are separate movies with independent EXTRACT IDs, so no cell is followed across the drug. Every statement here is about populations, not identified neurons.</a:t>
            </a:r>
          </a:p>
          <a:p>
            <a:pPr algn="l">
              <a:spcAft>
                <a:spcPts val="1100"/>
              </a:spcAft>
              <a:defRPr sz="1300" b="1">
                <a:solidFill>
                  <a:srgbClr val="1F3A5F"/>
                </a:solidFill>
                <a:latin typeface="Calibri"/>
              </a:defRPr>
            </a:pPr>
            <a:r>
              <a:t>Fix that is available today: if 1014m01b / 1014m02w are the same animals as CS1014-1b / CS1014-2w on a later day, this becomes a paired within-animal test on the same data. I need someone to confirm the animal identities.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Same visual language, both paradigms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Calibri"/>
              </a:defRPr>
            </a:pPr>
            <a:r>
              <a:t>Example single-cell traces and the maps of where those cells sit in the FOV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Face poke — example cells and their position in the FOV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Two excited and two inhibited cells per movie, EXTRACT activity with poke times, and the same cells marked on the mesoscope FOV (P left, A right).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Poke lock is visible cell by cell: excited cells rise after each poke, inhibited cells dip. E1/I1 more anterior, E2/I2 more posterior.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25833"/>
            <a:ext cx="5852160" cy="3680653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216364"/>
            <a:ext cx="5852160" cy="26995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2636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5C63"/>
                </a:solidFill>
                <a:latin typeface="Calibri"/>
              </a:defRPr>
            </a:pPr>
            <a:r>
              <a:t>Traces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62636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0710B"/>
                </a:solidFill>
                <a:latin typeface="Calibri"/>
              </a:defRPr>
            </a:pPr>
            <a:r>
              <a:t>FOV map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— example cells and their position in the FOV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Same panel design, but the comparison is injection vs baseline session rather than peri-poke, and the cell IDs are injection-session IDs.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Up and down cells are intermingled across the FOV, as with face poke.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9828"/>
            <a:ext cx="5852160" cy="3652663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224494"/>
            <a:ext cx="5852160" cy="26833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2636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5C63"/>
                </a:solidFill>
                <a:latin typeface="Calibri"/>
              </a:defRPr>
            </a:pPr>
            <a:r>
              <a:t>Traces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62636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0710B"/>
                </a:solidFill>
                <a:latin typeface="Calibri"/>
              </a:defRPr>
            </a:pPr>
            <a:r>
              <a:t>FOV map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Population view,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Left: face-poke peri-stimulus population response, pooled over 18 recordings. Right: melittin baseline vs injection population dF/F.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Face poke gives a brief transient, a short dip, then a rebound, time-locked to the poke. Melittin gives a slow sustained shift with no trial structure.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1975"/>
            <a:ext cx="5852160" cy="2788368"/>
          </a:xfrm>
          <a:prstGeom prst="rect">
            <a:avLst/>
          </a:prstGeom>
        </p:spPr>
      </p:pic>
      <p:pic>
        <p:nvPicPr>
          <p:cNvPr id="5" name="Picture 4" descr="fig1_population_ps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303020"/>
            <a:ext cx="5852160" cy="25262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2636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5C63"/>
                </a:solidFill>
                <a:latin typeface="Calibri"/>
              </a:defRPr>
            </a:pPr>
            <a:r>
              <a:t>Face poke (trial-locked)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62636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0710B"/>
                </a:solidFill>
                <a:latin typeface="Calibri"/>
              </a:defRPr>
            </a:pPr>
            <a:r>
              <a:t>Melittin (session-level)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Calibri"/>
              </a:defRPr>
            </a:pPr>
            <a:r>
              <a:t>Which paradigm do we build the SBI drug plan around?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Face poke vs melittin — what each buys 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1106424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20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Face poke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Melittin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555555"/>
                          </a:solidFill>
                        </a:defRPr>
                      </a:pPr>
                      <a:r>
                        <a:t>Pain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Phasic, mixed (touch + nox + surprise)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Sustained inflammatory-type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555555"/>
                          </a:solidFill>
                        </a:defRPr>
                      </a:pPr>
                      <a:r>
                        <a:t>Trials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~55 pokes per session, trial-locked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One injection, no trial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555555"/>
                          </a:solidFill>
                        </a:defRPr>
                      </a:pPr>
                      <a:r>
                        <a:t>Cell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Same cells throughout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Independent IDs BL vs INJ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555555"/>
                          </a:solidFill>
                        </a:defRPr>
                      </a:pPr>
                      <a:r>
                        <a:t>Statistics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Clean per-cell trial statistics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Session-level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555555"/>
                          </a:solidFill>
                        </a:defRPr>
                      </a:pPr>
                      <a:r>
                        <a:t>Drug 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None — no drug data at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Morphine exists (n = 2 mice, n.s.)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555555"/>
                          </a:solidFill>
                        </a:defRPr>
                      </a:pPr>
                      <a:r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Fast, repeatable, same animal over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Slow, one shot per session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20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555555"/>
                          </a:solidFill>
                        </a:defRPr>
                      </a:pPr>
                      <a:r>
                        <a:t>Best fit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Circuit mapping, stimulus panel designs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55555"/>
                          </a:solidFill>
                        </a:defRPr>
                      </a:pPr>
                      <a:r>
                        <a:t>Analgesic efficacy over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What I need from Mark and Greg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600" b="1">
                <a:solidFill>
                  <a:srgbClr val="1F3A5F"/>
                </a:solidFill>
                <a:latin typeface="Calibri"/>
              </a:defRPr>
            </a:pPr>
            <a:r>
              <a:t>Pick the paradigm. These are two different experimental plans and we should commit to one.</a:t>
            </a:r>
          </a:p>
          <a:p>
            <a:pPr algn="l">
              <a:spcAft>
                <a:spcPts val="110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If melittin: the immediate job is a proper drug design — vehicle arm, within-animal morphine, enough mice to power it. The current morphine data is suggestive at best and I would not build on it as it stands.</a:t>
            </a:r>
          </a:p>
          <a:p>
            <a:pPr algn="l">
              <a:spcAft>
                <a:spcPts val="110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If face poke: the immediate job is the stimulus panel from Q3, so pain / touch / surprise is answerable by design, plus a drug arm which currently does not exist.</a:t>
            </a:r>
          </a:p>
          <a:p>
            <a:pPr algn="l">
              <a:spcAft>
                <a:spcPts val="1100"/>
              </a:spcAft>
              <a:defRPr sz="1600" b="1">
                <a:solidFill>
                  <a:srgbClr val="0D5C63"/>
                </a:solidFill>
                <a:latin typeface="Calibri"/>
              </a:defRPr>
            </a:pPr>
            <a:r>
              <a:t>Either way I will add the Allen CCF registration once, on the chosen paradigm.</a:t>
            </a:r>
          </a:p>
          <a:p>
            <a:pPr algn="l">
              <a:spcAft>
                <a:spcPts val="1100"/>
              </a:spcAft>
              <a:defRPr sz="1600" b="1">
                <a:solidFill>
                  <a:srgbClr val="9B1B30"/>
                </a:solidFill>
                <a:latin typeface="Calibri"/>
              </a:defRPr>
            </a:pPr>
            <a:r>
              <a:t>I have paused crystal-skull imaging until this is settled — I would rather hold than collect another 18 recordings on the paradigm we end up not using.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3A5F"/>
                </a:solidFill>
                <a:latin typeface="Calibri"/>
              </a:defRPr>
            </a:pPr>
            <a:r>
              <a:t>Take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55555"/>
                </a:solidFill>
                <a:latin typeface="Calibri"/>
              </a:defRPr>
            </a:pPr>
            <a:r>
              <a:t>1.  Every mouse, in every condition, is inhibition-dominated. Face poke 8.6% excited vs 27.6% inhibited across 43,156 cells; melittin 27% up vs 64% down. No animal reverses.</a:t>
            </a:r>
            <a:br/>
            <a:br/>
            <a:r>
              <a:t>2.  No Allen area names yet — the FOVs are not CCF-registered. What is solid is the anterior-excited / posterior-inhibited gradient, 18/18 recordings.</a:t>
            </a:r>
            <a:br/>
            <a:br/>
            <a:r>
              <a:t>3.  Pain vs touch vs surprise cannot be separated in this dataset. It needs an interleaved stimulus panel, not more analysis.</a:t>
            </a:r>
            <a:br/>
            <a:br/>
            <a:r>
              <a:t>4.  Morphine moves the melittin response toward more activity, not less: more cells above baseline (27.2% -&gt; 31.4%) and the net cortical suppression abolished (-8.5% -&gt; -0.3%). The direction is consistent across every measure, but at the animal level (n = 4 vs 2, no vehicle arm) it is not significant. It is a trend worth designing for, not a result to build on.</a:t>
            </a:r>
            <a:br/>
            <a:br/>
            <a:r>
              <a:t>5.  So the drug question is still open on both paradigms, and the decision on which one to use is the blocking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3315</TotalTime>
  <Words>2288</Words>
  <Application>Microsoft Office PowerPoint</Application>
  <PresentationFormat>Widescreen</PresentationFormat>
  <Paragraphs>163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hansol lim</cp:lastModifiedBy>
  <cp:revision>2</cp:revision>
  <dcterms:created xsi:type="dcterms:W3CDTF">2013-01-27T09:14:16Z</dcterms:created>
  <dcterms:modified xsi:type="dcterms:W3CDTF">2026-09-12T02:10:41Z</dcterms:modified>
  <cp:category/>
</cp:coreProperties>
</file>