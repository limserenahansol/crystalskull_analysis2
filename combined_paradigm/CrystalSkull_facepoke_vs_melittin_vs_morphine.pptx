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10698480" cy="914400"/>
          </a:xfrm>
          <a:prstGeom prst="rect">
            <a:avLst/>
          </a:prstGeom>
          <a:noFill/>
        </p:spPr>
        <p:txBody>
          <a:bodyPr wrap="square">
            <a:spAutoFit/>
          </a:bodyPr>
          <a:lstStyle/>
          <a:p>
            <a:pPr algn="ctr">
              <a:defRPr sz="3000" b="1">
                <a:solidFill>
                  <a:srgbClr val="1F3A5F"/>
                </a:solidFill>
                <a:latin typeface="Calibri"/>
              </a:defRPr>
            </a:pPr>
            <a:r>
              <a:t>Crystal skull: face poke vs melittin vs melittin + morphine</a:t>
            </a:r>
          </a:p>
        </p:txBody>
      </p:sp>
      <p:sp>
        <p:nvSpPr>
          <p:cNvPr id="3" name="TextBox 2"/>
          <p:cNvSpPr txBox="1"/>
          <p:nvPr/>
        </p:nvSpPr>
        <p:spPr>
          <a:xfrm>
            <a:off x="914400" y="2834640"/>
            <a:ext cx="10332720" cy="822960"/>
          </a:xfrm>
          <a:prstGeom prst="rect">
            <a:avLst/>
          </a:prstGeom>
          <a:noFill/>
        </p:spPr>
        <p:txBody>
          <a:bodyPr wrap="square">
            <a:spAutoFit/>
          </a:bodyPr>
          <a:lstStyle/>
          <a:p>
            <a:pPr algn="ctr">
              <a:defRPr sz="1700" b="0">
                <a:solidFill>
                  <a:srgbClr val="555555"/>
                </a:solidFill>
                <a:latin typeface="Calibri"/>
              </a:defRPr>
            </a:pPr>
            <a:r>
              <a:t>One combined analysis of both candidate pain paradigms, so we can pick one for the SBI drug work</a:t>
            </a:r>
          </a:p>
        </p:txBody>
      </p:sp>
      <p:sp>
        <p:nvSpPr>
          <p:cNvPr id="4" name="TextBox 3"/>
          <p:cNvSpPr txBox="1"/>
          <p:nvPr/>
        </p:nvSpPr>
        <p:spPr>
          <a:xfrm>
            <a:off x="914400" y="3931920"/>
            <a:ext cx="10332720" cy="1463040"/>
          </a:xfrm>
          <a:prstGeom prst="rect">
            <a:avLst/>
          </a:prstGeom>
          <a:noFill/>
        </p:spPr>
        <p:txBody>
          <a:bodyPr wrap="square">
            <a:spAutoFit/>
          </a:bodyPr>
          <a:lstStyle/>
          <a:p>
            <a:pPr algn="ctr">
              <a:defRPr sz="1500" b="0">
                <a:solidFill>
                  <a:srgbClr val="0D5C63"/>
                </a:solidFill>
                <a:latin typeface="Calibri"/>
              </a:defRPr>
            </a:pPr>
            <a:r>
              <a:t>Face poke   18 recordings · 4 mice · 43,156 cells   (13 + 18 Aug 2025)</a:t>
            </a:r>
            <a:br/>
            <a:r>
              <a:t>Melittin only   8 recordings · 4 mice · 81,834 cells</a:t>
            </a:r>
            <a:br/>
            <a:r>
              <a:t>Melittin + morphine   4 recordings · 2 mice · 62,533 cells</a:t>
            </a:r>
          </a:p>
        </p:txBody>
      </p:sp>
      <p:sp>
        <p:nvSpPr>
          <p:cNvPr id="5" name="TextBox 4"/>
          <p:cNvSpPr txBox="1"/>
          <p:nvPr/>
        </p:nvSpPr>
        <p:spPr>
          <a:xfrm>
            <a:off x="914400" y="5760720"/>
            <a:ext cx="10332720" cy="457200"/>
          </a:xfrm>
          <a:prstGeom prst="rect">
            <a:avLst/>
          </a:prstGeom>
          <a:noFill/>
        </p:spPr>
        <p:txBody>
          <a:bodyPr wrap="square">
            <a:spAutoFit/>
          </a:bodyPr>
          <a:lstStyle/>
          <a:p>
            <a:pPr algn="ctr">
              <a:defRPr sz="1300" b="0">
                <a:solidFill>
                  <a:srgbClr val="555555"/>
                </a:solidFill>
                <a:latin typeface="Calibri"/>
              </a:defRPr>
            </a:pPr>
            <a:r>
              <a:t>Hansol Lim · Schnitzer lab · 9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Why this deck</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600" b="1">
                <a:solidFill>
                  <a:srgbClr val="1F3A5F"/>
                </a:solidFill>
                <a:latin typeface="Calibri"/>
              </a:defRPr>
            </a:pPr>
            <a:r>
              <a:t>Mark asked four things:</a:t>
            </a:r>
          </a:p>
          <a:p>
            <a:pPr algn="l">
              <a:spcAft>
                <a:spcPts val="1100"/>
              </a:spcAft>
              <a:defRPr sz="1600" b="0">
                <a:solidFill>
                  <a:srgbClr val="555555"/>
                </a:solidFill>
                <a:latin typeface="Calibri"/>
              </a:defRPr>
            </a:pPr>
            <a:r>
              <a:t>1.  How many cells per mouse were excited vs inhibited?</a:t>
            </a:r>
          </a:p>
          <a:p>
            <a:pPr algn="l">
              <a:spcAft>
                <a:spcPts val="1100"/>
              </a:spcAft>
              <a:defRPr sz="1600" b="0">
                <a:solidFill>
                  <a:srgbClr val="555555"/>
                </a:solidFill>
                <a:latin typeface="Calibri"/>
              </a:defRPr>
            </a:pPr>
            <a:r>
              <a:t>2.  Which Allen brain areas do they sit in?</a:t>
            </a:r>
          </a:p>
          <a:p>
            <a:pPr algn="l">
              <a:spcAft>
                <a:spcPts val="1100"/>
              </a:spcAft>
              <a:defRPr sz="1600" b="0">
                <a:solidFill>
                  <a:srgbClr val="555555"/>
                </a:solidFill>
                <a:latin typeface="Calibri"/>
              </a:defRPr>
            </a:pPr>
            <a:r>
              <a:t>3.  How will we separate pain- / touch- / surprise-responsive cells?</a:t>
            </a:r>
          </a:p>
          <a:p>
            <a:pPr algn="l">
              <a:spcAft>
                <a:spcPts val="1100"/>
              </a:spcAft>
              <a:defRPr sz="1600" b="0">
                <a:solidFill>
                  <a:srgbClr val="555555"/>
                </a:solidFill>
                <a:latin typeface="Calibri"/>
              </a:defRPr>
            </a:pPr>
            <a:r>
              <a:t>4.  How were the excited/inhibited cells affected by drug?</a:t>
            </a:r>
          </a:p>
          <a:p>
            <a:pPr algn="l">
              <a:spcAft>
                <a:spcPts val="1100"/>
              </a:spcAft>
              <a:defRPr sz="1600" b="1">
                <a:solidFill>
                  <a:srgbClr val="1F3A5F"/>
                </a:solidFill>
                <a:latin typeface="Calibri"/>
              </a:defRPr>
            </a:pPr>
            <a:r>
              <a:t>Question 4 is the one that decides the project.</a:t>
            </a:r>
          </a:p>
          <a:p>
            <a:pPr algn="l">
              <a:spcAft>
                <a:spcPts val="1100"/>
              </a:spcAft>
              <a:defRPr sz="1600" b="0">
                <a:solidFill>
                  <a:srgbClr val="555555"/>
                </a:solidFill>
                <a:latin typeface="Calibri"/>
              </a:defRPr>
            </a:pPr>
            <a:r>
              <a:t>Face poke has no drug arm — those 18 recordings were a feasibility test of the paradigm itself. Melittin does have a drug arm. So to answer 4 at all, both datasets are put through the same pipeline and the same figures here.</a:t>
            </a:r>
          </a:p>
          <a:p>
            <a:pPr algn="l">
              <a:spcAft>
                <a:spcPts val="1100"/>
              </a:spcAft>
              <a:defRPr sz="1600" b="1">
                <a:solidFill>
                  <a:srgbClr val="9B1B30"/>
                </a:solidFill>
                <a:latin typeface="Calibri"/>
              </a:defRPr>
            </a:pPr>
            <a:r>
              <a:t>The deck ends on a decision that you and Greg need to make.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Read this before comparing the numbers</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400" b="1">
                <a:solidFill>
                  <a:srgbClr val="9B1B30"/>
                </a:solidFill>
                <a:latin typeface="Calibri"/>
              </a:defRPr>
            </a:pPr>
            <a:r>
              <a:t>The two paradigms do not measure the same thing, and the percentages are not interchangeable.</a:t>
            </a:r>
          </a:p>
          <a:p>
            <a:pPr algn="l">
              <a:spcAft>
                <a:spcPts val="1100"/>
              </a:spcAft>
              <a:defRPr sz="1400" b="1">
                <a:solidFill>
                  <a:srgbClr val="0D5C63"/>
                </a:solidFill>
                <a:latin typeface="Calibri"/>
              </a:defRPr>
            </a:pPr>
            <a:r>
              <a:t>Face poke — stimulus-locked, within one session.</a:t>
            </a:r>
          </a:p>
          <a:p>
            <a:pPr algn="l">
              <a:spcAft>
                <a:spcPts val="1100"/>
              </a:spcAft>
              <a:defRPr sz="1400" b="0">
                <a:solidFill>
                  <a:srgbClr val="555555"/>
                </a:solidFill>
                <a:latin typeface="Calibri"/>
              </a:defRPr>
            </a:pPr>
            <a:r>
              <a:t>A cell counts as excited or inhibited if its peri-poke response differs from its own pre-poke baseline, across ~55 pokes. Same cells throughout. This is a phasic, trial-averaged measure.</a:t>
            </a:r>
          </a:p>
          <a:p>
            <a:pPr algn="l">
              <a:spcAft>
                <a:spcPts val="1100"/>
              </a:spcAft>
              <a:defRPr sz="1400" b="1">
                <a:solidFill>
                  <a:srgbClr val="B0710B"/>
                </a:solidFill>
                <a:latin typeface="Calibri"/>
              </a:defRPr>
            </a:pPr>
            <a:r>
              <a:t>Melittin — session-level, baseline movie vs injection movie.</a:t>
            </a:r>
          </a:p>
          <a:p>
            <a:pPr algn="l">
              <a:spcAft>
                <a:spcPts val="1100"/>
              </a:spcAft>
              <a:defRPr sz="1400" b="0">
                <a:solidFill>
                  <a:srgbClr val="555555"/>
                </a:solidFill>
                <a:latin typeface="Calibri"/>
              </a:defRPr>
            </a:pPr>
            <a:r>
              <a:t>A cell counts as up or down if its mean dF/F over the injection recording differs from the baseline-session mean. Baseline and injection are separate movies with independent EXTRACT IDs, so these are NOT tracked neurons. Both sessions are cropped to the shorter of the two.</a:t>
            </a:r>
          </a:p>
          <a:p>
            <a:pPr algn="l">
              <a:spcAft>
                <a:spcPts val="1100"/>
              </a:spcAft>
              <a:defRPr sz="1400" b="1">
                <a:solidFill>
                  <a:srgbClr val="1F3A5F"/>
                </a:solidFill>
                <a:latin typeface="Calibri"/>
              </a:defRPr>
            </a:pPr>
            <a:r>
              <a:t>Consequence: the melittin fractions are much larger (~27% / ~64%) than the face-poke fractions (~9% / ~28%) largely because a sustained session-level shift is an easier thing to detect than a phasic response. Compare the two paradigms qualitatively, not number against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Q1  |  Excited vs inhibited cells, per mouse</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The direction of the effect is consistent in every animal, in all three conditions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Fig 1  |  Excited vs inhibited across the three conditions</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Per-recording fractions, mean +/- SD, each dot one recording. Right: every recording plotted.</a:t>
            </a:r>
          </a:p>
          <a:p>
            <a:pPr algn="l">
              <a:defRPr sz="1300" b="1">
                <a:solidFill>
                  <a:srgbClr val="0D5C63"/>
                </a:solidFill>
                <a:latin typeface="Calibri"/>
              </a:defRPr>
            </a:pPr>
            <a:r>
              <a:t>Result:  All three conditions are inhibition-dominated. Face poke ~9% up / ~28% down; melittin ~27% / ~64%; adding morphine does not move the split.</a:t>
            </a:r>
          </a:p>
        </p:txBody>
      </p:sp>
      <p:pic>
        <p:nvPicPr>
          <p:cNvPr id="4" name="Picture 3" descr="fig1_fractions_three_paradigms.png"/>
          <p:cNvPicPr>
            <a:picLocks noChangeAspect="1"/>
          </p:cNvPicPr>
          <p:nvPr/>
        </p:nvPicPr>
        <p:blipFill>
          <a:blip r:embed="rId2"/>
          <a:stretch>
            <a:fillRect/>
          </a:stretch>
        </p:blipFill>
        <p:spPr>
          <a:xfrm>
            <a:off x="274320" y="1561513"/>
            <a:ext cx="11612880" cy="44664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Fig 2  |  Cells excited vs inhibited, per mouse  (Mark's question 1)</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Cells pooled within each animal, expressed as % of that animal's cells.</a:t>
            </a:r>
          </a:p>
          <a:p>
            <a:pPr algn="l">
              <a:defRPr sz="1300" b="1">
                <a:solidFill>
                  <a:srgbClr val="0D5C63"/>
                </a:solidFill>
                <a:latin typeface="Calibri"/>
              </a:defRPr>
            </a:pPr>
            <a:r>
              <a:t>Result:  Every mouse shows the same direction. Face poke: inhibition ~3x more common than excitation in 4/4 animals. Melittin: down ~2.3x up in 4/4. No animal reverses.</a:t>
            </a:r>
          </a:p>
        </p:txBody>
      </p:sp>
      <p:pic>
        <p:nvPicPr>
          <p:cNvPr id="4" name="Picture 3" descr="fig2_per_mouse.png"/>
          <p:cNvPicPr>
            <a:picLocks noChangeAspect="1"/>
          </p:cNvPicPr>
          <p:nvPr/>
        </p:nvPicPr>
        <p:blipFill>
          <a:blip r:embed="rId2"/>
          <a:stretch>
            <a:fillRect/>
          </a:stretch>
        </p:blipFill>
        <p:spPr>
          <a:xfrm>
            <a:off x="274320" y="1803980"/>
            <a:ext cx="11612880" cy="398155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457200"/>
          </a:xfrm>
          <a:prstGeom prst="rect">
            <a:avLst/>
          </a:prstGeom>
          <a:noFill/>
        </p:spPr>
        <p:txBody>
          <a:bodyPr wrap="square">
            <a:spAutoFit/>
          </a:bodyPr>
          <a:lstStyle/>
          <a:p>
            <a:pPr algn="l">
              <a:defRPr sz="2200" b="1">
                <a:solidFill>
                  <a:srgbClr val="1F3A5F"/>
                </a:solidFill>
                <a:latin typeface="Calibri"/>
              </a:defRPr>
            </a:pPr>
            <a:r>
              <a:t>Q1 numbers — face poke, per animal (18 recordings)</a:t>
            </a:r>
          </a:p>
        </p:txBody>
      </p:sp>
      <p:graphicFrame>
        <p:nvGraphicFramePr>
          <p:cNvPr id="3" name="Table 2"/>
          <p:cNvGraphicFramePr>
            <a:graphicFrameLocks noGrp="1"/>
          </p:cNvGraphicFramePr>
          <p:nvPr/>
        </p:nvGraphicFramePr>
        <p:xfrm>
          <a:off x="502920" y="1051560"/>
          <a:ext cx="10881360" cy="3310128"/>
        </p:xfrm>
        <a:graphic>
          <a:graphicData uri="http://schemas.openxmlformats.org/drawingml/2006/table">
            <a:tbl>
              <a:tblPr firstRow="1" bandRow="1">
                <a:tableStyleId>{5C22544A-7EE6-4342-B048-85BDC9FD1C3A}</a:tableStyleId>
              </a:tblPr>
              <a:tblGrid>
                <a:gridCol w="2286000"/>
                <a:gridCol w="914400"/>
                <a:gridCol w="1554480"/>
                <a:gridCol w="2286000"/>
                <a:gridCol w="2377440"/>
                <a:gridCol w="1463040"/>
              </a:tblGrid>
              <a:tr h="472875">
                <a:tc>
                  <a:txBody>
                    <a:bodyPr/>
                    <a:lstStyle/>
                    <a:p>
                      <a:pPr>
                        <a:defRPr sz="1300" b="1">
                          <a:solidFill>
                            <a:srgbClr val="FFFFFF"/>
                          </a:solidFill>
                        </a:defRPr>
                      </a:pPr>
                      <a:r>
                        <a:t>Animal (day)</a:t>
                      </a:r>
                    </a:p>
                  </a:txBody>
                  <a:tcPr>
                    <a:solidFill>
                      <a:srgbClr val="1F3A5F"/>
                    </a:solidFill>
                  </a:tcPr>
                </a:tc>
                <a:tc>
                  <a:txBody>
                    <a:bodyPr/>
                    <a:lstStyle/>
                    <a:p>
                      <a:pPr>
                        <a:defRPr sz="1300" b="1">
                          <a:solidFill>
                            <a:srgbClr val="FFFFFF"/>
                          </a:solidFill>
                        </a:defRPr>
                      </a:pPr>
                      <a:r>
                        <a:t>Rec</a:t>
                      </a:r>
                    </a:p>
                  </a:txBody>
                  <a:tcPr>
                    <a:solidFill>
                      <a:srgbClr val="1F3A5F"/>
                    </a:solidFill>
                  </a:tcPr>
                </a:tc>
                <a:tc>
                  <a:txBody>
                    <a:bodyPr/>
                    <a:lstStyle/>
                    <a:p>
                      <a:pPr>
                        <a:defRPr sz="1300" b="1">
                          <a:solidFill>
                            <a:srgbClr val="FFFFFF"/>
                          </a:solidFill>
                        </a:defRPr>
                      </a:pPr>
                      <a:r>
                        <a:t>Cells</a:t>
                      </a:r>
                    </a:p>
                  </a:txBody>
                  <a:tcPr>
                    <a:solidFill>
                      <a:srgbClr val="1F3A5F"/>
                    </a:solidFill>
                  </a:tcPr>
                </a:tc>
                <a:tc>
                  <a:txBody>
                    <a:bodyPr/>
                    <a:lstStyle/>
                    <a:p>
                      <a:pPr>
                        <a:defRPr sz="1300" b="1">
                          <a:solidFill>
                            <a:srgbClr val="FFFFFF"/>
                          </a:solidFill>
                        </a:defRPr>
                      </a:pPr>
                      <a:r>
                        <a:t>Excited</a:t>
                      </a:r>
                    </a:p>
                  </a:txBody>
                  <a:tcPr>
                    <a:solidFill>
                      <a:srgbClr val="1F3A5F"/>
                    </a:solidFill>
                  </a:tcPr>
                </a:tc>
                <a:tc>
                  <a:txBody>
                    <a:bodyPr/>
                    <a:lstStyle/>
                    <a:p>
                      <a:pPr>
                        <a:defRPr sz="1300" b="1">
                          <a:solidFill>
                            <a:srgbClr val="FFFFFF"/>
                          </a:solidFill>
                        </a:defRPr>
                      </a:pPr>
                      <a:r>
                        <a:t>Inhibited</a:t>
                      </a:r>
                    </a:p>
                  </a:txBody>
                  <a:tcPr>
                    <a:solidFill>
                      <a:srgbClr val="1F3A5F"/>
                    </a:solidFill>
                  </a:tcPr>
                </a:tc>
                <a:tc>
                  <a:txBody>
                    <a:bodyPr/>
                    <a:lstStyle/>
                    <a:p>
                      <a:pPr>
                        <a:defRPr sz="1300" b="1">
                          <a:solidFill>
                            <a:srgbClr val="FFFFFF"/>
                          </a:solidFill>
                        </a:defRPr>
                      </a:pPr>
                      <a:r>
                        <a:t>Pop. sig.</a:t>
                      </a:r>
                    </a:p>
                  </a:txBody>
                  <a:tcPr>
                    <a:solidFill>
                      <a:srgbClr val="1F3A5F"/>
                    </a:solidFill>
                  </a:tcPr>
                </a:tc>
              </a:tr>
              <a:tr h="472875">
                <a:tc>
                  <a:txBody>
                    <a:bodyPr/>
                    <a:lstStyle/>
                    <a:p>
                      <a:pPr>
                        <a:defRPr sz="1200" b="1">
                          <a:solidFill>
                            <a:srgbClr val="555555"/>
                          </a:solidFill>
                        </a:defRPr>
                      </a:pPr>
                      <a:r>
                        <a:t>m1 (13 Aug)</a:t>
                      </a:r>
                    </a:p>
                  </a:txBody>
                  <a:tcPr/>
                </a:tc>
                <a:tc>
                  <a:txBody>
                    <a:bodyPr/>
                    <a:lstStyle/>
                    <a:p>
                      <a:pPr>
                        <a:defRPr sz="1200" b="0">
                          <a:solidFill>
                            <a:srgbClr val="555555"/>
                          </a:solidFill>
                        </a:defRPr>
                      </a:pPr>
                      <a:r>
                        <a:t>4</a:t>
                      </a:r>
                    </a:p>
                  </a:txBody>
                  <a:tcPr/>
                </a:tc>
                <a:tc>
                  <a:txBody>
                    <a:bodyPr/>
                    <a:lstStyle/>
                    <a:p>
                      <a:pPr>
                        <a:defRPr sz="1200" b="0">
                          <a:solidFill>
                            <a:srgbClr val="555555"/>
                          </a:solidFill>
                        </a:defRPr>
                      </a:pPr>
                      <a:r>
                        <a:t>9,705</a:t>
                      </a:r>
                    </a:p>
                  </a:txBody>
                  <a:tcPr/>
                </a:tc>
                <a:tc>
                  <a:txBody>
                    <a:bodyPr/>
                    <a:lstStyle/>
                    <a:p>
                      <a:pPr>
                        <a:defRPr sz="1200" b="0">
                          <a:solidFill>
                            <a:srgbClr val="555555"/>
                          </a:solidFill>
                        </a:defRPr>
                      </a:pPr>
                      <a:r>
                        <a:t>896  (9.2%)</a:t>
                      </a:r>
                    </a:p>
                  </a:txBody>
                  <a:tcPr/>
                </a:tc>
                <a:tc>
                  <a:txBody>
                    <a:bodyPr/>
                    <a:lstStyle/>
                    <a:p>
                      <a:pPr>
                        <a:defRPr sz="1200" b="0">
                          <a:solidFill>
                            <a:srgbClr val="555555"/>
                          </a:solidFill>
                        </a:defRPr>
                      </a:pPr>
                      <a:r>
                        <a:t>2,406  (24.8%)</a:t>
                      </a:r>
                    </a:p>
                  </a:txBody>
                  <a:tcPr/>
                </a:tc>
                <a:tc>
                  <a:txBody>
                    <a:bodyPr/>
                    <a:lstStyle/>
                    <a:p>
                      <a:pPr>
                        <a:defRPr sz="1200" b="0">
                          <a:solidFill>
                            <a:srgbClr val="555555"/>
                          </a:solidFill>
                        </a:defRPr>
                      </a:pPr>
                      <a:r>
                        <a:t>4/4</a:t>
                      </a:r>
                    </a:p>
                  </a:txBody>
                  <a:tcPr/>
                </a:tc>
              </a:tr>
              <a:tr h="472875">
                <a:tc>
                  <a:txBody>
                    <a:bodyPr/>
                    <a:lstStyle/>
                    <a:p>
                      <a:pPr>
                        <a:defRPr sz="1200" b="1">
                          <a:solidFill>
                            <a:srgbClr val="555555"/>
                          </a:solidFill>
                        </a:defRPr>
                      </a:pPr>
                      <a:r>
                        <a:t>m201 (13 Aug)</a:t>
                      </a:r>
                    </a:p>
                  </a:txBody>
                  <a:tcPr/>
                </a:tc>
                <a:tc>
                  <a:txBody>
                    <a:bodyPr/>
                    <a:lstStyle/>
                    <a:p>
                      <a:pPr>
                        <a:defRPr sz="1200" b="0">
                          <a:solidFill>
                            <a:srgbClr val="555555"/>
                          </a:solidFill>
                        </a:defRPr>
                      </a:pPr>
                      <a:r>
                        <a:t>6</a:t>
                      </a:r>
                    </a:p>
                  </a:txBody>
                  <a:tcPr/>
                </a:tc>
                <a:tc>
                  <a:txBody>
                    <a:bodyPr/>
                    <a:lstStyle/>
                    <a:p>
                      <a:pPr>
                        <a:defRPr sz="1200" b="0">
                          <a:solidFill>
                            <a:srgbClr val="555555"/>
                          </a:solidFill>
                        </a:defRPr>
                      </a:pPr>
                      <a:r>
                        <a:t>15,467</a:t>
                      </a:r>
                    </a:p>
                  </a:txBody>
                  <a:tcPr/>
                </a:tc>
                <a:tc>
                  <a:txBody>
                    <a:bodyPr/>
                    <a:lstStyle/>
                    <a:p>
                      <a:pPr>
                        <a:defRPr sz="1200" b="0">
                          <a:solidFill>
                            <a:srgbClr val="555555"/>
                          </a:solidFill>
                        </a:defRPr>
                      </a:pPr>
                      <a:r>
                        <a:t>1,151  (7.4%)</a:t>
                      </a:r>
                    </a:p>
                  </a:txBody>
                  <a:tcPr/>
                </a:tc>
                <a:tc>
                  <a:txBody>
                    <a:bodyPr/>
                    <a:lstStyle/>
                    <a:p>
                      <a:pPr>
                        <a:defRPr sz="1200" b="0">
                          <a:solidFill>
                            <a:srgbClr val="555555"/>
                          </a:solidFill>
                        </a:defRPr>
                      </a:pPr>
                      <a:r>
                        <a:t>4,496  (29.1%)</a:t>
                      </a:r>
                    </a:p>
                  </a:txBody>
                  <a:tcPr/>
                </a:tc>
                <a:tc>
                  <a:txBody>
                    <a:bodyPr/>
                    <a:lstStyle/>
                    <a:p>
                      <a:pPr>
                        <a:defRPr sz="1200" b="0">
                          <a:solidFill>
                            <a:srgbClr val="555555"/>
                          </a:solidFill>
                        </a:defRPr>
                      </a:pPr>
                      <a:r>
                        <a:t>5/6</a:t>
                      </a:r>
                    </a:p>
                  </a:txBody>
                  <a:tcPr/>
                </a:tc>
              </a:tr>
              <a:tr h="472875">
                <a:tc>
                  <a:txBody>
                    <a:bodyPr/>
                    <a:lstStyle/>
                    <a:p>
                      <a:pPr>
                        <a:defRPr sz="1200" b="1">
                          <a:solidFill>
                            <a:srgbClr val="555555"/>
                          </a:solidFill>
                        </a:defRPr>
                      </a:pPr>
                      <a:r>
                        <a:t>m3 (13 Aug)</a:t>
                      </a:r>
                    </a:p>
                  </a:txBody>
                  <a:tcPr/>
                </a:tc>
                <a:tc>
                  <a:txBody>
                    <a:bodyPr/>
                    <a:lstStyle/>
                    <a:p>
                      <a:pPr>
                        <a:defRPr sz="1200" b="0">
                          <a:solidFill>
                            <a:srgbClr val="555555"/>
                          </a:solidFill>
                        </a:defRPr>
                      </a:pPr>
                      <a:r>
                        <a:t>2</a:t>
                      </a:r>
                    </a:p>
                  </a:txBody>
                  <a:tcPr/>
                </a:tc>
                <a:tc>
                  <a:txBody>
                    <a:bodyPr/>
                    <a:lstStyle/>
                    <a:p>
                      <a:pPr>
                        <a:defRPr sz="1200" b="0">
                          <a:solidFill>
                            <a:srgbClr val="555555"/>
                          </a:solidFill>
                        </a:defRPr>
                      </a:pPr>
                      <a:r>
                        <a:t>3,685</a:t>
                      </a:r>
                    </a:p>
                  </a:txBody>
                  <a:tcPr/>
                </a:tc>
                <a:tc>
                  <a:txBody>
                    <a:bodyPr/>
                    <a:lstStyle/>
                    <a:p>
                      <a:pPr>
                        <a:defRPr sz="1200" b="0">
                          <a:solidFill>
                            <a:srgbClr val="555555"/>
                          </a:solidFill>
                        </a:defRPr>
                      </a:pPr>
                      <a:r>
                        <a:t>475  (12.9%)</a:t>
                      </a:r>
                    </a:p>
                  </a:txBody>
                  <a:tcPr/>
                </a:tc>
                <a:tc>
                  <a:txBody>
                    <a:bodyPr/>
                    <a:lstStyle/>
                    <a:p>
                      <a:pPr>
                        <a:defRPr sz="1200" b="0">
                          <a:solidFill>
                            <a:srgbClr val="555555"/>
                          </a:solidFill>
                        </a:defRPr>
                      </a:pPr>
                      <a:r>
                        <a:t>1,113  (30.2%)</a:t>
                      </a:r>
                    </a:p>
                  </a:txBody>
                  <a:tcPr/>
                </a:tc>
                <a:tc>
                  <a:txBody>
                    <a:bodyPr/>
                    <a:lstStyle/>
                    <a:p>
                      <a:pPr>
                        <a:defRPr sz="1200" b="0">
                          <a:solidFill>
                            <a:srgbClr val="555555"/>
                          </a:solidFill>
                        </a:defRPr>
                      </a:pPr>
                      <a:r>
                        <a:t>2/2</a:t>
                      </a:r>
                    </a:p>
                  </a:txBody>
                  <a:tcPr/>
                </a:tc>
              </a:tr>
              <a:tr h="472875">
                <a:tc>
                  <a:txBody>
                    <a:bodyPr/>
                    <a:lstStyle/>
                    <a:p>
                      <a:pPr>
                        <a:defRPr sz="1200" b="1">
                          <a:solidFill>
                            <a:srgbClr val="555555"/>
                          </a:solidFill>
                        </a:defRPr>
                      </a:pPr>
                      <a:r>
                        <a:t>m200 (18 Aug)</a:t>
                      </a:r>
                    </a:p>
                  </a:txBody>
                  <a:tcPr/>
                </a:tc>
                <a:tc>
                  <a:txBody>
                    <a:bodyPr/>
                    <a:lstStyle/>
                    <a:p>
                      <a:pPr>
                        <a:defRPr sz="1200" b="0">
                          <a:solidFill>
                            <a:srgbClr val="555555"/>
                          </a:solidFill>
                        </a:defRPr>
                      </a:pPr>
                      <a:r>
                        <a:t>2</a:t>
                      </a:r>
                    </a:p>
                  </a:txBody>
                  <a:tcPr/>
                </a:tc>
                <a:tc>
                  <a:txBody>
                    <a:bodyPr/>
                    <a:lstStyle/>
                    <a:p>
                      <a:pPr>
                        <a:defRPr sz="1200" b="0">
                          <a:solidFill>
                            <a:srgbClr val="555555"/>
                          </a:solidFill>
                        </a:defRPr>
                      </a:pPr>
                      <a:r>
                        <a:t>5,681</a:t>
                      </a:r>
                    </a:p>
                  </a:txBody>
                  <a:tcPr/>
                </a:tc>
                <a:tc>
                  <a:txBody>
                    <a:bodyPr/>
                    <a:lstStyle/>
                    <a:p>
                      <a:pPr>
                        <a:defRPr sz="1200" b="0">
                          <a:solidFill>
                            <a:srgbClr val="555555"/>
                          </a:solidFill>
                        </a:defRPr>
                      </a:pPr>
                      <a:r>
                        <a:t>553  (9.7%)</a:t>
                      </a:r>
                    </a:p>
                  </a:txBody>
                  <a:tcPr/>
                </a:tc>
                <a:tc>
                  <a:txBody>
                    <a:bodyPr/>
                    <a:lstStyle/>
                    <a:p>
                      <a:pPr>
                        <a:defRPr sz="1200" b="0">
                          <a:solidFill>
                            <a:srgbClr val="555555"/>
                          </a:solidFill>
                        </a:defRPr>
                      </a:pPr>
                      <a:r>
                        <a:t>1,105  (19.5%)</a:t>
                      </a:r>
                    </a:p>
                  </a:txBody>
                  <a:tcPr/>
                </a:tc>
                <a:tc>
                  <a:txBody>
                    <a:bodyPr/>
                    <a:lstStyle/>
                    <a:p>
                      <a:pPr>
                        <a:defRPr sz="1200" b="0">
                          <a:solidFill>
                            <a:srgbClr val="555555"/>
                          </a:solidFill>
                        </a:defRPr>
                      </a:pPr>
                      <a:r>
                        <a:t>0/2</a:t>
                      </a:r>
                    </a:p>
                  </a:txBody>
                  <a:tcPr/>
                </a:tc>
              </a:tr>
              <a:tr h="472875">
                <a:tc>
                  <a:txBody>
                    <a:bodyPr/>
                    <a:lstStyle/>
                    <a:p>
                      <a:pPr>
                        <a:defRPr sz="1200" b="1">
                          <a:solidFill>
                            <a:srgbClr val="555555"/>
                          </a:solidFill>
                        </a:defRPr>
                      </a:pPr>
                      <a:r>
                        <a:t>m201 (18 Aug)</a:t>
                      </a:r>
                    </a:p>
                  </a:txBody>
                  <a:tcPr/>
                </a:tc>
                <a:tc>
                  <a:txBody>
                    <a:bodyPr/>
                    <a:lstStyle/>
                    <a:p>
                      <a:pPr>
                        <a:defRPr sz="1200" b="0">
                          <a:solidFill>
                            <a:srgbClr val="555555"/>
                          </a:solidFill>
                        </a:defRPr>
                      </a:pPr>
                      <a:r>
                        <a:t>4</a:t>
                      </a:r>
                    </a:p>
                  </a:txBody>
                  <a:tcPr/>
                </a:tc>
                <a:tc>
                  <a:txBody>
                    <a:bodyPr/>
                    <a:lstStyle/>
                    <a:p>
                      <a:pPr>
                        <a:defRPr sz="1200" b="0">
                          <a:solidFill>
                            <a:srgbClr val="555555"/>
                          </a:solidFill>
                        </a:defRPr>
                      </a:pPr>
                      <a:r>
                        <a:t>8,618</a:t>
                      </a:r>
                    </a:p>
                  </a:txBody>
                  <a:tcPr/>
                </a:tc>
                <a:tc>
                  <a:txBody>
                    <a:bodyPr/>
                    <a:lstStyle/>
                    <a:p>
                      <a:pPr>
                        <a:defRPr sz="1200" b="0">
                          <a:solidFill>
                            <a:srgbClr val="555555"/>
                          </a:solidFill>
                        </a:defRPr>
                      </a:pPr>
                      <a:r>
                        <a:t>644  (7.5%)</a:t>
                      </a:r>
                    </a:p>
                  </a:txBody>
                  <a:tcPr/>
                </a:tc>
                <a:tc>
                  <a:txBody>
                    <a:bodyPr/>
                    <a:lstStyle/>
                    <a:p>
                      <a:pPr>
                        <a:defRPr sz="1200" b="0">
                          <a:solidFill>
                            <a:srgbClr val="555555"/>
                          </a:solidFill>
                        </a:defRPr>
                      </a:pPr>
                      <a:r>
                        <a:t>2,788  (32.4%)</a:t>
                      </a:r>
                    </a:p>
                  </a:txBody>
                  <a:tcPr/>
                </a:tc>
                <a:tc>
                  <a:txBody>
                    <a:bodyPr/>
                    <a:lstStyle/>
                    <a:p>
                      <a:pPr>
                        <a:defRPr sz="1200" b="0">
                          <a:solidFill>
                            <a:srgbClr val="555555"/>
                          </a:solidFill>
                        </a:defRPr>
                      </a:pPr>
                      <a:r>
                        <a:t>3/4</a:t>
                      </a:r>
                    </a:p>
                  </a:txBody>
                  <a:tcPr/>
                </a:tc>
              </a:tr>
              <a:tr h="472878">
                <a:tc>
                  <a:txBody>
                    <a:bodyPr/>
                    <a:lstStyle/>
                    <a:p>
                      <a:pPr>
                        <a:defRPr sz="1200" b="1">
                          <a:solidFill>
                            <a:srgbClr val="555555"/>
                          </a:solidFill>
                        </a:defRPr>
                      </a:pPr>
                      <a:r>
                        <a:t>All</a:t>
                      </a:r>
                    </a:p>
                  </a:txBody>
                  <a:tcPr/>
                </a:tc>
                <a:tc>
                  <a:txBody>
                    <a:bodyPr/>
                    <a:lstStyle/>
                    <a:p>
                      <a:pPr>
                        <a:defRPr sz="1200" b="0">
                          <a:solidFill>
                            <a:srgbClr val="555555"/>
                          </a:solidFill>
                        </a:defRPr>
                      </a:pPr>
                      <a:r>
                        <a:t>18</a:t>
                      </a:r>
                    </a:p>
                  </a:txBody>
                  <a:tcPr/>
                </a:tc>
                <a:tc>
                  <a:txBody>
                    <a:bodyPr/>
                    <a:lstStyle/>
                    <a:p>
                      <a:pPr>
                        <a:defRPr sz="1200" b="0">
                          <a:solidFill>
                            <a:srgbClr val="555555"/>
                          </a:solidFill>
                        </a:defRPr>
                      </a:pPr>
                      <a:r>
                        <a:t>43,156</a:t>
                      </a:r>
                    </a:p>
                  </a:txBody>
                  <a:tcPr/>
                </a:tc>
                <a:tc>
                  <a:txBody>
                    <a:bodyPr/>
                    <a:lstStyle/>
                    <a:p>
                      <a:pPr>
                        <a:defRPr sz="1200" b="0">
                          <a:solidFill>
                            <a:srgbClr val="555555"/>
                          </a:solidFill>
                        </a:defRPr>
                      </a:pPr>
                      <a:r>
                        <a:t>3,719  (8.6%)</a:t>
                      </a:r>
                    </a:p>
                  </a:txBody>
                  <a:tcPr/>
                </a:tc>
                <a:tc>
                  <a:txBody>
                    <a:bodyPr/>
                    <a:lstStyle/>
                    <a:p>
                      <a:pPr>
                        <a:defRPr sz="1200" b="0">
                          <a:solidFill>
                            <a:srgbClr val="555555"/>
                          </a:solidFill>
                        </a:defRPr>
                      </a:pPr>
                      <a:r>
                        <a:t>11,908  (27.6%)</a:t>
                      </a:r>
                    </a:p>
                  </a:txBody>
                  <a:tcPr/>
                </a:tc>
                <a:tc>
                  <a:txBody>
                    <a:bodyPr/>
                    <a:lstStyle/>
                    <a:p>
                      <a:pPr>
                        <a:defRPr sz="1200" b="0">
                          <a:solidFill>
                            <a:srgbClr val="555555"/>
                          </a:solidFill>
                        </a:defRPr>
                      </a:pPr>
                      <a:r>
                        <a:t>14/18</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Q2  |  Which Allen areas?</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Honest answer: not yet — the FOVs are not registered to the Allen CCF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Q2  |  What we can say today: a consistent anterior-posterior gradient</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Correlation between each cell's A-P position and its poke response, one value per recording, mirror2 flipped to align with mirror1.</a:t>
            </a:r>
          </a:p>
          <a:p>
            <a:pPr algn="l">
              <a:defRPr sz="1300" b="1">
                <a:solidFill>
                  <a:srgbClr val="B0710B"/>
                </a:solidFill>
                <a:latin typeface="Calibri"/>
              </a:defRPr>
            </a:pPr>
            <a:r>
              <a:t>Result:  Excitation biased anterior, inhibition biased posterior, in 18/18 recordings (median rho = 0.13, range 0.03-0.23). But 'anterior' here is the image axis after the mirror flip, NOT a bregma-referenced coordinate — so no Allen area names yet.</a:t>
            </a:r>
          </a:p>
        </p:txBody>
      </p:sp>
      <p:pic>
        <p:nvPicPr>
          <p:cNvPr id="4" name="Picture 3" descr="takehome_anterior_posterior.png"/>
          <p:cNvPicPr>
            <a:picLocks noChangeAspect="1"/>
          </p:cNvPicPr>
          <p:nvPr/>
        </p:nvPicPr>
        <p:blipFill>
          <a:blip r:embed="rId2"/>
          <a:stretch>
            <a:fillRect/>
          </a:stretch>
        </p:blipFill>
        <p:spPr>
          <a:xfrm>
            <a:off x="1074195" y="960120"/>
            <a:ext cx="10013129" cy="5669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Q2  |  What it would take to name Allen areas</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600" b="1">
                <a:solidFill>
                  <a:srgbClr val="9B1B30"/>
                </a:solidFill>
                <a:latin typeface="Calibri"/>
              </a:defRPr>
            </a:pPr>
            <a:r>
              <a:t>Today the crystal-skull FOVs have no CCF registration at all.</a:t>
            </a:r>
          </a:p>
          <a:p>
            <a:pPr algn="l">
              <a:spcAft>
                <a:spcPts val="1100"/>
              </a:spcAft>
              <a:defRPr sz="1600" b="0">
                <a:solidFill>
                  <a:srgbClr val="555555"/>
                </a:solidFill>
                <a:latin typeface="Calibri"/>
              </a:defRPr>
            </a:pPr>
            <a:r>
              <a:t>Landmark-based warp of each FOV to the Allen dorsal-cortex map: bregma and lambda from the skull image, plus the midline and the transverse sinus as anchors.</a:t>
            </a:r>
          </a:p>
          <a:p>
            <a:pPr algn="l">
              <a:spcAft>
                <a:spcPts val="1100"/>
              </a:spcAft>
              <a:defRPr sz="1600" b="0">
                <a:solidFill>
                  <a:srgbClr val="555555"/>
                </a:solidFill>
                <a:latin typeface="Calibri"/>
              </a:defRPr>
            </a:pPr>
            <a:r>
              <a:t>That gives per-cell area labels (SSp-bfd, SSp-m, MOp, MOs, RSP, VISp ...) and lets us report excited/inhibited counts per area, per mouse, and compare across animals.</a:t>
            </a:r>
          </a:p>
          <a:p>
            <a:pPr algn="l">
              <a:spcAft>
                <a:spcPts val="1100"/>
              </a:spcAft>
              <a:defRPr sz="1600" b="0">
                <a:solidFill>
                  <a:srgbClr val="555555"/>
                </a:solidFill>
                <a:latin typeface="Calibri"/>
              </a:defRPr>
            </a:pPr>
            <a:r>
              <a:t>It also links this dataset to the TRAP whole-brain and GPCR atlases, which are already in CCF space.</a:t>
            </a:r>
          </a:p>
          <a:p>
            <a:pPr algn="l">
              <a:spcAft>
                <a:spcPts val="1100"/>
              </a:spcAft>
              <a:defRPr sz="1600" b="1">
                <a:solidFill>
                  <a:srgbClr val="1F3A5F"/>
                </a:solidFill>
                <a:latin typeface="Calibri"/>
              </a:defRPr>
            </a:pPr>
            <a:r>
              <a:t>I would rather build the registration once, on whichever paradigm we commit to, than build it twice. That is one more reason the paradigm decision comes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Q3  |  Pain vs touch vs surprise</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This dataset cannot separate them, and no reanalysis will fix that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Q3  |  Why the current face-poke data cannot answer this</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500" b="1">
                <a:solidFill>
                  <a:srgbClr val="9B1B30"/>
                </a:solidFill>
                <a:latin typeface="Calibri"/>
              </a:defRPr>
            </a:pPr>
            <a:r>
              <a:t>There is one stimulus, delivered one way. There is no contrast to dissociate the categories.</a:t>
            </a:r>
          </a:p>
          <a:p>
            <a:pPr algn="l">
              <a:spcAft>
                <a:spcPts val="1100"/>
              </a:spcAft>
              <a:defRPr sz="1500" b="0">
                <a:solidFill>
                  <a:srgbClr val="555555"/>
                </a:solidFill>
                <a:latin typeface="Calibri"/>
              </a:defRPr>
            </a:pPr>
            <a:r>
              <a:t>A face poke is simultaneously a touch, a noxious event and an unexpected event. Any cell that responds is consistent with all three labels. Splitting them post hoc would be curve-fitting.</a:t>
            </a:r>
          </a:p>
          <a:p>
            <a:pPr algn="l">
              <a:spcAft>
                <a:spcPts val="1100"/>
              </a:spcAft>
              <a:defRPr sz="1500" b="1">
                <a:solidFill>
                  <a:srgbClr val="1F3A5F"/>
                </a:solidFill>
                <a:latin typeface="Calibri"/>
              </a:defRPr>
            </a:pPr>
            <a:r>
              <a:t>What would actually answer it — one session, interleaved trials:</a:t>
            </a:r>
          </a:p>
          <a:p>
            <a:pPr algn="l">
              <a:spcAft>
                <a:spcPts val="1100"/>
              </a:spcAft>
              <a:defRPr sz="1500" b="0">
                <a:solidFill>
                  <a:srgbClr val="555555"/>
                </a:solidFill>
                <a:latin typeface="Calibri"/>
              </a:defRPr>
            </a:pPr>
            <a:r>
              <a:t>•  innocuous brush or air puff        -&gt; touch</a:t>
            </a:r>
          </a:p>
          <a:p>
            <a:pPr algn="l">
              <a:spcAft>
                <a:spcPts val="1100"/>
              </a:spcAft>
              <a:defRPr sz="1500" b="0">
                <a:solidFill>
                  <a:srgbClr val="555555"/>
                </a:solidFill>
                <a:latin typeface="Calibri"/>
              </a:defRPr>
            </a:pPr>
            <a:r>
              <a:t>•  calibrated von Frey / noxious pinch or radiant heat   -&gt; pain, graded intensity</a:t>
            </a:r>
          </a:p>
          <a:p>
            <a:pPr algn="l">
              <a:spcAft>
                <a:spcPts val="1100"/>
              </a:spcAft>
              <a:defRPr sz="1500" b="0">
                <a:solidFill>
                  <a:srgbClr val="555555"/>
                </a:solidFill>
                <a:latin typeface="Calibri"/>
              </a:defRPr>
            </a:pPr>
            <a:r>
              <a:t>•  unexpected tone or light flash     -&gt; surprise, non-somatosensory</a:t>
            </a:r>
          </a:p>
          <a:p>
            <a:pPr algn="l">
              <a:spcAft>
                <a:spcPts val="1100"/>
              </a:spcAft>
              <a:defRPr sz="1500" b="0">
                <a:solidFill>
                  <a:srgbClr val="555555"/>
                </a:solidFill>
                <a:latin typeface="Calibri"/>
              </a:defRPr>
            </a:pPr>
            <a:r>
              <a:t>•  stimulus-omission catch trials     -&gt; expectation / prediction error</a:t>
            </a:r>
          </a:p>
          <a:p>
            <a:pPr algn="l">
              <a:spcAft>
                <a:spcPts val="1100"/>
              </a:spcAft>
              <a:defRPr sz="1500" b="0">
                <a:solidFill>
                  <a:srgbClr val="555555"/>
                </a:solidFill>
                <a:latin typeface="Calibri"/>
              </a:defRPr>
            </a:pPr>
            <a:r>
              <a:t>•  same cells across all trial types, so each cell gets a response profile rather than one number</a:t>
            </a:r>
          </a:p>
          <a:p>
            <a:pPr algn="l">
              <a:spcAft>
                <a:spcPts val="1100"/>
              </a:spcAft>
              <a:defRPr sz="1500" b="1">
                <a:solidFill>
                  <a:srgbClr val="1F3A5F"/>
                </a:solidFill>
                <a:latin typeface="Calibri"/>
              </a:defRPr>
            </a:pPr>
            <a:r>
              <a:t>Then a cell is 'pain-responsive' if it scales with noxious intensity and not with brush, rather than because we called the stimulus painful. This is a different experiment from what we have.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Q4  |  Drug effect</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Face poke: no drug arm at all.  Melittin: morphine arm exists — and it does not show what we hoped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Fig 3  |  Melittin only vs melittin + morphine</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Change in population mean dF/F, injection vs that animal's own baseline, as % of baseline. Left: per recording. Right: per mouse.</a:t>
            </a:r>
          </a:p>
          <a:p>
            <a:pPr algn="l">
              <a:defRPr sz="1300" b="1">
                <a:solidFill>
                  <a:srgbClr val="B0710B"/>
                </a:solidFill>
                <a:latin typeface="Calibri"/>
              </a:defRPr>
            </a:pPr>
            <a:r>
              <a:t>Result:  Melittin alone lowers population activity in 7/8 recordings (mean -8.5%). With morphine on board the shift is ~0 (-0.3%). But n = 4 vs 2 mice and it is not significant: p = 0.15 per recording, p = 0.27 per mouse.</a:t>
            </a:r>
          </a:p>
        </p:txBody>
      </p:sp>
      <p:pic>
        <p:nvPicPr>
          <p:cNvPr id="4" name="Picture 3" descr="fig3_drug_effect.png"/>
          <p:cNvPicPr>
            <a:picLocks noChangeAspect="1"/>
          </p:cNvPicPr>
          <p:nvPr/>
        </p:nvPicPr>
        <p:blipFill>
          <a:blip r:embed="rId2"/>
          <a:stretch>
            <a:fillRect/>
          </a:stretch>
        </p:blipFill>
        <p:spPr>
          <a:xfrm>
            <a:off x="274320" y="1565087"/>
            <a:ext cx="11612880" cy="445934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Fig 4  |  Direct test of 'melittin-evoked neurons are inhibited by morphine'</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Response amplitude of the significantly-up and significantly-down populations, as % of each recording's own baseline.</a:t>
            </a:r>
          </a:p>
          <a:p>
            <a:pPr algn="l">
              <a:defRPr sz="1300" b="1">
                <a:solidFill>
                  <a:srgbClr val="9B1B30"/>
                </a:solidFill>
                <a:latin typeface="Calibri"/>
              </a:defRPr>
            </a:pPr>
            <a:r>
              <a:t>Result:  The claim is not supported. The excited population is not smaller with morphine (27.2% -&gt; 31.4%), not weaker (142% -&gt; 136% of baseline, p = 0.68), and the net population difference is n.s. (p = 0.27).</a:t>
            </a:r>
          </a:p>
        </p:txBody>
      </p:sp>
      <p:pic>
        <p:nvPicPr>
          <p:cNvPr id="4" name="Picture 3" descr="fig4_morphine_claim_test.png"/>
          <p:cNvPicPr>
            <a:picLocks noChangeAspect="1"/>
          </p:cNvPicPr>
          <p:nvPr/>
        </p:nvPicPr>
        <p:blipFill>
          <a:blip r:embed="rId2"/>
          <a:stretch>
            <a:fillRect/>
          </a:stretch>
        </p:blipFill>
        <p:spPr>
          <a:xfrm>
            <a:off x="274320" y="1565087"/>
            <a:ext cx="11612880" cy="445934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Q4  |  What we can and cannot say about morphine</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400" b="1">
                <a:solidFill>
                  <a:srgbClr val="0D5C63"/>
                </a:solidFill>
                <a:latin typeface="Calibri"/>
              </a:defRPr>
            </a:pPr>
            <a:r>
              <a:t>Can say:</a:t>
            </a:r>
          </a:p>
          <a:p>
            <a:pPr algn="l">
              <a:spcAft>
                <a:spcPts val="1100"/>
              </a:spcAft>
              <a:defRPr sz="1400" b="0">
                <a:solidFill>
                  <a:srgbClr val="555555"/>
                </a:solidFill>
                <a:latin typeface="Calibri"/>
              </a:defRPr>
            </a:pPr>
            <a:r>
              <a:t>Melittin produces a reproducible, large, sustained change in cortical population activity — ~27% of cells up and ~64% down relative to baseline, in 4/4 animals. As a pain read-out it is strong and repeatable.</a:t>
            </a:r>
          </a:p>
          <a:p>
            <a:pPr algn="l">
              <a:spcAft>
                <a:spcPts val="1100"/>
              </a:spcAft>
              <a:defRPr sz="1400" b="1">
                <a:solidFill>
                  <a:srgbClr val="9B1B30"/>
                </a:solidFill>
                <a:latin typeface="Calibri"/>
              </a:defRPr>
            </a:pPr>
            <a:r>
              <a:t>Cannot say:</a:t>
            </a:r>
          </a:p>
          <a:p>
            <a:pPr algn="l">
              <a:spcAft>
                <a:spcPts val="1100"/>
              </a:spcAft>
              <a:defRPr sz="1400" b="0">
                <a:solidFill>
                  <a:srgbClr val="555555"/>
                </a:solidFill>
                <a:latin typeface="Calibri"/>
              </a:defRPr>
            </a:pPr>
            <a:r>
              <a:t>That morphine suppresses the melittin response. Every measure we have (fraction up, amplitude of the up population, net population shift) fails to show it, in the direction predicted or at all.</a:t>
            </a:r>
          </a:p>
          <a:p>
            <a:pPr algn="l">
              <a:spcAft>
                <a:spcPts val="1100"/>
              </a:spcAft>
              <a:defRPr sz="1400" b="1">
                <a:solidFill>
                  <a:srgbClr val="1F3A5F"/>
                </a:solidFill>
                <a:latin typeface="Calibri"/>
              </a:defRPr>
            </a:pPr>
            <a:r>
              <a:t>Why this is underpowered rather than a real negative:</a:t>
            </a:r>
          </a:p>
          <a:p>
            <a:pPr algn="l">
              <a:spcAft>
                <a:spcPts val="1100"/>
              </a:spcAft>
              <a:defRPr sz="1400" b="0">
                <a:solidFill>
                  <a:srgbClr val="555555"/>
                </a:solidFill>
                <a:latin typeface="Calibri"/>
              </a:defRPr>
            </a:pPr>
            <a:r>
              <a:t>•  n = 4 mice melittin-only vs 2 mice melittin+morphine, different animals, different sessions</a:t>
            </a:r>
          </a:p>
          <a:p>
            <a:pPr algn="l">
              <a:spcAft>
                <a:spcPts val="1100"/>
              </a:spcAft>
              <a:defRPr sz="1400" b="0">
                <a:solidFill>
                  <a:srgbClr val="555555"/>
                </a:solidFill>
                <a:latin typeface="Calibri"/>
              </a:defRPr>
            </a:pPr>
            <a:r>
              <a:t>•  no vehicle arm — the comparison is confounded with cohort and recording date</a:t>
            </a:r>
          </a:p>
          <a:p>
            <a:pPr algn="l">
              <a:spcAft>
                <a:spcPts val="1100"/>
              </a:spcAft>
              <a:defRPr sz="1400" b="0">
                <a:solidFill>
                  <a:srgbClr val="555555"/>
                </a:solidFill>
                <a:latin typeface="Calibri"/>
              </a:defRPr>
            </a:pPr>
            <a:r>
              <a:t>•  cells are not tracked between baseline and injection (independent EXTRACT IDs), so we can never speak about 'the same neurons' in this design</a:t>
            </a:r>
          </a:p>
          <a:p>
            <a:pPr algn="l">
              <a:spcAft>
                <a:spcPts val="1100"/>
              </a:spcAft>
              <a:defRPr sz="1400" b="1">
                <a:solidFill>
                  <a:srgbClr val="1F3A5F"/>
                </a:solidFill>
                <a:latin typeface="Calibri"/>
              </a:defRPr>
            </a:pPr>
            <a:r>
              <a:t>•  if 1014m01b / 1014m02w are in fact the same animals as CS1014-1b / CS1014-2w on a later day, this can be redone as a paired within-animal test — that would be much stronger, and I need someone to confirm the animal identities.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Same visual language, both paradigms</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Example single-cell traces and the maps of where those cells sit in the FOV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Face poke — example cells and their position in the FOV</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Two excited and two inhibited cells per movie, EXTRACT activity with poke times, and the same cells marked on the mesoscope FOV (P left, A right).</a:t>
            </a:r>
          </a:p>
          <a:p>
            <a:pPr algn="l">
              <a:defRPr sz="1300" b="1">
                <a:solidFill>
                  <a:srgbClr val="0D5C63"/>
                </a:solidFill>
                <a:latin typeface="Calibri"/>
              </a:defRPr>
            </a:pPr>
            <a:r>
              <a:t>Result:  Poke lock is visible cell by cell: excited cells rise after each poke, inhibited cells dip. E1/I1 more anterior, E2/I2 more posterior.</a:t>
            </a:r>
          </a:p>
        </p:txBody>
      </p:sp>
      <p:pic>
        <p:nvPicPr>
          <p:cNvPr id="4" name="Picture 3" descr="example_traces.png"/>
          <p:cNvPicPr>
            <a:picLocks noChangeAspect="1"/>
          </p:cNvPicPr>
          <p:nvPr/>
        </p:nvPicPr>
        <p:blipFill>
          <a:blip r:embed="rId2"/>
          <a:stretch>
            <a:fillRect/>
          </a:stretch>
        </p:blipFill>
        <p:spPr>
          <a:xfrm>
            <a:off x="182880" y="1725833"/>
            <a:ext cx="5852160" cy="3680653"/>
          </a:xfrm>
          <a:prstGeom prst="rect">
            <a:avLst/>
          </a:prstGeom>
        </p:spPr>
      </p:pic>
      <p:pic>
        <p:nvPicPr>
          <p:cNvPr id="5" name="Picture 4" descr="example_maps.png"/>
          <p:cNvPicPr>
            <a:picLocks noChangeAspect="1"/>
          </p:cNvPicPr>
          <p:nvPr/>
        </p:nvPicPr>
        <p:blipFill>
          <a:blip r:embed="rId3"/>
          <a:stretch>
            <a:fillRect/>
          </a:stretch>
        </p:blipFill>
        <p:spPr>
          <a:xfrm>
            <a:off x="6126480" y="2216364"/>
            <a:ext cx="5852160" cy="2699590"/>
          </a:xfrm>
          <a:prstGeom prst="rect">
            <a:avLst/>
          </a:prstGeom>
        </p:spPr>
      </p:pic>
      <p:sp>
        <p:nvSpPr>
          <p:cNvPr id="6" name="TextBox 5"/>
          <p:cNvSpPr txBox="1"/>
          <p:nvPr/>
        </p:nvSpPr>
        <p:spPr>
          <a:xfrm>
            <a:off x="182880" y="6263640"/>
            <a:ext cx="5852160" cy="365760"/>
          </a:xfrm>
          <a:prstGeom prst="rect">
            <a:avLst/>
          </a:prstGeom>
          <a:noFill/>
        </p:spPr>
        <p:txBody>
          <a:bodyPr wrap="square">
            <a:spAutoFit/>
          </a:bodyPr>
          <a:lstStyle/>
          <a:p>
            <a:pPr algn="ctr">
              <a:defRPr sz="1100" b="1">
                <a:solidFill>
                  <a:srgbClr val="0D5C63"/>
                </a:solidFill>
                <a:latin typeface="Calibri"/>
              </a:defRPr>
            </a:pPr>
            <a:r>
              <a:t>Traces</a:t>
            </a:r>
          </a:p>
        </p:txBody>
      </p:sp>
      <p:sp>
        <p:nvSpPr>
          <p:cNvPr id="7" name="TextBox 6"/>
          <p:cNvSpPr txBox="1"/>
          <p:nvPr/>
        </p:nvSpPr>
        <p:spPr>
          <a:xfrm>
            <a:off x="6126480" y="6263640"/>
            <a:ext cx="5852160" cy="365760"/>
          </a:xfrm>
          <a:prstGeom prst="rect">
            <a:avLst/>
          </a:prstGeom>
          <a:noFill/>
        </p:spPr>
        <p:txBody>
          <a:bodyPr wrap="square">
            <a:spAutoFit/>
          </a:bodyPr>
          <a:lstStyle/>
          <a:p>
            <a:pPr algn="ctr">
              <a:defRPr sz="1100" b="1">
                <a:solidFill>
                  <a:srgbClr val="B0710B"/>
                </a:solidFill>
                <a:latin typeface="Calibri"/>
              </a:defRPr>
            </a:pPr>
            <a:r>
              <a:t>FOV map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Melittin — example cells and their position in the FOV</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Same panel design, but the comparison is injection vs baseline session rather than peri-poke, and the cell IDs are injection-session IDs.</a:t>
            </a:r>
          </a:p>
          <a:p>
            <a:pPr algn="l">
              <a:defRPr sz="1300" b="1">
                <a:solidFill>
                  <a:srgbClr val="0D5C63"/>
                </a:solidFill>
                <a:latin typeface="Calibri"/>
              </a:defRPr>
            </a:pPr>
            <a:r>
              <a:t>Result:  Up and down cells are intermingled across the FOV, as with face poke.</a:t>
            </a:r>
          </a:p>
        </p:txBody>
      </p:sp>
      <p:pic>
        <p:nvPicPr>
          <p:cNvPr id="4" name="Picture 3" descr="example_traces.png"/>
          <p:cNvPicPr>
            <a:picLocks noChangeAspect="1"/>
          </p:cNvPicPr>
          <p:nvPr/>
        </p:nvPicPr>
        <p:blipFill>
          <a:blip r:embed="rId2"/>
          <a:stretch>
            <a:fillRect/>
          </a:stretch>
        </p:blipFill>
        <p:spPr>
          <a:xfrm>
            <a:off x="182880" y="1739828"/>
            <a:ext cx="5852160" cy="3652663"/>
          </a:xfrm>
          <a:prstGeom prst="rect">
            <a:avLst/>
          </a:prstGeom>
        </p:spPr>
      </p:pic>
      <p:pic>
        <p:nvPicPr>
          <p:cNvPr id="5" name="Picture 4" descr="example_maps.png"/>
          <p:cNvPicPr>
            <a:picLocks noChangeAspect="1"/>
          </p:cNvPicPr>
          <p:nvPr/>
        </p:nvPicPr>
        <p:blipFill>
          <a:blip r:embed="rId3"/>
          <a:stretch>
            <a:fillRect/>
          </a:stretch>
        </p:blipFill>
        <p:spPr>
          <a:xfrm>
            <a:off x="6126480" y="2224494"/>
            <a:ext cx="5852160" cy="2683331"/>
          </a:xfrm>
          <a:prstGeom prst="rect">
            <a:avLst/>
          </a:prstGeom>
        </p:spPr>
      </p:pic>
      <p:sp>
        <p:nvSpPr>
          <p:cNvPr id="6" name="TextBox 5"/>
          <p:cNvSpPr txBox="1"/>
          <p:nvPr/>
        </p:nvSpPr>
        <p:spPr>
          <a:xfrm>
            <a:off x="182880" y="6263640"/>
            <a:ext cx="5852160" cy="365760"/>
          </a:xfrm>
          <a:prstGeom prst="rect">
            <a:avLst/>
          </a:prstGeom>
          <a:noFill/>
        </p:spPr>
        <p:txBody>
          <a:bodyPr wrap="square">
            <a:spAutoFit/>
          </a:bodyPr>
          <a:lstStyle/>
          <a:p>
            <a:pPr algn="ctr">
              <a:defRPr sz="1100" b="1">
                <a:solidFill>
                  <a:srgbClr val="0D5C63"/>
                </a:solidFill>
                <a:latin typeface="Calibri"/>
              </a:defRPr>
            </a:pPr>
            <a:r>
              <a:t>Traces</a:t>
            </a:r>
          </a:p>
        </p:txBody>
      </p:sp>
      <p:sp>
        <p:nvSpPr>
          <p:cNvPr id="7" name="TextBox 6"/>
          <p:cNvSpPr txBox="1"/>
          <p:nvPr/>
        </p:nvSpPr>
        <p:spPr>
          <a:xfrm>
            <a:off x="6126480" y="6263640"/>
            <a:ext cx="5852160" cy="365760"/>
          </a:xfrm>
          <a:prstGeom prst="rect">
            <a:avLst/>
          </a:prstGeom>
          <a:noFill/>
        </p:spPr>
        <p:txBody>
          <a:bodyPr wrap="square">
            <a:spAutoFit/>
          </a:bodyPr>
          <a:lstStyle/>
          <a:p>
            <a:pPr algn="ctr">
              <a:defRPr sz="1100" b="1">
                <a:solidFill>
                  <a:srgbClr val="B0710B"/>
                </a:solidFill>
                <a:latin typeface="Calibri"/>
              </a:defRPr>
            </a:pPr>
            <a:r>
              <a:t>FOV map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Population view, side by side</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Left: face-poke peri-stimulus population response, pooled over 18 recordings. Right: melittin baseline vs injection population dF/F.</a:t>
            </a:r>
          </a:p>
          <a:p>
            <a:pPr algn="l">
              <a:defRPr sz="1300" b="1">
                <a:solidFill>
                  <a:srgbClr val="0D5C63"/>
                </a:solidFill>
                <a:latin typeface="Calibri"/>
              </a:defRPr>
            </a:pPr>
            <a:r>
              <a:t>Result:  Face poke gives a brief transient, a short dip, then a rebound, time-locked to the poke. Melittin gives a slow sustained shift with no trial structure.</a:t>
            </a:r>
          </a:p>
        </p:txBody>
      </p:sp>
      <p:pic>
        <p:nvPicPr>
          <p:cNvPr id="4" name="Picture 3" descr="fig1_population_psth.png"/>
          <p:cNvPicPr>
            <a:picLocks noChangeAspect="1"/>
          </p:cNvPicPr>
          <p:nvPr/>
        </p:nvPicPr>
        <p:blipFill>
          <a:blip r:embed="rId2"/>
          <a:stretch>
            <a:fillRect/>
          </a:stretch>
        </p:blipFill>
        <p:spPr>
          <a:xfrm>
            <a:off x="182880" y="2171975"/>
            <a:ext cx="5852160" cy="2788368"/>
          </a:xfrm>
          <a:prstGeom prst="rect">
            <a:avLst/>
          </a:prstGeom>
        </p:spPr>
      </p:pic>
      <p:pic>
        <p:nvPicPr>
          <p:cNvPr id="5" name="Picture 4" descr="fig1_population_psth.png"/>
          <p:cNvPicPr>
            <a:picLocks noChangeAspect="1"/>
          </p:cNvPicPr>
          <p:nvPr/>
        </p:nvPicPr>
        <p:blipFill>
          <a:blip r:embed="rId3"/>
          <a:stretch>
            <a:fillRect/>
          </a:stretch>
        </p:blipFill>
        <p:spPr>
          <a:xfrm>
            <a:off x="6126480" y="2303020"/>
            <a:ext cx="5852160" cy="2526278"/>
          </a:xfrm>
          <a:prstGeom prst="rect">
            <a:avLst/>
          </a:prstGeom>
        </p:spPr>
      </p:pic>
      <p:sp>
        <p:nvSpPr>
          <p:cNvPr id="6" name="TextBox 5"/>
          <p:cNvSpPr txBox="1"/>
          <p:nvPr/>
        </p:nvSpPr>
        <p:spPr>
          <a:xfrm>
            <a:off x="182880" y="6263640"/>
            <a:ext cx="5852160" cy="365760"/>
          </a:xfrm>
          <a:prstGeom prst="rect">
            <a:avLst/>
          </a:prstGeom>
          <a:noFill/>
        </p:spPr>
        <p:txBody>
          <a:bodyPr wrap="square">
            <a:spAutoFit/>
          </a:bodyPr>
          <a:lstStyle/>
          <a:p>
            <a:pPr algn="ctr">
              <a:defRPr sz="1100" b="1">
                <a:solidFill>
                  <a:srgbClr val="0D5C63"/>
                </a:solidFill>
                <a:latin typeface="Calibri"/>
              </a:defRPr>
            </a:pPr>
            <a:r>
              <a:t>Face poke (trial-locked)</a:t>
            </a:r>
          </a:p>
        </p:txBody>
      </p:sp>
      <p:sp>
        <p:nvSpPr>
          <p:cNvPr id="7" name="TextBox 6"/>
          <p:cNvSpPr txBox="1"/>
          <p:nvPr/>
        </p:nvSpPr>
        <p:spPr>
          <a:xfrm>
            <a:off x="6126480" y="6263640"/>
            <a:ext cx="5852160" cy="365760"/>
          </a:xfrm>
          <a:prstGeom prst="rect">
            <a:avLst/>
          </a:prstGeom>
          <a:noFill/>
        </p:spPr>
        <p:txBody>
          <a:bodyPr wrap="square">
            <a:spAutoFit/>
          </a:bodyPr>
          <a:lstStyle/>
          <a:p>
            <a:pPr algn="ctr">
              <a:defRPr sz="1100" b="1">
                <a:solidFill>
                  <a:srgbClr val="B0710B"/>
                </a:solidFill>
                <a:latin typeface="Calibri"/>
              </a:defRPr>
            </a:pPr>
            <a:r>
              <a:t>Melittin (session-level)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286000"/>
            <a:ext cx="10881360" cy="822960"/>
          </a:xfrm>
          <a:prstGeom prst="rect">
            <a:avLst/>
          </a:prstGeom>
          <a:noFill/>
        </p:spPr>
        <p:txBody>
          <a:bodyPr wrap="square">
            <a:spAutoFit/>
          </a:bodyPr>
          <a:lstStyle/>
          <a:p>
            <a:pPr algn="ctr">
              <a:defRPr sz="3200" b="1">
                <a:solidFill>
                  <a:srgbClr val="0D5C63"/>
                </a:solidFill>
                <a:latin typeface="Calibri"/>
              </a:defRPr>
            </a:pPr>
            <a:r>
              <a:t>The decision</a:t>
            </a:r>
          </a:p>
        </p:txBody>
      </p:sp>
      <p:sp>
        <p:nvSpPr>
          <p:cNvPr id="3" name="TextBox 2"/>
          <p:cNvSpPr txBox="1"/>
          <p:nvPr/>
        </p:nvSpPr>
        <p:spPr>
          <a:xfrm>
            <a:off x="914400" y="3291840"/>
            <a:ext cx="10332720" cy="1280160"/>
          </a:xfrm>
          <a:prstGeom prst="rect">
            <a:avLst/>
          </a:prstGeom>
          <a:noFill/>
        </p:spPr>
        <p:txBody>
          <a:bodyPr wrap="square">
            <a:spAutoFit/>
          </a:bodyPr>
          <a:lstStyle/>
          <a:p>
            <a:pPr algn="ctr">
              <a:defRPr sz="1700" b="0">
                <a:solidFill>
                  <a:srgbClr val="555555"/>
                </a:solidFill>
                <a:latin typeface="Calibri"/>
              </a:defRPr>
            </a:pPr>
            <a:r>
              <a:t>Which paradigm do we build the SBI drug plan around?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457200"/>
          </a:xfrm>
          <a:prstGeom prst="rect">
            <a:avLst/>
          </a:prstGeom>
          <a:noFill/>
        </p:spPr>
        <p:txBody>
          <a:bodyPr wrap="square">
            <a:spAutoFit/>
          </a:bodyPr>
          <a:lstStyle/>
          <a:p>
            <a:pPr algn="l">
              <a:defRPr sz="2200" b="1">
                <a:solidFill>
                  <a:srgbClr val="1F3A5F"/>
                </a:solidFill>
                <a:latin typeface="Calibri"/>
              </a:defRPr>
            </a:pPr>
            <a:r>
              <a:t>Face poke vs melittin — what each buys us</a:t>
            </a:r>
          </a:p>
        </p:txBody>
      </p:sp>
      <p:graphicFrame>
        <p:nvGraphicFramePr>
          <p:cNvPr id="3" name="Table 2"/>
          <p:cNvGraphicFramePr>
            <a:graphicFrameLocks noGrp="1"/>
          </p:cNvGraphicFramePr>
          <p:nvPr/>
        </p:nvGraphicFramePr>
        <p:xfrm>
          <a:off x="502920" y="1051560"/>
          <a:ext cx="11064240" cy="3785616"/>
        </p:xfrm>
        <a:graphic>
          <a:graphicData uri="http://schemas.openxmlformats.org/drawingml/2006/table">
            <a:tbl>
              <a:tblPr firstRow="1" bandRow="1">
                <a:tableStyleId>{5C22544A-7EE6-4342-B048-85BDC9FD1C3A}</a:tableStyleId>
              </a:tblPr>
              <a:tblGrid>
                <a:gridCol w="2103120"/>
                <a:gridCol w="4480560"/>
                <a:gridCol w="4480560"/>
              </a:tblGrid>
              <a:tr h="473202">
                <a:tc>
                  <a:txBody>
                    <a:bodyPr/>
                    <a:lstStyle/>
                    <a:p>
                      <a:pPr>
                        <a:defRPr sz="1300" b="1">
                          <a:solidFill>
                            <a:srgbClr val="FFFFFF"/>
                          </a:solidFill>
                        </a:defRPr>
                      </a:pPr>
                    </a:p>
                  </a:txBody>
                  <a:tcPr>
                    <a:solidFill>
                      <a:srgbClr val="1F3A5F"/>
                    </a:solidFill>
                  </a:tcPr>
                </a:tc>
                <a:tc>
                  <a:txBody>
                    <a:bodyPr/>
                    <a:lstStyle/>
                    <a:p>
                      <a:pPr>
                        <a:defRPr sz="1300" b="1">
                          <a:solidFill>
                            <a:srgbClr val="FFFFFF"/>
                          </a:solidFill>
                        </a:defRPr>
                      </a:pPr>
                      <a:r>
                        <a:t>Face poke</a:t>
                      </a:r>
                    </a:p>
                  </a:txBody>
                  <a:tcPr>
                    <a:solidFill>
                      <a:srgbClr val="1F3A5F"/>
                    </a:solidFill>
                  </a:tcPr>
                </a:tc>
                <a:tc>
                  <a:txBody>
                    <a:bodyPr/>
                    <a:lstStyle/>
                    <a:p>
                      <a:pPr>
                        <a:defRPr sz="1300" b="1">
                          <a:solidFill>
                            <a:srgbClr val="FFFFFF"/>
                          </a:solidFill>
                        </a:defRPr>
                      </a:pPr>
                      <a:r>
                        <a:t>Melittin</a:t>
                      </a:r>
                    </a:p>
                  </a:txBody>
                  <a:tcPr>
                    <a:solidFill>
                      <a:srgbClr val="1F3A5F"/>
                    </a:solidFill>
                  </a:tcPr>
                </a:tc>
              </a:tr>
              <a:tr h="473202">
                <a:tc>
                  <a:txBody>
                    <a:bodyPr/>
                    <a:lstStyle/>
                    <a:p>
                      <a:pPr>
                        <a:defRPr sz="1200" b="1">
                          <a:solidFill>
                            <a:srgbClr val="555555"/>
                          </a:solidFill>
                        </a:defRPr>
                      </a:pPr>
                      <a:r>
                        <a:t>Pain type</a:t>
                      </a:r>
                    </a:p>
                  </a:txBody>
                  <a:tcPr/>
                </a:tc>
                <a:tc>
                  <a:txBody>
                    <a:bodyPr/>
                    <a:lstStyle/>
                    <a:p>
                      <a:pPr>
                        <a:defRPr sz="1200" b="0">
                          <a:solidFill>
                            <a:srgbClr val="555555"/>
                          </a:solidFill>
                        </a:defRPr>
                      </a:pPr>
                      <a:r>
                        <a:t>Phasic, mixed (touch + nox + surprise)</a:t>
                      </a:r>
                    </a:p>
                  </a:txBody>
                  <a:tcPr/>
                </a:tc>
                <a:tc>
                  <a:txBody>
                    <a:bodyPr/>
                    <a:lstStyle/>
                    <a:p>
                      <a:pPr>
                        <a:defRPr sz="1200" b="0">
                          <a:solidFill>
                            <a:srgbClr val="555555"/>
                          </a:solidFill>
                        </a:defRPr>
                      </a:pPr>
                      <a:r>
                        <a:t>Sustained inflammatory-type</a:t>
                      </a:r>
                    </a:p>
                  </a:txBody>
                  <a:tcPr/>
                </a:tc>
              </a:tr>
              <a:tr h="473202">
                <a:tc>
                  <a:txBody>
                    <a:bodyPr/>
                    <a:lstStyle/>
                    <a:p>
                      <a:pPr>
                        <a:defRPr sz="1200" b="1">
                          <a:solidFill>
                            <a:srgbClr val="555555"/>
                          </a:solidFill>
                        </a:defRPr>
                      </a:pPr>
                      <a:r>
                        <a:t>Trials</a:t>
                      </a:r>
                    </a:p>
                  </a:txBody>
                  <a:tcPr/>
                </a:tc>
                <a:tc>
                  <a:txBody>
                    <a:bodyPr/>
                    <a:lstStyle/>
                    <a:p>
                      <a:pPr>
                        <a:defRPr sz="1200" b="0">
                          <a:solidFill>
                            <a:srgbClr val="555555"/>
                          </a:solidFill>
                        </a:defRPr>
                      </a:pPr>
                      <a:r>
                        <a:t>~55 pokes per session, trial-locked</a:t>
                      </a:r>
                    </a:p>
                  </a:txBody>
                  <a:tcPr/>
                </a:tc>
                <a:tc>
                  <a:txBody>
                    <a:bodyPr/>
                    <a:lstStyle/>
                    <a:p>
                      <a:pPr>
                        <a:defRPr sz="1200" b="0">
                          <a:solidFill>
                            <a:srgbClr val="555555"/>
                          </a:solidFill>
                        </a:defRPr>
                      </a:pPr>
                      <a:r>
                        <a:t>One injection, no trial structure</a:t>
                      </a:r>
                    </a:p>
                  </a:txBody>
                  <a:tcPr/>
                </a:tc>
              </a:tr>
              <a:tr h="473202">
                <a:tc>
                  <a:txBody>
                    <a:bodyPr/>
                    <a:lstStyle/>
                    <a:p>
                      <a:pPr>
                        <a:defRPr sz="1200" b="1">
                          <a:solidFill>
                            <a:srgbClr val="555555"/>
                          </a:solidFill>
                        </a:defRPr>
                      </a:pPr>
                      <a:r>
                        <a:t>Cell tracking</a:t>
                      </a:r>
                    </a:p>
                  </a:txBody>
                  <a:tcPr/>
                </a:tc>
                <a:tc>
                  <a:txBody>
                    <a:bodyPr/>
                    <a:lstStyle/>
                    <a:p>
                      <a:pPr>
                        <a:defRPr sz="1200" b="0">
                          <a:solidFill>
                            <a:srgbClr val="555555"/>
                          </a:solidFill>
                        </a:defRPr>
                      </a:pPr>
                      <a:r>
                        <a:t>Same cells throughout session</a:t>
                      </a:r>
                    </a:p>
                  </a:txBody>
                  <a:tcPr/>
                </a:tc>
                <a:tc>
                  <a:txBody>
                    <a:bodyPr/>
                    <a:lstStyle/>
                    <a:p>
                      <a:pPr>
                        <a:defRPr sz="1200" b="0">
                          <a:solidFill>
                            <a:srgbClr val="555555"/>
                          </a:solidFill>
                        </a:defRPr>
                      </a:pPr>
                      <a:r>
                        <a:t>Independent IDs BL vs INJ</a:t>
                      </a:r>
                    </a:p>
                  </a:txBody>
                  <a:tcPr/>
                </a:tc>
              </a:tr>
              <a:tr h="473202">
                <a:tc>
                  <a:txBody>
                    <a:bodyPr/>
                    <a:lstStyle/>
                    <a:p>
                      <a:pPr>
                        <a:defRPr sz="1200" b="1">
                          <a:solidFill>
                            <a:srgbClr val="555555"/>
                          </a:solidFill>
                        </a:defRPr>
                      </a:pPr>
                      <a:r>
                        <a:t>Statistics</a:t>
                      </a:r>
                    </a:p>
                  </a:txBody>
                  <a:tcPr/>
                </a:tc>
                <a:tc>
                  <a:txBody>
                    <a:bodyPr/>
                    <a:lstStyle/>
                    <a:p>
                      <a:pPr>
                        <a:defRPr sz="1200" b="0">
                          <a:solidFill>
                            <a:srgbClr val="555555"/>
                          </a:solidFill>
                        </a:defRPr>
                      </a:pPr>
                      <a:r>
                        <a:t>Clean per-cell trial statistics</a:t>
                      </a:r>
                    </a:p>
                  </a:txBody>
                  <a:tcPr/>
                </a:tc>
                <a:tc>
                  <a:txBody>
                    <a:bodyPr/>
                    <a:lstStyle/>
                    <a:p>
                      <a:pPr>
                        <a:defRPr sz="1200" b="0">
                          <a:solidFill>
                            <a:srgbClr val="555555"/>
                          </a:solidFill>
                        </a:defRPr>
                      </a:pPr>
                      <a:r>
                        <a:t>Session-level only</a:t>
                      </a:r>
                    </a:p>
                  </a:txBody>
                  <a:tcPr/>
                </a:tc>
              </a:tr>
              <a:tr h="473202">
                <a:tc>
                  <a:txBody>
                    <a:bodyPr/>
                    <a:lstStyle/>
                    <a:p>
                      <a:pPr>
                        <a:defRPr sz="1200" b="1">
                          <a:solidFill>
                            <a:srgbClr val="555555"/>
                          </a:solidFill>
                        </a:defRPr>
                      </a:pPr>
                      <a:r>
                        <a:t>Drug arm</a:t>
                      </a:r>
                    </a:p>
                  </a:txBody>
                  <a:tcPr/>
                </a:tc>
                <a:tc>
                  <a:txBody>
                    <a:bodyPr/>
                    <a:lstStyle/>
                    <a:p>
                      <a:pPr>
                        <a:defRPr sz="1200" b="0">
                          <a:solidFill>
                            <a:srgbClr val="555555"/>
                          </a:solidFill>
                        </a:defRPr>
                      </a:pPr>
                      <a:r>
                        <a:t>None — no drug data at all</a:t>
                      </a:r>
                    </a:p>
                  </a:txBody>
                  <a:tcPr/>
                </a:tc>
                <a:tc>
                  <a:txBody>
                    <a:bodyPr/>
                    <a:lstStyle/>
                    <a:p>
                      <a:pPr>
                        <a:defRPr sz="1200" b="0">
                          <a:solidFill>
                            <a:srgbClr val="555555"/>
                          </a:solidFill>
                        </a:defRPr>
                      </a:pPr>
                      <a:r>
                        <a:t>Morphine exists (n = 2 mice, n.s.)</a:t>
                      </a:r>
                    </a:p>
                  </a:txBody>
                  <a:tcPr/>
                </a:tc>
              </a:tr>
              <a:tr h="473202">
                <a:tc>
                  <a:txBody>
                    <a:bodyPr/>
                    <a:lstStyle/>
                    <a:p>
                      <a:pPr>
                        <a:defRPr sz="1200" b="1">
                          <a:solidFill>
                            <a:srgbClr val="555555"/>
                          </a:solidFill>
                        </a:defRPr>
                      </a:pPr>
                      <a:r>
                        <a:t>Throughput</a:t>
                      </a:r>
                    </a:p>
                  </a:txBody>
                  <a:tcPr/>
                </a:tc>
                <a:tc>
                  <a:txBody>
                    <a:bodyPr/>
                    <a:lstStyle/>
                    <a:p>
                      <a:pPr>
                        <a:defRPr sz="1200" b="0">
                          <a:solidFill>
                            <a:srgbClr val="555555"/>
                          </a:solidFill>
                        </a:defRPr>
                      </a:pPr>
                      <a:r>
                        <a:t>Fast, repeatable, same animal over days</a:t>
                      </a:r>
                    </a:p>
                  </a:txBody>
                  <a:tcPr/>
                </a:tc>
                <a:tc>
                  <a:txBody>
                    <a:bodyPr/>
                    <a:lstStyle/>
                    <a:p>
                      <a:pPr>
                        <a:defRPr sz="1200" b="0">
                          <a:solidFill>
                            <a:srgbClr val="555555"/>
                          </a:solidFill>
                        </a:defRPr>
                      </a:pPr>
                      <a:r>
                        <a:t>Slow, one shot per session</a:t>
                      </a:r>
                    </a:p>
                  </a:txBody>
                  <a:tcPr/>
                </a:tc>
              </a:tr>
              <a:tr h="473202">
                <a:tc>
                  <a:txBody>
                    <a:bodyPr/>
                    <a:lstStyle/>
                    <a:p>
                      <a:pPr>
                        <a:defRPr sz="1200" b="1">
                          <a:solidFill>
                            <a:srgbClr val="555555"/>
                          </a:solidFill>
                        </a:defRPr>
                      </a:pPr>
                      <a:r>
                        <a:t>Best fit for</a:t>
                      </a:r>
                    </a:p>
                  </a:txBody>
                  <a:tcPr/>
                </a:tc>
                <a:tc>
                  <a:txBody>
                    <a:bodyPr/>
                    <a:lstStyle/>
                    <a:p>
                      <a:pPr>
                        <a:defRPr sz="1200" b="0">
                          <a:solidFill>
                            <a:srgbClr val="555555"/>
                          </a:solidFill>
                        </a:defRPr>
                      </a:pPr>
                      <a:r>
                        <a:t>Circuit mapping, stimulus panel designs</a:t>
                      </a:r>
                    </a:p>
                  </a:txBody>
                  <a:tcPr/>
                </a:tc>
                <a:tc>
                  <a:txBody>
                    <a:bodyPr/>
                    <a:lstStyle/>
                    <a:p>
                      <a:pPr>
                        <a:defRPr sz="1200" b="0">
                          <a:solidFill>
                            <a:srgbClr val="555555"/>
                          </a:solidFill>
                        </a:defRPr>
                      </a:pPr>
                      <a:r>
                        <a:t>Analgesic efficacy over time</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502920"/>
          </a:xfrm>
          <a:prstGeom prst="rect">
            <a:avLst/>
          </a:prstGeom>
          <a:noFill/>
        </p:spPr>
        <p:txBody>
          <a:bodyPr wrap="square">
            <a:spAutoFit/>
          </a:bodyPr>
          <a:lstStyle/>
          <a:p>
            <a:pPr algn="l">
              <a:defRPr sz="2400" b="1">
                <a:solidFill>
                  <a:srgbClr val="1F3A5F"/>
                </a:solidFill>
                <a:latin typeface="Calibri"/>
              </a:defRPr>
            </a:pPr>
            <a:r>
              <a:t>What I need from Mark and Greg</a:t>
            </a:r>
          </a:p>
        </p:txBody>
      </p:sp>
      <p:sp>
        <p:nvSpPr>
          <p:cNvPr id="3" name="TextBox 2"/>
          <p:cNvSpPr txBox="1"/>
          <p:nvPr/>
        </p:nvSpPr>
        <p:spPr>
          <a:xfrm>
            <a:off x="777240" y="1005840"/>
            <a:ext cx="10698480" cy="5486400"/>
          </a:xfrm>
          <a:prstGeom prst="rect">
            <a:avLst/>
          </a:prstGeom>
          <a:noFill/>
        </p:spPr>
        <p:txBody>
          <a:bodyPr wrap="square">
            <a:spAutoFit/>
          </a:bodyPr>
          <a:lstStyle/>
          <a:p>
            <a:pPr algn="l">
              <a:spcAft>
                <a:spcPts val="1100"/>
              </a:spcAft>
              <a:defRPr sz="1600" b="1">
                <a:solidFill>
                  <a:srgbClr val="1F3A5F"/>
                </a:solidFill>
                <a:latin typeface="Calibri"/>
              </a:defRPr>
            </a:pPr>
            <a:r>
              <a:t>Pick the paradigm. These are two different experimental plans and we should commit to one.</a:t>
            </a:r>
          </a:p>
          <a:p>
            <a:pPr algn="l">
              <a:spcAft>
                <a:spcPts val="1100"/>
              </a:spcAft>
              <a:defRPr sz="1600" b="0">
                <a:solidFill>
                  <a:srgbClr val="555555"/>
                </a:solidFill>
                <a:latin typeface="Calibri"/>
              </a:defRPr>
            </a:pPr>
            <a:r>
              <a:t>If melittin: the immediate job is a proper drug design — vehicle arm, within-animal morphine, enough mice to power it. The current morphine data is suggestive at best and I would not build on it as it stands.</a:t>
            </a:r>
          </a:p>
          <a:p>
            <a:pPr algn="l">
              <a:spcAft>
                <a:spcPts val="1100"/>
              </a:spcAft>
              <a:defRPr sz="1600" b="0">
                <a:solidFill>
                  <a:srgbClr val="555555"/>
                </a:solidFill>
                <a:latin typeface="Calibri"/>
              </a:defRPr>
            </a:pPr>
            <a:r>
              <a:t>If face poke: the immediate job is the stimulus panel from Q3, so pain / touch / surprise is answerable by design, plus a drug arm which currently does not exist.</a:t>
            </a:r>
          </a:p>
          <a:p>
            <a:pPr algn="l">
              <a:spcAft>
                <a:spcPts val="1100"/>
              </a:spcAft>
              <a:defRPr sz="1600" b="1">
                <a:solidFill>
                  <a:srgbClr val="0D5C63"/>
                </a:solidFill>
                <a:latin typeface="Calibri"/>
              </a:defRPr>
            </a:pPr>
            <a:r>
              <a:t>Either way I will add the Allen CCF registration once, on the chosen paradigm.</a:t>
            </a:r>
          </a:p>
          <a:p>
            <a:pPr algn="l">
              <a:spcAft>
                <a:spcPts val="1100"/>
              </a:spcAft>
              <a:defRPr sz="1600" b="1">
                <a:solidFill>
                  <a:srgbClr val="9B1B30"/>
                </a:solidFill>
                <a:latin typeface="Calibri"/>
              </a:defRPr>
            </a:pPr>
            <a:r>
              <a:t>I have paused crystal-skull imaging until this is settled — I would rather hold than collect another 18 recordings on the paradigm we end up not using.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548640"/>
          </a:xfrm>
          <a:prstGeom prst="rect">
            <a:avLst/>
          </a:prstGeom>
          <a:noFill/>
        </p:spPr>
        <p:txBody>
          <a:bodyPr wrap="square">
            <a:spAutoFit/>
          </a:bodyPr>
          <a:lstStyle/>
          <a:p>
            <a:pPr algn="ctr">
              <a:defRPr sz="2800" b="1">
                <a:solidFill>
                  <a:srgbClr val="1F3A5F"/>
                </a:solidFill>
                <a:latin typeface="Calibri"/>
              </a:defRPr>
            </a:pPr>
            <a:r>
              <a:t>Take home</a:t>
            </a:r>
          </a:p>
        </p:txBody>
      </p:sp>
      <p:sp>
        <p:nvSpPr>
          <p:cNvPr id="3" name="TextBox 2"/>
          <p:cNvSpPr txBox="1"/>
          <p:nvPr/>
        </p:nvSpPr>
        <p:spPr>
          <a:xfrm>
            <a:off x="914400" y="1371600"/>
            <a:ext cx="10332720" cy="4389120"/>
          </a:xfrm>
          <a:prstGeom prst="rect">
            <a:avLst/>
          </a:prstGeom>
          <a:noFill/>
        </p:spPr>
        <p:txBody>
          <a:bodyPr wrap="square">
            <a:spAutoFit/>
          </a:bodyPr>
          <a:lstStyle/>
          <a:p>
            <a:pPr algn="l">
              <a:defRPr sz="1700" b="0">
                <a:solidFill>
                  <a:srgbClr val="555555"/>
                </a:solidFill>
                <a:latin typeface="Calibri"/>
              </a:defRPr>
            </a:pPr>
            <a:r>
              <a:t>1.  Every mouse, in every condition, is inhibition-dominated. Face poke 8.6% excited vs 27.6% inhibited across 43,156 cells; melittin 27% up vs 64% down. No animal reverses.</a:t>
            </a:r>
            <a:br/>
            <a:br/>
            <a:r>
              <a:t>2.  No Allen area names yet — the FOVs are not CCF-registered. What is solid is the anterior-excited / posterior-inhibited gradient, 18/18 recordings.</a:t>
            </a:r>
            <a:br/>
            <a:br/>
            <a:r>
              <a:t>3.  Pain vs touch vs surprise cannot be separated in this dataset. It needs an interleaved stimulus panel, not more analysis.</a:t>
            </a:r>
            <a:br/>
            <a:br/>
            <a:r>
              <a:t>4.  Morphine did not detectably reduce the melittin response — not the fraction of excited cells, not their amplitude, not the net population shift. With n = 4 vs 2 mice and no vehicle arm, that is underpowered, not a demonstrated negative.</a:t>
            </a:r>
            <a:br/>
            <a:br/>
            <a:r>
              <a:t>5.  So the drug question is still open on both paradigms, and the decision on which one to use is the blocking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