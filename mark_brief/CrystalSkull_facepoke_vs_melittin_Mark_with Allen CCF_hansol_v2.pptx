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9" r:id="rId16"/>
    <p:sldId id="275" r:id="rId17"/>
    <p:sldId id="276" r:id="rId18"/>
    <p:sldId id="277" r:id="rId19"/>
    <p:sldId id="270" r:id="rId20"/>
    <p:sldId id="278" r:id="rId21"/>
    <p:sldId id="271" r:id="rId22"/>
    <p:sldId id="272" r:id="rId23"/>
    <p:sldId id="273" r:id="rId24"/>
    <p:sldId id="274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3716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1F3A5F"/>
                </a:solidFill>
                <a:latin typeface="Calibri"/>
              </a:defRPr>
            </a:pPr>
            <a:r>
              <a:t>Two crystal-skull assays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55555"/>
                </a:solidFill>
                <a:latin typeface="Calibri"/>
              </a:defRPr>
            </a:pPr>
            <a:r>
              <a:t>Face poking  vs  melittin  (± morphine)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56616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5C63"/>
                </a:solidFill>
                <a:latin typeface="Calibri"/>
              </a:defRPr>
            </a:pPr>
            <a:r>
              <a:t>Same visual language: population traces, up vs down cells, FOV maps. Face poke is peri-event. Melittin is baseline vs injection (not time-locked, cells not matched). For SBI: which paradigm?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7373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How to read the two assays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49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555"/>
                </a:solidFill>
                <a:latin typeface="Calibri"/>
              </a:defRPr>
            </a:pPr>
            <a:r>
              <a:t>Face poke (13+18 Aug): 18 movies, 3 mice. t=0 is the poke. Excited/inhibited = 0.4–1.2 s vs −2–0 s, signed-rank p&lt;0.05. No drug. Melittin: 12 BL/INJ recordings. Both arms cropped to the shorter duration. Up/down = injection cell vs baseline session mean (independent EXTRACT IDs). Melittin+morphine uses the same CS1014 mice on a different day.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2860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D5C63"/>
                </a:solidFill>
                <a:latin typeface="Calibri"/>
              </a:defRPr>
            </a:pPr>
            <a:r>
              <a:t>1.  Face poking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555"/>
                </a:solidFill>
                <a:latin typeface="Calibri"/>
              </a:defRPr>
            </a:pPr>
            <a:r>
              <a:t>No drug  |  poke-locked  |  18 movies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3A5F"/>
                </a:solidFill>
                <a:latin typeface="Calibri"/>
              </a:defRPr>
            </a:pPr>
            <a:r>
              <a:t>Face poke  |  population peri-poke (n = 18)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38912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Gray = one movie. Red/black = mean ± SEM. Peri-window −2 to +3 s.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A brief transient, a dip, then a rebound. 14/18 movies p&lt;0.05. The all-cell mean is modest because excited and inhibited cells cancel.</a:t>
            </a:r>
          </a:p>
        </p:txBody>
      </p:sp>
      <p:pic>
        <p:nvPicPr>
          <p:cNvPr id="4" name="Picture 3" descr="fig1_n18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5804"/>
            <a:ext cx="11612880" cy="50264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3A5F"/>
                </a:solidFill>
                <a:latin typeface="Calibri"/>
              </a:defRPr>
            </a:pPr>
            <a:r>
              <a:t>Face poke  |  excited vs inhibited cells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38912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Left: mean STA. Right: % of neurons per movie. Same 0.4–1.2 s vs −2–0 s rule.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Movie-mean ~8.8% excited / 28.2% inhibited. Pooled: 3,719 / 43,156 excited (8.6%) and 11,908 inhibited (27.6%).</a:t>
            </a:r>
          </a:p>
        </p:txBody>
      </p:sp>
      <p:pic>
        <p:nvPicPr>
          <p:cNvPr id="4" name="Picture 3" descr="fig2_n18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13898"/>
            <a:ext cx="11612880" cy="507028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3A5F"/>
                </a:solidFill>
                <a:latin typeface="Calibri"/>
              </a:defRPr>
            </a:pPr>
            <a:r>
              <a:t>Face poke  |  how many cells per mouse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38912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Pooled within mouse across movies (both days). Excited/inhibited as above.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14/18 movies p&lt;0.05. Every mouse has more inhibited than excited cells.</a:t>
            </a:r>
          </a:p>
        </p:txBody>
      </p:sp>
      <p:pic>
        <p:nvPicPr>
          <p:cNvPr id="4" name="Picture 3" descr="facepoke_per_m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50614"/>
            <a:ext cx="11612880" cy="479685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11612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Face poke  |  where they sit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02336"/>
            <a:ext cx="1161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Left: all FOVs (P left, A right). Right: AP bias of poke amplitude. Not CCF/Allen registered.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Excited and inhibited cells are intermingled. 18/18 recordings: more excitation anterior, more inhibition posterior.</a:t>
            </a:r>
          </a:p>
        </p:txBody>
      </p:sp>
      <p:pic>
        <p:nvPicPr>
          <p:cNvPr id="4" name="Picture 3" descr="fig4_spatial_alig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373571"/>
            <a:ext cx="5943600" cy="2705216"/>
          </a:xfrm>
          <a:prstGeom prst="rect">
            <a:avLst/>
          </a:prstGeom>
        </p:spPr>
      </p:pic>
      <p:pic>
        <p:nvPicPr>
          <p:cNvPr id="5" name="Picture 4" descr="takehome_anterior_posteri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043592"/>
            <a:ext cx="5943600" cy="33651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2860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D5C63"/>
                </a:solidFill>
                <a:latin typeface="Calibri"/>
              </a:defRPr>
            </a:pPr>
            <a:r>
              <a:t>2.  Melittin  ± morphine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555"/>
                </a:solidFill>
                <a:latin typeface="Calibri"/>
              </a:defRPr>
            </a:pPr>
            <a:r>
              <a:t>Not poke-locked  |  BL vs injection  |  matched to the shorter duration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11612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Melittin only  |  baseline vs injection  (n = 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02336"/>
            <a:ext cx="1161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Same layout as face-poke Fig1/Fig3. Time is the recording, not a poke. Gray-tint = each recording.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Population mean activity falls after injection in 7/8 recordings. Down cells outnumber up cells, as in face poke.</a:t>
            </a:r>
          </a:p>
        </p:txBody>
      </p:sp>
      <p:pic>
        <p:nvPicPr>
          <p:cNvPr id="4" name="Picture 3" descr="fig1_population_psth_melittin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443811"/>
            <a:ext cx="5943600" cy="2564736"/>
          </a:xfrm>
          <a:prstGeom prst="rect">
            <a:avLst/>
          </a:prstGeom>
        </p:spPr>
      </p:pic>
      <p:pic>
        <p:nvPicPr>
          <p:cNvPr id="5" name="Picture 4" descr="fig3_responsive_cells_melittin_on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465761"/>
            <a:ext cx="5943600" cy="25208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11612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Melittin + morphine  |  baseline vs injection  (n = 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02336"/>
            <a:ext cx="1161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Same CS1014 mice as the melittin-only pair, different day. Same crop-to-shorter-duration rule.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Direction splits: 1/4 recordings Δ &lt; 0. This is exploratory (small n).</a:t>
            </a:r>
          </a:p>
        </p:txBody>
      </p:sp>
      <p:pic>
        <p:nvPicPr>
          <p:cNvPr id="4" name="Picture 3" descr="fig1_population_psth_morph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443811"/>
            <a:ext cx="5943600" cy="2564736"/>
          </a:xfrm>
          <a:prstGeom prst="rect">
            <a:avLst/>
          </a:prstGeom>
        </p:spPr>
      </p:pic>
      <p:pic>
        <p:nvPicPr>
          <p:cNvPr id="5" name="Picture 4" descr="fig3_responsive_cells_morph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465761"/>
            <a:ext cx="5943600" cy="25208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3A5F"/>
                </a:solidFill>
                <a:latin typeface="Calibri"/>
              </a:defRPr>
            </a:pPr>
            <a:r>
              <a:t>Three cases  |  baseline → 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38912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Each line is one recording. Left: melittin only. Right: melittin + morphine. Y = population mean EXTRACT activity (8th-pct dF/F-like).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Melittin only: 7/8 go down. Morphine: 1/4. The thick line is the cohort mean.</a:t>
            </a:r>
          </a:p>
        </p:txBody>
      </p:sp>
      <p:pic>
        <p:nvPicPr>
          <p:cNvPr id="4" name="Picture 3" descr="melittin_bl_vs_in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585"/>
            <a:ext cx="11612880" cy="502890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11612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Melittin  |  per mouse, and paired CS1014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02336"/>
            <a:ext cx="1161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Left: injection-cell up/down vs BL session mean (not the same cells). Right: paired Δ (INJ − BL) for CS1014-1b/2w vs 1014m01b/02w.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Melittin-only Δ is negative in every plane. In 3/4 paired CS1014 mouse×mirror lines, morphine is less suppressed or reversed.</a:t>
            </a:r>
          </a:p>
        </p:txBody>
      </p:sp>
      <p:pic>
        <p:nvPicPr>
          <p:cNvPr id="4" name="Picture 3" descr="melittin_per_m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505238"/>
            <a:ext cx="5943600" cy="2441882"/>
          </a:xfrm>
          <a:prstGeom prst="rect">
            <a:avLst/>
          </a:prstGeom>
        </p:spPr>
      </p:pic>
      <p:pic>
        <p:nvPicPr>
          <p:cNvPr id="5" name="Picture 4" descr="fig_takehome_pai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854256"/>
            <a:ext cx="5943600" cy="374384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11612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Melittin  |  FOV maps  (same red/blue language)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02336"/>
            <a:ext cx="1161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EXTRACT footprints × amp. Red = up vs BL mean, blue = down. P left, A right. Cells are not matched to baseline.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Local mix of up and down, as in face poke. Do not read this as a poke map.</a:t>
            </a:r>
          </a:p>
        </p:txBody>
      </p:sp>
      <p:pic>
        <p:nvPicPr>
          <p:cNvPr id="4" name="Picture 3" descr="fig4_spatial_response_melittin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923438"/>
            <a:ext cx="5943600" cy="3605482"/>
          </a:xfrm>
          <a:prstGeom prst="rect">
            <a:avLst/>
          </a:prstGeom>
        </p:spPr>
      </p:pic>
      <p:pic>
        <p:nvPicPr>
          <p:cNvPr id="5" name="Picture 4" descr="fig4_spatial_response_morph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429199"/>
            <a:ext cx="5943600" cy="25939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rPr dirty="0"/>
              <a:t>What this does and does not say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rPr dirty="0"/>
              <a:t>•  Face poke: every mouse has ~7–13% excited and ~23–30% inhibited poke-locked cells. No Allen/CCF areas yet — only AP on the skull.</a:t>
            </a:r>
          </a:p>
          <a:p>
            <a:pPr algn="l">
              <a:spcAft>
                <a:spcPts val="120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rPr dirty="0"/>
              <a:t>•  Face poke cannot split pain vs touch vs surprise. There is no drug on those movies.</a:t>
            </a:r>
          </a:p>
          <a:p>
            <a:pPr algn="l">
              <a:spcAft>
                <a:spcPts val="120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rPr dirty="0"/>
              <a:t>•  Melittin is a different assay. Baseline and injection EXTRACT IDs are independent, so we cannot follow the same cell into morphine.</a:t>
            </a:r>
          </a:p>
          <a:p>
            <a:pPr algn="l">
              <a:spcAft>
                <a:spcPts val="120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rPr dirty="0"/>
              <a:t>•  Session-level: melittin alone lowers population activity in 7/8 recordings (one CS1014-2w plane goes up after matching durations). Morphine pairing: 3/4 </a:t>
            </a:r>
            <a:r>
              <a:rPr dirty="0" err="1"/>
              <a:t>mouse×mirror</a:t>
            </a:r>
            <a:r>
              <a:rPr dirty="0"/>
              <a:t> lines less suppressed or reversed. Small n.</a:t>
            </a:r>
          </a:p>
          <a:p>
            <a:pPr algn="l">
              <a:spcAft>
                <a:spcPts val="120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rPr dirty="0"/>
              <a:t>•  Please confirm which paradigm to take forward for SBI (face poke vs melittin). Imaging is paused until then.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8C43C9-1E33-8632-A01A-1D0D6089D520}"/>
              </a:ext>
            </a:extLst>
          </p:cNvPr>
          <p:cNvSpPr txBox="1"/>
          <p:nvPr/>
        </p:nvSpPr>
        <p:spPr>
          <a:xfrm>
            <a:off x="3456432" y="2706624"/>
            <a:ext cx="11064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rPr lang="en-US" dirty="0"/>
              <a:t>Allen CCF registered, to see spatial diversity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672823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FF75D5-33B0-7843-B458-A768C2128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0799"/>
            <a:ext cx="12192000" cy="6316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3657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31939A-6EAE-D275-8683-9C18D658D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409" y="868768"/>
            <a:ext cx="9875181" cy="512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5436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DD31A9-A9F8-D82F-6689-87E59B2736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409" y="2148884"/>
            <a:ext cx="9875181" cy="2560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3521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651152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rPr dirty="0"/>
              <a:t>Allen CCF  |  all recordings merged</a:t>
            </a:r>
            <a:r>
              <a:rPr lang="en-US" dirty="0"/>
              <a:t>: Melittin vs Melittin+ morphine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26327E-EC6C-6FBC-C4CF-AE3FBCC712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0451"/>
          <a:stretch>
            <a:fillRect/>
          </a:stretch>
        </p:blipFill>
        <p:spPr>
          <a:xfrm>
            <a:off x="2258975" y="5010912"/>
            <a:ext cx="7429963" cy="1737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38912"/>
            <a:ext cx="1152144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rPr sz="1200" dirty="0">
                <a:solidFill>
                  <a:srgbClr val="555555"/>
                </a:solidFill>
              </a:rPr>
              <a:t>What:  Local % of injection cells up (red) or down (blue) vs that day's baseline, on Allen CCF.</a:t>
            </a:r>
          </a:p>
          <a:p>
            <a:r>
              <a:rPr sz="1300" b="1" dirty="0">
                <a:solidFill>
                  <a:srgbClr val="9B1B30"/>
                </a:solidFill>
              </a:rPr>
              <a:t>Result:  Morphine shifts the melittin response toward less suppression - net population change -8.5% to -0.3%, consistent in direction across every measure. Not significant at the animal level (n = 4 vs 2 mice</a:t>
            </a:r>
            <a:r>
              <a:rPr lang="en-US" sz="1300" b="1" dirty="0">
                <a:solidFill>
                  <a:srgbClr val="9B1B30"/>
                </a:solidFill>
              </a:rPr>
              <a:t>)</a:t>
            </a:r>
            <a:r>
              <a:rPr sz="1300" b="1" dirty="0">
                <a:solidFill>
                  <a:srgbClr val="9B1B30"/>
                </a:solidFill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1130B9-5E21-A1E2-56AD-52084E1F79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7219" y="1033272"/>
            <a:ext cx="5813474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D57A00-25D5-04DC-6139-898E958B83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570" t="6458" b="-6458"/>
          <a:stretch>
            <a:fillRect/>
          </a:stretch>
        </p:blipFill>
        <p:spPr>
          <a:xfrm>
            <a:off x="6650144" y="1640695"/>
            <a:ext cx="5294968" cy="50161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938E365-EDDA-847A-98CB-E6B60E028E6F}"/>
              </a:ext>
            </a:extLst>
          </p:cNvPr>
          <p:cNvSpPr txBox="1"/>
          <p:nvPr/>
        </p:nvSpPr>
        <p:spPr>
          <a:xfrm>
            <a:off x="320040" y="109728"/>
            <a:ext cx="466403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rPr dirty="0"/>
              <a:t>Allen CCF  |  all recordings merged</a:t>
            </a:r>
            <a:r>
              <a:rPr lang="en-US" dirty="0"/>
              <a:t>: face poking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320040" y="438912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rPr sz="1200">
                <a:solidFill>
                  <a:srgbClr val="555555"/>
                </a:solidFill>
              </a:rPr>
              <a:t>What:  Local % of poke-excited (red) and poke-inhibited (blue) cells on Allen CCF. Same cells, peri-poke vs pre-poke.</a:t>
            </a:r>
          </a:p>
          <a:p>
            <a:r>
              <a:rPr sz="1300" b="1">
                <a:solidFill>
                  <a:srgbClr val="0D5C63"/>
                </a:solidFill>
              </a:rPr>
              <a:t>Result:  Poke responses are sparse and inhibition-dominated (8.6% excited vs 27.6% inhibited, 43,156 cells). Excitation is biased anterior and somatosensory (SSs, SSp-n, MOp, MOs); inhibition is richer in visual cortex.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87F0AB-0215-1200-E0B6-665C9A4838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091" y="1133856"/>
            <a:ext cx="5790111" cy="5404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9657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Face poke  |  region enrichment vs rest of cortex</a:t>
            </a:r>
          </a:p>
        </p:txBody>
      </p:sp>
      <p:pic>
        <p:nvPicPr>
          <p:cNvPr id="3" name="Picture 2" descr="fig_poke_region_enrich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809" y="868680"/>
            <a:ext cx="10629900" cy="5806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0040" y="438912"/>
            <a:ext cx="1152144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rPr dirty="0"/>
              <a:t>What:  Enrichment = (area %) / (all-cortex %). Stars = FDR q&lt;0.05 from recording-level Wilcoxon.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rPr dirty="0"/>
              <a:t>Result:  </a:t>
            </a:r>
            <a:r>
              <a:rPr dirty="0" err="1"/>
              <a:t>MOp</a:t>
            </a:r>
            <a:r>
              <a:rPr dirty="0"/>
              <a:t> is significantly over-excited (1.37x); inhibition is enriched in </a:t>
            </a:r>
            <a:r>
              <a:rPr dirty="0" err="1"/>
              <a:t>VISl</a:t>
            </a:r>
            <a:r>
              <a:rPr dirty="0"/>
              <a:t>, </a:t>
            </a:r>
            <a:r>
              <a:rPr dirty="0" err="1"/>
              <a:t>VISam</a:t>
            </a:r>
            <a:r>
              <a:rPr dirty="0"/>
              <a:t>, </a:t>
            </a:r>
            <a:r>
              <a:rPr dirty="0" err="1"/>
              <a:t>VISp</a:t>
            </a:r>
            <a:r>
              <a:rPr dirty="0"/>
              <a:t> and </a:t>
            </a:r>
            <a:r>
              <a:rPr dirty="0" err="1"/>
              <a:t>VISrl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Melittin vs melittin+morphine  |  % up/down by area</a:t>
            </a:r>
          </a:p>
        </p:txBody>
      </p:sp>
      <p:pic>
        <p:nvPicPr>
          <p:cNvPr id="3" name="Picture 2" descr="fig_mel_vs_morphine_reg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824" y="868680"/>
            <a:ext cx="11009870" cy="5806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0040" y="438912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% of injection cells up or down vs that day's baseline, by Allen area.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Melittin up is highest in VISam / MOp / VISa / MOs; morphine raises % up in almost every area but the rank order is unchanged.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Which areas change more  (FDR, recording-level)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38912"/>
            <a:ext cx="1152144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rPr sz="1200">
                <a:solidFill>
                  <a:srgbClr val="555555"/>
                </a:solidFill>
              </a:rPr>
              <a:t>What:  Recording-level Wilcoxon of (area rate minus that recording's overall rate), BH-FDR within each assay x direction.</a:t>
            </a:r>
          </a:p>
          <a:p>
            <a:r>
              <a:rPr sz="1300" b="1">
                <a:solidFill>
                  <a:srgbClr val="0D5C63"/>
                </a:solidFill>
              </a:rPr>
              <a:t>Result:  Face-poke excitation: MOp. Face-poke inhibition: VISl, VISam, VISp, VISrl. Melittin up: VISam, MOp, VISa, MOs, SSp-tr. Melittin+morphine cannot be tested at 4 recordings, so its areas are ranked by enrichment instead.</a:t>
            </a:r>
          </a:p>
        </p:txBody>
      </p:sp>
      <p:pic>
        <p:nvPicPr>
          <p:cNvPr id="5" name="Picture 4" descr="fig_which_regions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478" y="1317787"/>
            <a:ext cx="10882563" cy="554021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Morphine minus melittin  |  by Allen area</a:t>
            </a:r>
          </a:p>
        </p:txBody>
      </p:sp>
      <p:pic>
        <p:nvPicPr>
          <p:cNvPr id="3" name="Picture 2" descr="fig_morphine_delta_by_reg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448" y="1051560"/>
            <a:ext cx="8350623" cy="5806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0040" y="438912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rPr sz="1200">
                <a:solidFill>
                  <a:srgbClr val="555555"/>
                </a:solidFill>
              </a:rPr>
              <a:t>What:  Recording-level % up (melittin+morphine) minus % up (melittin), by Allen area.</a:t>
            </a:r>
          </a:p>
          <a:p>
            <a:r>
              <a:rPr sz="1300" b="1">
                <a:solidFill>
                  <a:srgbClr val="9B1B30"/>
                </a:solidFill>
              </a:rPr>
              <a:t>Result:  Morphine raises % up in almost every area (+3 to +11 points), most in VISam, VISa, RSPd. With 4 recordings the recording-level test cannot be run at all - the signed-rank floor is p = 0.125 at n = 4 - so this is ranked by effect size, not tested.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F3A5F"/>
                </a:solidFill>
              </a:rPr>
              <a:t>Face poke  |  exact cell counts per Allen area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438912"/>
            <a:ext cx="11521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55555"/>
                </a:solidFill>
              </a:rPr>
              <a:t>What:  Bar length is the number of cells, so it reflects how much of each area the FOV sampled. The % alongside is the fair between-area comparison.</a:t>
            </a:r>
          </a:p>
          <a:p>
            <a:r>
              <a:rPr sz="1300" b="1">
                <a:solidFill>
                  <a:srgbClr val="0D5C63"/>
                </a:solidFill>
              </a:rPr>
              <a:t>Result:  SSp: 2,509 inhibited vs 837 excited of 10,432 cells. VIS: 5,329 vs 1,217 of 16,937. MO: 2,924 vs 1,309 of 11,378. Every area is inhibition-dominated in every mouse.</a:t>
            </a:r>
          </a:p>
        </p:txBody>
      </p:sp>
      <p:pic>
        <p:nvPicPr>
          <p:cNvPr id="4" name="Picture 3" descr="fig9_counts_facepo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1869" y="1051560"/>
            <a:ext cx="9548261" cy="5669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1342</Words>
  <Application>Microsoft Office PowerPoint</Application>
  <PresentationFormat>Widescreen</PresentationFormat>
  <Paragraphs>64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hansol lim</cp:lastModifiedBy>
  <cp:revision>6</cp:revision>
  <dcterms:created xsi:type="dcterms:W3CDTF">2013-01-27T09:14:16Z</dcterms:created>
  <dcterms:modified xsi:type="dcterms:W3CDTF">2026-09-11T00:39:57Z</dcterms:modified>
  <cp:category/>
</cp:coreProperties>
</file>