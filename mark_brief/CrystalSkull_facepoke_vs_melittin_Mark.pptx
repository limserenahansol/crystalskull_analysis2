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1F3A5F"/>
                </a:solidFill>
                <a:latin typeface="Calibri"/>
              </a:defRPr>
            </a:pPr>
            <a:r>
              <a:t>Two crystal-skull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Face poking  vs  melittin  (± morphine)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56616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Same visual language: population traces, up vs down cells, FOV maps. Face poke is peri-event. Melittin is baseline vs injection (not time-locked, cells not matched). For SBI: which paradigm?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7373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to read the two assays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Face poke (13+18 Aug): 18 movies, 3 mice. t=0 is the poke. Excited/inhibited = 0.4–1.2 s vs −2–0 s, signed-rank p&lt;0.05. No drug. Melittin: 12 BL/INJ recordings. Both arms cropped to the shorter duration. Up/down = injection cell vs baseline session mean (independent EXTRACT IDs). Melittin+morphine uses the same CS1014 mice on a different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1.  Face poking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 drug  |  poke-locked  |  18 movies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population peri-poke (n = 18)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Gray = one movie. Red/black = mean ± SEM. Peri-window −2 to +3 s.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A brief transient, a dip, then a rebound. 14/18 movies p&lt;0.05. The all-cell mean is modest because excited and inhibited cells cancel.</a:t>
            </a:r>
          </a:p>
        </p:txBody>
      </p:sp>
      <p:pic>
        <p:nvPicPr>
          <p:cNvPr id="4" name="Picture 3" descr="fig1_n18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5804"/>
            <a:ext cx="11612880" cy="5026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mean STA. Right: % of neurons per movie. Same 0.4–1.2 s vs −2–0 s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Movie-mean ~8.8% excited / 28.2% inhibited. Pooled: 3,719 / 43,156 excited (8.6%) and 11,908 inhibited (27.6%).</a:t>
            </a:r>
          </a:p>
        </p:txBody>
      </p:sp>
      <p:pic>
        <p:nvPicPr>
          <p:cNvPr id="4" name="Picture 3" descr="fig2_n18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3898"/>
            <a:ext cx="11612880" cy="507028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Face poke  |  how many cells per mouse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Pooled within mouse across movies (both days). Excited/inhibited as above.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14/18 movies p&lt;0.05. Every mouse has more inhibited than excited cells.</a:t>
            </a:r>
          </a:p>
        </p:txBody>
      </p:sp>
      <p:pic>
        <p:nvPicPr>
          <p:cNvPr id="4" name="Picture 3" descr="facepoke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50614"/>
            <a:ext cx="11612880" cy="47968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where they sit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all FOVs (P left, A right). Right: AP bias of poke amplitude. Not CCF/Allen registered.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intermingled. 18/18 recordings: more excitation anterior, more inhibition posterior.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373571"/>
            <a:ext cx="5943600" cy="2705216"/>
          </a:xfrm>
          <a:prstGeom prst="rect">
            <a:avLst/>
          </a:prstGeom>
        </p:spPr>
      </p:pic>
      <p:pic>
        <p:nvPicPr>
          <p:cNvPr id="5" name="Picture 4" descr="takehome_anterior_posteri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043592"/>
            <a:ext cx="5943600" cy="33651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2.  Melittin  ± morphine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Not poke-locked  |  BL vs injection  |  matched to the shorter duration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only  |  baseline vs injection  (n = 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layout as face-poke Fig1/Fig3. Time is the recording, not a poke. Gray-tint = each recording.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Population mean activity falls after injection in 7/8 recordings. Down cells outnumber up cells, as in face poke.</a:t>
            </a:r>
          </a:p>
        </p:txBody>
      </p:sp>
      <p:pic>
        <p:nvPicPr>
          <p:cNvPr id="4" name="Picture 3" descr="fig1_population_psth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elittin_on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+ morphine  |  baseline vs injection  (n = 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Same CS1014 mice as the melittin-only pair, different day. Same crop-to-shorter-duration rule.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Direction splits: 1/4 recordings Δ &lt; 0. This is exploratory (small n).</a:t>
            </a:r>
          </a:p>
        </p:txBody>
      </p:sp>
      <p:pic>
        <p:nvPicPr>
          <p:cNvPr id="4" name="Picture 3" descr="fig1_population_psth_morp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443811"/>
            <a:ext cx="5943600" cy="2564736"/>
          </a:xfrm>
          <a:prstGeom prst="rect">
            <a:avLst/>
          </a:prstGeom>
        </p:spPr>
      </p:pic>
      <p:pic>
        <p:nvPicPr>
          <p:cNvPr id="5" name="Picture 4" descr="fig3_responsive_cells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65761"/>
            <a:ext cx="5943600" cy="25208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F3A5F"/>
                </a:solidFill>
                <a:latin typeface="Calibri"/>
              </a:defRPr>
            </a:pPr>
            <a:r>
              <a:t>Three cases  |  baseline → injection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38912"/>
            <a:ext cx="11430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Each line is one recording. Left: melittin only. Right: melittin + morphine. Y = population mean EXTRACT activity (8th-pct dF/F-like).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 only: 7/8 go down. Morphine: 1/4. The thick line is the cohort mean.</a:t>
            </a:r>
          </a:p>
        </p:txBody>
      </p:sp>
      <p:pic>
        <p:nvPicPr>
          <p:cNvPr id="4" name="Picture 3" descr="melittin_bl_vs_in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585"/>
            <a:ext cx="11612880" cy="50289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per mouse, and paired CS1014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Left: injection-cell up/down vs BL session mean (not the same cells). Right: paired Δ (INJ − BL) for CS1014-1b/2w vs 1014m01b/02w.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Melittin-only Δ is negative in every plane. In 3/4 paired CS1014 mouse×mirror lines, morphine is less suppressed or reversed.</a:t>
            </a:r>
          </a:p>
        </p:txBody>
      </p:sp>
      <p:pic>
        <p:nvPicPr>
          <p:cNvPr id="4" name="Picture 3" descr="melittin_per_m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505238"/>
            <a:ext cx="5943600" cy="2441882"/>
          </a:xfrm>
          <a:prstGeom prst="rect">
            <a:avLst/>
          </a:prstGeom>
        </p:spPr>
      </p:pic>
      <p:pic>
        <p:nvPicPr>
          <p:cNvPr id="5" name="Picture 4" descr="fig_takehome_pa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854256"/>
            <a:ext cx="5943600" cy="374384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 |  FOV maps  (same red/blue language)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02336"/>
            <a:ext cx="1161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5555"/>
                </a:solidFill>
                <a:latin typeface="Calibri"/>
              </a:defRPr>
            </a:pPr>
            <a:r>
              <a:t>What:  EXTRACT footprints × amp. Red = up vs BL mean, blue = down. P left, A right. Cells are not matched to baseline.</a:t>
            </a:r>
          </a:p>
          <a:p>
            <a:pPr algn="l">
              <a:defRPr sz="1300" b="1">
                <a:solidFill>
                  <a:srgbClr val="0D5C63"/>
                </a:solidFill>
                <a:latin typeface="Calibri"/>
              </a:defRPr>
            </a:pPr>
            <a:r>
              <a:t>Result:  Local mix of up and down, as in face poke. Do not read this as a poke map.</a:t>
            </a:r>
          </a:p>
        </p:txBody>
      </p:sp>
      <p:pic>
        <p:nvPicPr>
          <p:cNvPr id="4" name="Picture 3" descr="fig4_spatial_response_melittin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923438"/>
            <a:ext cx="5943600" cy="3605482"/>
          </a:xfrm>
          <a:prstGeom prst="rect">
            <a:avLst/>
          </a:prstGeom>
        </p:spPr>
      </p:pic>
      <p:pic>
        <p:nvPicPr>
          <p:cNvPr id="5" name="Picture 4" descr="fig4_spatial_response_morp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429199"/>
            <a:ext cx="5943600" cy="2593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What this does and does not say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Face poke: every mouse has ~7–13% excited and ~23–30% inhibited poke-locked cells. No Allen/CCF areas yet — only AP on the skull.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Face poke cannot split pain vs touch vs surprise. There is no drug on those movies.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Melittin is a different assay. Baseline and injection EXTRACT IDs are independent, so we cannot follow the same cell into morphine.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Session-level: melittin alone lowers population activity in 7/8 recordings (one CS1014-2w plane goes up after matching durations). Morphine pairing: 3/4 mouse×mirror lines less suppressed or reversed. Small n.</a:t>
            </a:r>
          </a:p>
          <a:p>
            <a:pPr algn="l">
              <a:spcAft>
                <a:spcPts val="12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Please confirm which paradigm to take forward for SBI (face poke vs melittin). Imaging is paused until then.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Allen CCF  |  all recordings merged</a:t>
            </a:r>
          </a:p>
        </p:txBody>
      </p:sp>
      <p:pic>
        <p:nvPicPr>
          <p:cNvPr id="3" name="Picture 2" descr="fig_merged_ccf_ma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409" y="502920"/>
            <a:ext cx="8850701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Face poke  |  region enrichment vs rest of cortex</a:t>
            </a:r>
          </a:p>
        </p:txBody>
      </p:sp>
      <p:pic>
        <p:nvPicPr>
          <p:cNvPr id="3" name="Picture 2" descr="fig_poke_region_enri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09" y="502920"/>
            <a:ext cx="106299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Melittin vs melittin+morphine  |  % up/down by area</a:t>
            </a:r>
          </a:p>
        </p:txBody>
      </p:sp>
      <p:pic>
        <p:nvPicPr>
          <p:cNvPr id="3" name="Picture 2" descr="fig_mel_vs_morphine_reg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4" y="502920"/>
            <a:ext cx="1100987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Which areas change more  (FDR, recording-level)</a:t>
            </a:r>
          </a:p>
        </p:txBody>
      </p:sp>
      <p:pic>
        <p:nvPicPr>
          <p:cNvPr id="3" name="Picture 2" descr="fig_which_region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478" y="502920"/>
            <a:ext cx="10882563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F3A5F"/>
                </a:solidFill>
                <a:latin typeface="Calibri"/>
              </a:defRPr>
            </a:pPr>
            <a:r>
              <a:t>Morphine minus melittin  |  by Allen area</a:t>
            </a:r>
          </a:p>
        </p:txBody>
      </p:sp>
      <p:pic>
        <p:nvPicPr>
          <p:cNvPr id="3" name="Picture 2" descr="fig_morphine_delta_b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448" y="502920"/>
            <a:ext cx="8350623" cy="617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